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11/relationships/webextensiontaskpanes" Target="ppt/webextensions/taskpanes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81" r:id="rId5"/>
    <p:sldId id="260" r:id="rId6"/>
    <p:sldId id="261" r:id="rId7"/>
    <p:sldId id="303" r:id="rId8"/>
    <p:sldId id="299" r:id="rId9"/>
    <p:sldId id="264" r:id="rId10"/>
    <p:sldId id="265" r:id="rId11"/>
    <p:sldId id="266" r:id="rId12"/>
    <p:sldId id="293" r:id="rId13"/>
    <p:sldId id="268" r:id="rId14"/>
    <p:sldId id="269" r:id="rId15"/>
    <p:sldId id="270" r:id="rId16"/>
    <p:sldId id="271" r:id="rId17"/>
    <p:sldId id="298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BD01"/>
    <a:srgbClr val="FFCC00"/>
    <a:srgbClr val="FCC302"/>
    <a:srgbClr val="FDC80B"/>
    <a:srgbClr val="FDC80E"/>
    <a:srgbClr val="FEF6F1"/>
    <a:srgbClr val="FCF6F0"/>
    <a:srgbClr val="FDC70C"/>
    <a:srgbClr val="F4EDE3"/>
    <a:srgbClr val="EDED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62" d="100"/>
          <a:sy n="162" d="100"/>
        </p:scale>
        <p:origin x="-144" y="-1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7725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37F5CA4-3D5D-4B9E-9ACC-03CB8CB23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CF807F58-B14D-B41A-3DB8-3F8ECD1D8F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B7335236-34C9-A722-6A29-EFA99CF1C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009871F-7131-6037-FC95-1D045E7484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0596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37F4513-5DC8-2A3C-0018-7E66E1612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5DC282FD-6199-7E62-4001-48ACC61CA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C79CC45F-EC3F-4BC7-4866-AE77409F6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5891BE7-5078-2770-20BB-4D6A4635DB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153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272AB3F-501C-E54B-3FB0-B2ECA1134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7C6F47B3-ECF5-81CF-6179-678CF756E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97F988E4-645C-59D3-2743-0A4C4462FA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06F0FEA-7135-0101-6438-482890329F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253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CC5B739-7C4A-364E-2F85-42D220797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16EEF959-AA62-2EEA-51D2-438F86A0F0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D5AA1091-16E9-00C9-CB4F-35FFF00B66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53A8382-96EE-B250-B8F5-C1B83B7DDB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2856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2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Relationship Id="rId9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45874" y="0"/>
            <a:ext cx="4598126" cy="5143500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Text 21"/>
          <p:cNvSpPr/>
          <p:nvPr/>
        </p:nvSpPr>
        <p:spPr>
          <a:xfrm>
            <a:off x="466344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600" noProof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</a:t>
            </a:r>
            <a:endParaRPr lang="pt-BR" sz="1600" noProof="0" dirty="0"/>
          </a:p>
        </p:txBody>
      </p:sp>
      <p:sp>
        <p:nvSpPr>
          <p:cNvPr id="27" name="Text 24"/>
          <p:cNvSpPr/>
          <p:nvPr/>
        </p:nvSpPr>
        <p:spPr>
          <a:xfrm>
            <a:off x="4617720" y="1237379"/>
            <a:ext cx="4297680" cy="2153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44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Mono SemiBold" panose="020B0609020000020004" pitchFamily="49" charset="0"/>
                <a:ea typeface="Arial Black" pitchFamily="34" charset="-122"/>
                <a:cs typeface="Cascadia Mono SemiBold" panose="020B0609020000020004" pitchFamily="49" charset="0"/>
              </a:rPr>
              <a:t>POLÍTICA de</a:t>
            </a:r>
          </a:p>
          <a:p>
            <a:r>
              <a:rPr lang="pt-BR" sz="44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Mono SemiBold" panose="020B0609020000020004" pitchFamily="49" charset="0"/>
                <a:ea typeface="Arial Black" pitchFamily="34" charset="-122"/>
                <a:cs typeface="Cascadia Mono SemiBold" panose="020B0609020000020004" pitchFamily="49" charset="0"/>
              </a:rPr>
              <a:t>SEGURANÇA da </a:t>
            </a:r>
            <a:r>
              <a:rPr lang="pt-BR" sz="44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Mono SemiBold" panose="020B0609020000020004" pitchFamily="49" charset="0"/>
                <a:ea typeface="Arial" pitchFamily="34" charset="-122"/>
                <a:cs typeface="Cascadia Mono SemiBold" panose="020B0609020000020004" pitchFamily="49" charset="0"/>
              </a:rPr>
              <a:t>INFORMAÇÃO</a:t>
            </a:r>
            <a:endParaRPr lang="pt-BR" sz="5400" noProof="0" dirty="0">
              <a:solidFill>
                <a:schemeClr val="tx1">
                  <a:lumMod val="65000"/>
                  <a:lumOff val="35000"/>
                </a:schemeClr>
              </a:solidFill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4663440" y="3630168"/>
            <a:ext cx="3200400" cy="64008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9" name="Text 26"/>
          <p:cNvSpPr/>
          <p:nvPr/>
        </p:nvSpPr>
        <p:spPr>
          <a:xfrm>
            <a:off x="4663440" y="376732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400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Treinamento e Boas Práticas</a:t>
            </a:r>
            <a:endParaRPr lang="pt-BR" sz="1400" noProof="0" dirty="0"/>
          </a:p>
          <a:p>
            <a:pPr marL="0" indent="0" algn="l">
              <a:buNone/>
            </a:pPr>
            <a:r>
              <a:rPr lang="pt-BR" sz="1400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todos os Colaboradores</a:t>
            </a:r>
            <a:endParaRPr lang="pt-BR" sz="1400" noProof="0" dirty="0"/>
          </a:p>
        </p:txBody>
      </p:sp>
      <p:sp>
        <p:nvSpPr>
          <p:cNvPr id="30" name="Shape 27"/>
          <p:cNvSpPr/>
          <p:nvPr/>
        </p:nvSpPr>
        <p:spPr>
          <a:xfrm>
            <a:off x="8562703" y="4587350"/>
            <a:ext cx="41148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1" name="Shape 28"/>
          <p:cNvSpPr/>
          <p:nvPr/>
        </p:nvSpPr>
        <p:spPr>
          <a:xfrm>
            <a:off x="8467344" y="4481377"/>
            <a:ext cx="411480" cy="384048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2" name="Shape 29"/>
          <p:cNvSpPr/>
          <p:nvPr/>
        </p:nvSpPr>
        <p:spPr>
          <a:xfrm>
            <a:off x="8211312" y="128016"/>
            <a:ext cx="256032" cy="256032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3" name="Shape 30"/>
          <p:cNvSpPr/>
          <p:nvPr/>
        </p:nvSpPr>
        <p:spPr>
          <a:xfrm>
            <a:off x="8339328" y="73152"/>
            <a:ext cx="182880" cy="182880"/>
          </a:xfrm>
          <a:prstGeom prst="rect">
            <a:avLst/>
          </a:prstGeom>
          <a:solidFill>
            <a:srgbClr val="DDCCAA"/>
          </a:solidFill>
          <a:ln w="12700">
            <a:solidFill>
              <a:srgbClr val="DDCCA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xmlns="" id="{233E5D7C-5CFB-8574-6A3C-95BDF74C1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6" y="0"/>
            <a:ext cx="4408714" cy="5143500"/>
          </a:xfrm>
          <a:prstGeom prst="rect">
            <a:avLst/>
          </a:prstGeom>
        </p:spPr>
      </p:pic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8138" y="1773685"/>
            <a:ext cx="1596129" cy="15961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DDCCAA"/>
          </a:solidFill>
          <a:ln w="12700">
            <a:solidFill>
              <a:srgbClr val="DDCCA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100" noProof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pt-BR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200" noProof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VAMOS VER HOJE</a:t>
            </a:r>
            <a:endParaRPr lang="pt-BR" sz="2200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22860"/>
          </a:xfrm>
          <a:prstGeom prst="rect">
            <a:avLst/>
          </a:prstGeom>
          <a:solidFill>
            <a:srgbClr val="CCBBAA"/>
          </a:solidFill>
          <a:ln w="12700">
            <a:solidFill>
              <a:srgbClr val="CCBBA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09728"/>
            <a:ext cx="59436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143000"/>
            <a:ext cx="475488" cy="475488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5"/>
          <p:cNvSpPr/>
          <p:nvPr/>
        </p:nvSpPr>
        <p:spPr>
          <a:xfrm>
            <a:off x="365760" y="1143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C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pt-BR" sz="1100" noProof="0" dirty="0"/>
          </a:p>
        </p:txBody>
      </p:sp>
      <p:sp>
        <p:nvSpPr>
          <p:cNvPr id="9" name="Text 6"/>
          <p:cNvSpPr/>
          <p:nvPr/>
        </p:nvSpPr>
        <p:spPr>
          <a:xfrm>
            <a:off x="932688" y="119786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Conceitos básicos de Segurança da Informação</a:t>
            </a:r>
            <a:endParaRPr lang="pt-BR" sz="1150" noProof="0" dirty="0"/>
          </a:p>
        </p:txBody>
      </p:sp>
      <p:sp>
        <p:nvSpPr>
          <p:cNvPr id="10" name="Shape 7"/>
          <p:cNvSpPr/>
          <p:nvPr/>
        </p:nvSpPr>
        <p:spPr>
          <a:xfrm>
            <a:off x="365760" y="1892808"/>
            <a:ext cx="475488" cy="475488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8"/>
          <p:cNvSpPr/>
          <p:nvPr/>
        </p:nvSpPr>
        <p:spPr>
          <a:xfrm>
            <a:off x="365760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C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II</a:t>
            </a:r>
            <a:endParaRPr lang="pt-BR" sz="1100" noProof="0" dirty="0"/>
          </a:p>
        </p:txBody>
      </p:sp>
      <p:sp>
        <p:nvSpPr>
          <p:cNvPr id="12" name="Text 9"/>
          <p:cNvSpPr/>
          <p:nvPr/>
        </p:nvSpPr>
        <p:spPr>
          <a:xfrm>
            <a:off x="932688" y="19476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Princípios da LGPD e proteção de dados pessoais</a:t>
            </a:r>
            <a:endParaRPr lang="pt-BR" sz="1150" noProof="0" dirty="0"/>
          </a:p>
        </p:txBody>
      </p:sp>
      <p:sp>
        <p:nvSpPr>
          <p:cNvPr id="13" name="Shape 10"/>
          <p:cNvSpPr/>
          <p:nvPr/>
        </p:nvSpPr>
        <p:spPr>
          <a:xfrm>
            <a:off x="365760" y="2642616"/>
            <a:ext cx="475488" cy="475488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1"/>
          <p:cNvSpPr/>
          <p:nvPr/>
        </p:nvSpPr>
        <p:spPr>
          <a:xfrm>
            <a:off x="365760" y="2642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C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III</a:t>
            </a:r>
            <a:endParaRPr lang="pt-BR" sz="1100" noProof="0" dirty="0"/>
          </a:p>
        </p:txBody>
      </p:sp>
      <p:sp>
        <p:nvSpPr>
          <p:cNvPr id="15" name="Text 12"/>
          <p:cNvSpPr/>
          <p:nvPr/>
        </p:nvSpPr>
        <p:spPr>
          <a:xfrm>
            <a:off x="932688" y="26974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 da informação</a:t>
            </a:r>
            <a:endParaRPr lang="pt-BR" sz="1150" noProof="0" dirty="0"/>
          </a:p>
        </p:txBody>
      </p:sp>
      <p:sp>
        <p:nvSpPr>
          <p:cNvPr id="16" name="Shape 13"/>
          <p:cNvSpPr/>
          <p:nvPr/>
        </p:nvSpPr>
        <p:spPr>
          <a:xfrm>
            <a:off x="365760" y="3392424"/>
            <a:ext cx="475488" cy="475488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4"/>
          <p:cNvSpPr/>
          <p:nvPr/>
        </p:nvSpPr>
        <p:spPr>
          <a:xfrm>
            <a:off x="365760" y="3392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C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IV</a:t>
            </a:r>
            <a:endParaRPr lang="pt-BR" sz="1100" noProof="0" dirty="0"/>
          </a:p>
        </p:txBody>
      </p:sp>
      <p:sp>
        <p:nvSpPr>
          <p:cNvPr id="18" name="Text 15"/>
          <p:cNvSpPr/>
          <p:nvPr/>
        </p:nvSpPr>
        <p:spPr>
          <a:xfrm>
            <a:off x="932688" y="34472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seguro de senhas e autenticação</a:t>
            </a:r>
            <a:endParaRPr lang="pt-BR" sz="1150" noProof="0" dirty="0"/>
          </a:p>
        </p:txBody>
      </p:sp>
      <p:sp>
        <p:nvSpPr>
          <p:cNvPr id="19" name="Shape 16"/>
          <p:cNvSpPr/>
          <p:nvPr/>
        </p:nvSpPr>
        <p:spPr>
          <a:xfrm>
            <a:off x="365760" y="4142232"/>
            <a:ext cx="475488" cy="475488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 17"/>
          <p:cNvSpPr/>
          <p:nvPr/>
        </p:nvSpPr>
        <p:spPr>
          <a:xfrm>
            <a:off x="365760" y="4142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C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</a:t>
            </a:r>
            <a:endParaRPr lang="pt-BR" sz="1100" noProof="0" dirty="0"/>
          </a:p>
        </p:txBody>
      </p:sp>
      <p:sp>
        <p:nvSpPr>
          <p:cNvPr id="21" name="Text 18"/>
          <p:cNvSpPr/>
          <p:nvPr/>
        </p:nvSpPr>
        <p:spPr>
          <a:xfrm>
            <a:off x="932688" y="419709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noProof="0" dirty="0" err="1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</a:t>
            </a:r>
            <a:r>
              <a:rPr lang="pt-BR" sz="1150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engenharia social e golpes digitais</a:t>
            </a:r>
            <a:endParaRPr lang="pt-BR" sz="1150" noProof="0" dirty="0"/>
          </a:p>
        </p:txBody>
      </p:sp>
      <p:sp>
        <p:nvSpPr>
          <p:cNvPr id="22" name="Shape 19"/>
          <p:cNvSpPr/>
          <p:nvPr/>
        </p:nvSpPr>
        <p:spPr>
          <a:xfrm>
            <a:off x="4663440" y="1143000"/>
            <a:ext cx="475488" cy="475488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0"/>
          <p:cNvSpPr/>
          <p:nvPr/>
        </p:nvSpPr>
        <p:spPr>
          <a:xfrm>
            <a:off x="4663440" y="1143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C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</a:t>
            </a:r>
            <a:endParaRPr lang="pt-BR" sz="1100" noProof="0" dirty="0"/>
          </a:p>
        </p:txBody>
      </p:sp>
      <p:sp>
        <p:nvSpPr>
          <p:cNvPr id="24" name="Text 21"/>
          <p:cNvSpPr/>
          <p:nvPr/>
        </p:nvSpPr>
        <p:spPr>
          <a:xfrm>
            <a:off x="5230368" y="119786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adequado do e-mail institucional</a:t>
            </a:r>
            <a:endParaRPr lang="pt-BR" sz="1150" noProof="0" dirty="0"/>
          </a:p>
        </p:txBody>
      </p:sp>
      <p:sp>
        <p:nvSpPr>
          <p:cNvPr id="25" name="Shape 22"/>
          <p:cNvSpPr/>
          <p:nvPr/>
        </p:nvSpPr>
        <p:spPr>
          <a:xfrm>
            <a:off x="4663440" y="1892808"/>
            <a:ext cx="475488" cy="475488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Text 23"/>
          <p:cNvSpPr/>
          <p:nvPr/>
        </p:nvSpPr>
        <p:spPr>
          <a:xfrm>
            <a:off x="4663440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C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VII</a:t>
            </a:r>
            <a:endParaRPr lang="pt-BR" sz="1100" noProof="0" dirty="0"/>
          </a:p>
        </p:txBody>
      </p:sp>
      <p:sp>
        <p:nvSpPr>
          <p:cNvPr id="27" name="Text 24"/>
          <p:cNvSpPr/>
          <p:nvPr/>
        </p:nvSpPr>
        <p:spPr>
          <a:xfrm>
            <a:off x="5230368" y="19476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adequado da internet</a:t>
            </a:r>
            <a:endParaRPr lang="pt-BR" sz="1150" noProof="0" dirty="0"/>
          </a:p>
        </p:txBody>
      </p:sp>
      <p:sp>
        <p:nvSpPr>
          <p:cNvPr id="28" name="Shape 25"/>
          <p:cNvSpPr/>
          <p:nvPr/>
        </p:nvSpPr>
        <p:spPr>
          <a:xfrm>
            <a:off x="4663440" y="2642616"/>
            <a:ext cx="475488" cy="475488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9" name="Text 26"/>
          <p:cNvSpPr/>
          <p:nvPr/>
        </p:nvSpPr>
        <p:spPr>
          <a:xfrm>
            <a:off x="4663440" y="2642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C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VIII</a:t>
            </a:r>
            <a:endParaRPr lang="pt-BR" sz="1100" noProof="0" dirty="0"/>
          </a:p>
        </p:txBody>
      </p:sp>
      <p:sp>
        <p:nvSpPr>
          <p:cNvPr id="30" name="Text 27"/>
          <p:cNvSpPr/>
          <p:nvPr/>
        </p:nvSpPr>
        <p:spPr>
          <a:xfrm>
            <a:off x="5230368" y="26974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e armazenamento seguro</a:t>
            </a:r>
            <a:endParaRPr lang="pt-BR" sz="1150" noProof="0" dirty="0"/>
          </a:p>
        </p:txBody>
      </p:sp>
      <p:sp>
        <p:nvSpPr>
          <p:cNvPr id="31" name="Shape 28"/>
          <p:cNvSpPr/>
          <p:nvPr/>
        </p:nvSpPr>
        <p:spPr>
          <a:xfrm>
            <a:off x="4663440" y="3392424"/>
            <a:ext cx="475488" cy="475488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2" name="Text 29"/>
          <p:cNvSpPr/>
          <p:nvPr/>
        </p:nvSpPr>
        <p:spPr>
          <a:xfrm>
            <a:off x="4663440" y="3392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C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IX</a:t>
            </a:r>
            <a:endParaRPr lang="pt-BR" sz="1100" noProof="0" dirty="0"/>
          </a:p>
        </p:txBody>
      </p:sp>
      <p:sp>
        <p:nvSpPr>
          <p:cNvPr id="33" name="Text 30"/>
          <p:cNvSpPr/>
          <p:nvPr/>
        </p:nvSpPr>
        <p:spPr>
          <a:xfrm>
            <a:off x="5230368" y="34472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Procedimentos em caso de incidente de segurança</a:t>
            </a:r>
            <a:endParaRPr lang="pt-BR" sz="115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C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m 37">
            <a:extLst>
              <a:ext uri="{FF2B5EF4-FFF2-40B4-BE49-F238E27FC236}">
                <a16:creationId xmlns:a16="http://schemas.microsoft.com/office/drawing/2014/main" xmlns="" id="{24423CCA-AA53-879C-38A9-A836D7ABF8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170" r="21431"/>
          <a:stretch>
            <a:fillRect/>
          </a:stretch>
        </p:blipFill>
        <p:spPr>
          <a:xfrm>
            <a:off x="5404676" y="2117802"/>
            <a:ext cx="3008375" cy="2812170"/>
          </a:xfrm>
          <a:prstGeom prst="rect">
            <a:avLst/>
          </a:prstGeom>
        </p:spPr>
      </p:pic>
      <p:sp>
        <p:nvSpPr>
          <p:cNvPr id="8" name="Shape 6"/>
          <p:cNvSpPr/>
          <p:nvPr/>
        </p:nvSpPr>
        <p:spPr>
          <a:xfrm>
            <a:off x="7438644" y="548640"/>
            <a:ext cx="1645920" cy="1645920"/>
          </a:xfrm>
          <a:prstGeom prst="ellipse">
            <a:avLst/>
          </a:prstGeom>
          <a:solidFill>
            <a:srgbClr val="E6B800">
              <a:alpha val="50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" name="Shape 0"/>
          <p:cNvSpPr/>
          <p:nvPr/>
        </p:nvSpPr>
        <p:spPr>
          <a:xfrm>
            <a:off x="347472" y="548640"/>
            <a:ext cx="54864" cy="402336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4400" b="1" noProof="0" dirty="0">
                <a:solidFill>
                  <a:srgbClr val="3D3D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CONCEITOS BÁSICOS</a:t>
            </a:r>
            <a:endParaRPr lang="pt-BR" sz="44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4400" b="1" noProof="0" dirty="0">
                <a:solidFill>
                  <a:srgbClr val="3D3D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SEGURANÇA DA INFORMAÇÃO</a:t>
            </a:r>
            <a:endParaRPr lang="pt-BR" sz="44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201168" cy="347472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557784" y="297180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pt-BR" sz="11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700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precisamos proteger e por quê</a:t>
            </a:r>
            <a:endParaRPr lang="pt-BR" sz="1700" noProof="0" dirty="0"/>
          </a:p>
        </p:txBody>
      </p:sp>
      <p:sp>
        <p:nvSpPr>
          <p:cNvPr id="10" name="Shape 8"/>
          <p:cNvSpPr/>
          <p:nvPr/>
        </p:nvSpPr>
        <p:spPr>
          <a:xfrm>
            <a:off x="515257" y="4304574"/>
            <a:ext cx="1167657" cy="1167657"/>
          </a:xfrm>
          <a:prstGeom prst="ellipse">
            <a:avLst/>
          </a:prstGeom>
          <a:solidFill>
            <a:srgbClr val="E6B800"/>
          </a:solidFill>
          <a:ln w="12700">
            <a:solidFill>
              <a:srgbClr val="E6B80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850392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FFC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pt-BR" sz="1400" noProof="0" dirty="0"/>
          </a:p>
        </p:txBody>
      </p:sp>
      <p:sp>
        <p:nvSpPr>
          <p:cNvPr id="39" name="Shape 4">
            <a:extLst>
              <a:ext uri="{FF2B5EF4-FFF2-40B4-BE49-F238E27FC236}">
                <a16:creationId xmlns:a16="http://schemas.microsoft.com/office/drawing/2014/main" xmlns="" id="{FA39E406-2B9C-9D56-9490-3D12161FC6D9}"/>
              </a:ext>
            </a:extLst>
          </p:cNvPr>
          <p:cNvSpPr/>
          <p:nvPr/>
        </p:nvSpPr>
        <p:spPr>
          <a:xfrm>
            <a:off x="8485632" y="196596"/>
            <a:ext cx="475488" cy="475488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0" name="Text 5">
            <a:extLst>
              <a:ext uri="{FF2B5EF4-FFF2-40B4-BE49-F238E27FC236}">
                <a16:creationId xmlns:a16="http://schemas.microsoft.com/office/drawing/2014/main" xmlns="" id="{83FB5844-7F40-905C-CAED-FF0301063508}"/>
              </a:ext>
            </a:extLst>
          </p:cNvPr>
          <p:cNvSpPr/>
          <p:nvPr/>
        </p:nvSpPr>
        <p:spPr>
          <a:xfrm>
            <a:off x="8485632" y="1965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C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pt-BR" sz="1100" noProof="0" dirty="0"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1D52A4EA-FE30-D648-4426-0B03CE730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xmlns="" id="{EBC6391F-FC44-E464-5F01-13959F03E773}"/>
              </a:ext>
            </a:extLst>
          </p:cNvPr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DDCCAA"/>
          </a:solidFill>
          <a:ln w="12700">
            <a:solidFill>
              <a:srgbClr val="DDCCA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xmlns="" id="{9AF509FA-757B-0802-8085-7818C11454E2}"/>
              </a:ext>
            </a:extLst>
          </p:cNvPr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100" noProof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— CONCEITOS BÁSICOS DE SEGURANÇA DA INFORMAÇÃO</a:t>
            </a:r>
            <a:endParaRPr lang="pt-BR" sz="11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xmlns="" id="{F98B5BC7-C866-C2FE-7C34-37251087999F}"/>
              </a:ext>
            </a:extLst>
          </p:cNvPr>
          <p:cNvSpPr/>
          <p:nvPr/>
        </p:nvSpPr>
        <p:spPr>
          <a:xfrm>
            <a:off x="36576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200" noProof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SEGURANÇA DA INFORMAÇÃO?</a:t>
            </a:r>
            <a:endParaRPr lang="pt-BR" sz="22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xmlns="" id="{8C0D9741-5825-6CAD-B2EE-5188A8E1CBEC}"/>
              </a:ext>
            </a:extLst>
          </p:cNvPr>
          <p:cNvSpPr/>
          <p:nvPr/>
        </p:nvSpPr>
        <p:spPr>
          <a:xfrm>
            <a:off x="365760" y="1024128"/>
            <a:ext cx="8412480" cy="22860"/>
          </a:xfrm>
          <a:prstGeom prst="rect">
            <a:avLst/>
          </a:prstGeom>
          <a:solidFill>
            <a:srgbClr val="CCBBAA"/>
          </a:solidFill>
          <a:ln w="12700">
            <a:solidFill>
              <a:srgbClr val="CCBBA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xmlns="" id="{CC3467CF-B2AF-58AF-D0F8-D660968CB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09728"/>
            <a:ext cx="594360" cy="59436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xmlns="" id="{A6932439-3611-B35B-5D88-A55B8727D3D9}"/>
              </a:ext>
            </a:extLst>
          </p:cNvPr>
          <p:cNvSpPr/>
          <p:nvPr/>
        </p:nvSpPr>
        <p:spPr>
          <a:xfrm>
            <a:off x="365760" y="11430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i="1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Conjunto de práticas que protegem as informações da FUNSERV contra acessos indevidos, perdas ou alterações não autorizadas.</a:t>
            </a:r>
            <a:endParaRPr lang="pt-BR" sz="1250" noProof="0" dirty="0"/>
          </a:p>
        </p:txBody>
      </p:sp>
      <p:sp>
        <p:nvSpPr>
          <p:cNvPr id="8" name="Card0">
            <a:extLst>
              <a:ext uri="{FF2B5EF4-FFF2-40B4-BE49-F238E27FC236}">
                <a16:creationId xmlns:a16="http://schemas.microsoft.com/office/drawing/2014/main" xmlns="" id="{F1CED3D7-054F-432E-D0A4-4D0F171F41DA}"/>
              </a:ext>
            </a:extLst>
          </p:cNvPr>
          <p:cNvSpPr/>
          <p:nvPr/>
        </p:nvSpPr>
        <p:spPr>
          <a:xfrm>
            <a:off x="279400" y="1798320"/>
            <a:ext cx="2760133" cy="14533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6350">
            <a:solidFill>
              <a:srgbClr val="E8E8E8"/>
            </a:solidFill>
          </a:ln>
          <a:effectLst>
            <a:outerShdw blurRad="38100" dist="19050" dir="5400000" algn="ctr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 dirty="0">
              <a:solidFill>
                <a:srgbClr val="333333"/>
              </a:solidFill>
            </a:endParaRPr>
          </a:p>
        </p:txBody>
      </p:sp>
      <p:sp>
        <p:nvSpPr>
          <p:cNvPr id="9" name="Accent0">
            <a:extLst>
              <a:ext uri="{FF2B5EF4-FFF2-40B4-BE49-F238E27FC236}">
                <a16:creationId xmlns:a16="http://schemas.microsoft.com/office/drawing/2014/main" xmlns="" id="{3A52AB2A-11CB-2778-A06B-F0F40E83D0AE}"/>
              </a:ext>
            </a:extLst>
          </p:cNvPr>
          <p:cNvSpPr/>
          <p:nvPr/>
        </p:nvSpPr>
        <p:spPr>
          <a:xfrm>
            <a:off x="279400" y="1798320"/>
            <a:ext cx="2760133" cy="50800"/>
          </a:xfrm>
          <a:prstGeom prst="rect">
            <a:avLst/>
          </a:prstGeom>
          <a:solidFill>
            <a:srgbClr val="2A6BB5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2A6BB5"/>
              </a:solidFill>
            </a:endParaRPr>
          </a:p>
        </p:txBody>
      </p:sp>
      <p:sp>
        <p:nvSpPr>
          <p:cNvPr id="10" name="IconBg0">
            <a:extLst>
              <a:ext uri="{FF2B5EF4-FFF2-40B4-BE49-F238E27FC236}">
                <a16:creationId xmlns:a16="http://schemas.microsoft.com/office/drawing/2014/main" xmlns="" id="{0C9A5826-9A06-8453-4C96-4D3BB6801C47}"/>
              </a:ext>
            </a:extLst>
          </p:cNvPr>
          <p:cNvSpPr/>
          <p:nvPr/>
        </p:nvSpPr>
        <p:spPr>
          <a:xfrm>
            <a:off x="457200" y="1950720"/>
            <a:ext cx="457200" cy="457200"/>
          </a:xfrm>
          <a:prstGeom prst="ellipse">
            <a:avLst/>
          </a:prstGeom>
          <a:solidFill>
            <a:srgbClr val="2A6BB5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2A6BB5"/>
              </a:solidFill>
            </a:endParaRPr>
          </a:p>
        </p:txBody>
      </p:sp>
      <p:sp>
        <p:nvSpPr>
          <p:cNvPr id="13" name="CardTitle0">
            <a:extLst>
              <a:ext uri="{FF2B5EF4-FFF2-40B4-BE49-F238E27FC236}">
                <a16:creationId xmlns:a16="http://schemas.microsoft.com/office/drawing/2014/main" xmlns="" id="{418B9829-98CC-5FF0-A395-94439028F2E0}"/>
              </a:ext>
            </a:extLst>
          </p:cNvPr>
          <p:cNvSpPr/>
          <p:nvPr/>
        </p:nvSpPr>
        <p:spPr>
          <a:xfrm>
            <a:off x="990600" y="1950720"/>
            <a:ext cx="1896533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pt-BR" sz="1400" b="1" dirty="0">
                <a:solidFill>
                  <a:srgbClr val="2A6BB5"/>
                </a:solidFill>
                <a:latin typeface="Segoe UI"/>
              </a:rPr>
              <a:t>Confidencialidade</a:t>
            </a:r>
          </a:p>
        </p:txBody>
      </p:sp>
      <p:sp>
        <p:nvSpPr>
          <p:cNvPr id="14" name="CardDesc0">
            <a:extLst>
              <a:ext uri="{FF2B5EF4-FFF2-40B4-BE49-F238E27FC236}">
                <a16:creationId xmlns:a16="http://schemas.microsoft.com/office/drawing/2014/main" xmlns="" id="{D0FCD30A-630F-E470-6D70-EA3B3118B42A}"/>
              </a:ext>
            </a:extLst>
          </p:cNvPr>
          <p:cNvSpPr/>
          <p:nvPr/>
        </p:nvSpPr>
        <p:spPr>
          <a:xfrm>
            <a:off x="457200" y="2484120"/>
            <a:ext cx="2404533" cy="76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pt-BR" sz="1200" dirty="0">
                <a:solidFill>
                  <a:srgbClr val="555555"/>
                </a:solidFill>
                <a:latin typeface="Segoe UI"/>
              </a:rPr>
              <a:t>Acesso apenas por pessoas autorizadas.</a:t>
            </a:r>
          </a:p>
        </p:txBody>
      </p:sp>
      <p:sp>
        <p:nvSpPr>
          <p:cNvPr id="15" name="Card1">
            <a:extLst>
              <a:ext uri="{FF2B5EF4-FFF2-40B4-BE49-F238E27FC236}">
                <a16:creationId xmlns:a16="http://schemas.microsoft.com/office/drawing/2014/main" xmlns="" id="{2971B6C5-C91C-CDEE-F578-033762980B7A}"/>
              </a:ext>
            </a:extLst>
          </p:cNvPr>
          <p:cNvSpPr/>
          <p:nvPr/>
        </p:nvSpPr>
        <p:spPr>
          <a:xfrm>
            <a:off x="3191933" y="1798320"/>
            <a:ext cx="2760133" cy="14533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6350">
            <a:solidFill>
              <a:srgbClr val="E8E8E8"/>
            </a:solidFill>
          </a:ln>
          <a:effectLst>
            <a:outerShdw blurRad="38100" dist="19050" dir="5400000" algn="ctr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 dirty="0">
              <a:solidFill>
                <a:srgbClr val="333333"/>
              </a:solidFill>
            </a:endParaRPr>
          </a:p>
        </p:txBody>
      </p:sp>
      <p:sp>
        <p:nvSpPr>
          <p:cNvPr id="16" name="Accent1">
            <a:extLst>
              <a:ext uri="{FF2B5EF4-FFF2-40B4-BE49-F238E27FC236}">
                <a16:creationId xmlns:a16="http://schemas.microsoft.com/office/drawing/2014/main" xmlns="" id="{B911A350-9782-EB47-AC0D-79AB88D5E6BC}"/>
              </a:ext>
            </a:extLst>
          </p:cNvPr>
          <p:cNvSpPr/>
          <p:nvPr/>
        </p:nvSpPr>
        <p:spPr>
          <a:xfrm>
            <a:off x="3191933" y="1798320"/>
            <a:ext cx="2760133" cy="5080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1A7A3A"/>
              </a:solidFill>
            </a:endParaRPr>
          </a:p>
        </p:txBody>
      </p:sp>
      <p:sp>
        <p:nvSpPr>
          <p:cNvPr id="17" name="IconBg1">
            <a:extLst>
              <a:ext uri="{FF2B5EF4-FFF2-40B4-BE49-F238E27FC236}">
                <a16:creationId xmlns:a16="http://schemas.microsoft.com/office/drawing/2014/main" xmlns="" id="{0D8C452F-F6F7-455F-B29A-C9A76ADDBCCD}"/>
              </a:ext>
            </a:extLst>
          </p:cNvPr>
          <p:cNvSpPr/>
          <p:nvPr/>
        </p:nvSpPr>
        <p:spPr>
          <a:xfrm>
            <a:off x="3369733" y="1950720"/>
            <a:ext cx="457200" cy="457200"/>
          </a:xfrm>
          <a:prstGeom prst="ellipse">
            <a:avLst/>
          </a:prstGeom>
          <a:solidFill>
            <a:srgbClr val="1A7A3A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1A7A3A"/>
              </a:solidFill>
            </a:endParaRPr>
          </a:p>
        </p:txBody>
      </p:sp>
      <p:sp>
        <p:nvSpPr>
          <p:cNvPr id="18" name="CardTitle1">
            <a:extLst>
              <a:ext uri="{FF2B5EF4-FFF2-40B4-BE49-F238E27FC236}">
                <a16:creationId xmlns:a16="http://schemas.microsoft.com/office/drawing/2014/main" xmlns="" id="{BBC818A3-6FD9-ABDA-452C-034219278A85}"/>
              </a:ext>
            </a:extLst>
          </p:cNvPr>
          <p:cNvSpPr/>
          <p:nvPr/>
        </p:nvSpPr>
        <p:spPr>
          <a:xfrm>
            <a:off x="3903133" y="1950720"/>
            <a:ext cx="1896533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pt-BR" sz="1400" b="1" dirty="0">
                <a:solidFill>
                  <a:srgbClr val="1A7A3A"/>
                </a:solidFill>
                <a:latin typeface="Segoe UI"/>
              </a:rPr>
              <a:t>Integridade</a:t>
            </a:r>
          </a:p>
        </p:txBody>
      </p:sp>
      <p:sp>
        <p:nvSpPr>
          <p:cNvPr id="19" name="CardDesc1">
            <a:extLst>
              <a:ext uri="{FF2B5EF4-FFF2-40B4-BE49-F238E27FC236}">
                <a16:creationId xmlns:a16="http://schemas.microsoft.com/office/drawing/2014/main" xmlns="" id="{CFDD0F5B-87F9-5B32-A462-CD51A691AB2E}"/>
              </a:ext>
            </a:extLst>
          </p:cNvPr>
          <p:cNvSpPr/>
          <p:nvPr/>
        </p:nvSpPr>
        <p:spPr>
          <a:xfrm>
            <a:off x="3369733" y="2484120"/>
            <a:ext cx="2404533" cy="76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pt-BR" sz="1200" dirty="0">
                <a:solidFill>
                  <a:srgbClr val="555555"/>
                </a:solidFill>
                <a:latin typeface="Segoe UI"/>
              </a:rPr>
              <a:t>Dados protegidos contra alterações indevidas.</a:t>
            </a:r>
          </a:p>
        </p:txBody>
      </p:sp>
      <p:sp>
        <p:nvSpPr>
          <p:cNvPr id="20" name="Card2">
            <a:extLst>
              <a:ext uri="{FF2B5EF4-FFF2-40B4-BE49-F238E27FC236}">
                <a16:creationId xmlns:a16="http://schemas.microsoft.com/office/drawing/2014/main" xmlns="" id="{FA5CAA8C-8D2D-8F0E-8434-0B90A2F169E1}"/>
              </a:ext>
            </a:extLst>
          </p:cNvPr>
          <p:cNvSpPr/>
          <p:nvPr/>
        </p:nvSpPr>
        <p:spPr>
          <a:xfrm>
            <a:off x="6104466" y="1821978"/>
            <a:ext cx="2760133" cy="14533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6350">
            <a:solidFill>
              <a:srgbClr val="E8E8E8"/>
            </a:solidFill>
          </a:ln>
          <a:effectLst>
            <a:outerShdw blurRad="38100" dist="19050" dir="5400000" algn="ctr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 dirty="0">
              <a:solidFill>
                <a:srgbClr val="333333"/>
              </a:solidFill>
            </a:endParaRPr>
          </a:p>
        </p:txBody>
      </p:sp>
      <p:sp>
        <p:nvSpPr>
          <p:cNvPr id="21" name="Accent2">
            <a:extLst>
              <a:ext uri="{FF2B5EF4-FFF2-40B4-BE49-F238E27FC236}">
                <a16:creationId xmlns:a16="http://schemas.microsoft.com/office/drawing/2014/main" xmlns="" id="{A4FD9066-145B-34D8-2928-F90CB97D96C6}"/>
              </a:ext>
            </a:extLst>
          </p:cNvPr>
          <p:cNvSpPr/>
          <p:nvPr/>
        </p:nvSpPr>
        <p:spPr>
          <a:xfrm>
            <a:off x="6104466" y="1798320"/>
            <a:ext cx="2760133" cy="508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D4A017"/>
              </a:solidFill>
            </a:endParaRPr>
          </a:p>
        </p:txBody>
      </p:sp>
      <p:sp>
        <p:nvSpPr>
          <p:cNvPr id="22" name="IconBg2">
            <a:extLst>
              <a:ext uri="{FF2B5EF4-FFF2-40B4-BE49-F238E27FC236}">
                <a16:creationId xmlns:a16="http://schemas.microsoft.com/office/drawing/2014/main" xmlns="" id="{8069028A-DB9E-331B-6E81-9F6889A5228F}"/>
              </a:ext>
            </a:extLst>
          </p:cNvPr>
          <p:cNvSpPr/>
          <p:nvPr/>
        </p:nvSpPr>
        <p:spPr>
          <a:xfrm>
            <a:off x="6282266" y="1960390"/>
            <a:ext cx="457200" cy="45720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D4A017"/>
              </a:solidFill>
            </a:endParaRPr>
          </a:p>
        </p:txBody>
      </p:sp>
      <p:sp>
        <p:nvSpPr>
          <p:cNvPr id="23" name="CardTitle2">
            <a:extLst>
              <a:ext uri="{FF2B5EF4-FFF2-40B4-BE49-F238E27FC236}">
                <a16:creationId xmlns:a16="http://schemas.microsoft.com/office/drawing/2014/main" xmlns="" id="{AEF073EA-DC4E-C2B5-81BA-3853AB1A14E7}"/>
              </a:ext>
            </a:extLst>
          </p:cNvPr>
          <p:cNvSpPr/>
          <p:nvPr/>
        </p:nvSpPr>
        <p:spPr>
          <a:xfrm>
            <a:off x="6815666" y="1950720"/>
            <a:ext cx="1896533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pt-BR" sz="1400" b="1" dirty="0">
                <a:solidFill>
                  <a:srgbClr val="D4A017"/>
                </a:solidFill>
                <a:latin typeface="Segoe UI"/>
              </a:rPr>
              <a:t>Disponibilidade</a:t>
            </a:r>
          </a:p>
        </p:txBody>
      </p:sp>
      <p:sp>
        <p:nvSpPr>
          <p:cNvPr id="24" name="CardDesc2">
            <a:extLst>
              <a:ext uri="{FF2B5EF4-FFF2-40B4-BE49-F238E27FC236}">
                <a16:creationId xmlns:a16="http://schemas.microsoft.com/office/drawing/2014/main" xmlns="" id="{7EF1E2DB-CE43-FC3D-841B-0551BB9E6388}"/>
              </a:ext>
            </a:extLst>
          </p:cNvPr>
          <p:cNvSpPr/>
          <p:nvPr/>
        </p:nvSpPr>
        <p:spPr>
          <a:xfrm>
            <a:off x="6282266" y="2484120"/>
            <a:ext cx="2404533" cy="76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pt-BR" sz="1200" dirty="0">
                <a:solidFill>
                  <a:srgbClr val="555555"/>
                </a:solidFill>
                <a:latin typeface="Segoe UI"/>
              </a:rPr>
              <a:t>Sistemas acessíveis quando necessário.</a:t>
            </a:r>
          </a:p>
        </p:txBody>
      </p:sp>
      <p:sp>
        <p:nvSpPr>
          <p:cNvPr id="26" name="Card3">
            <a:extLst>
              <a:ext uri="{FF2B5EF4-FFF2-40B4-BE49-F238E27FC236}">
                <a16:creationId xmlns:a16="http://schemas.microsoft.com/office/drawing/2014/main" xmlns="" id="{6205D52C-5418-67D6-1688-FC03958AAEED}"/>
              </a:ext>
            </a:extLst>
          </p:cNvPr>
          <p:cNvSpPr/>
          <p:nvPr/>
        </p:nvSpPr>
        <p:spPr>
          <a:xfrm>
            <a:off x="279400" y="3408426"/>
            <a:ext cx="2760133" cy="14533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6350">
            <a:solidFill>
              <a:srgbClr val="E8E8E8"/>
            </a:solidFill>
          </a:ln>
          <a:effectLst>
            <a:outerShdw blurRad="38100" dist="19050" dir="5400000" algn="ctr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 dirty="0">
              <a:solidFill>
                <a:srgbClr val="333333"/>
              </a:solidFill>
            </a:endParaRPr>
          </a:p>
        </p:txBody>
      </p:sp>
      <p:sp>
        <p:nvSpPr>
          <p:cNvPr id="28" name="Accent3">
            <a:extLst>
              <a:ext uri="{FF2B5EF4-FFF2-40B4-BE49-F238E27FC236}">
                <a16:creationId xmlns:a16="http://schemas.microsoft.com/office/drawing/2014/main" xmlns="" id="{63C3BBA7-FE3E-3CB4-35A6-5B76CD6CBCB3}"/>
              </a:ext>
            </a:extLst>
          </p:cNvPr>
          <p:cNvSpPr/>
          <p:nvPr/>
        </p:nvSpPr>
        <p:spPr>
          <a:xfrm>
            <a:off x="279400" y="3408426"/>
            <a:ext cx="2760133" cy="5080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CC3333"/>
              </a:solidFill>
            </a:endParaRPr>
          </a:p>
        </p:txBody>
      </p:sp>
      <p:sp>
        <p:nvSpPr>
          <p:cNvPr id="29" name="IconBg3">
            <a:extLst>
              <a:ext uri="{FF2B5EF4-FFF2-40B4-BE49-F238E27FC236}">
                <a16:creationId xmlns:a16="http://schemas.microsoft.com/office/drawing/2014/main" xmlns="" id="{E8EFE1FF-6FF0-99AB-4FC3-FE8D18C74A10}"/>
              </a:ext>
            </a:extLst>
          </p:cNvPr>
          <p:cNvSpPr/>
          <p:nvPr/>
        </p:nvSpPr>
        <p:spPr>
          <a:xfrm>
            <a:off x="457200" y="3560826"/>
            <a:ext cx="457200" cy="457200"/>
          </a:xfrm>
          <a:prstGeom prst="ellipse">
            <a:avLst/>
          </a:prstGeom>
          <a:solidFill>
            <a:srgbClr val="CC3333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CC3333"/>
              </a:solidFill>
            </a:endParaRPr>
          </a:p>
        </p:txBody>
      </p:sp>
      <p:sp>
        <p:nvSpPr>
          <p:cNvPr id="30" name="CardTitle3">
            <a:extLst>
              <a:ext uri="{FF2B5EF4-FFF2-40B4-BE49-F238E27FC236}">
                <a16:creationId xmlns:a16="http://schemas.microsoft.com/office/drawing/2014/main" xmlns="" id="{A799BF23-254A-E5AA-77AC-719E6EF2B16D}"/>
              </a:ext>
            </a:extLst>
          </p:cNvPr>
          <p:cNvSpPr/>
          <p:nvPr/>
        </p:nvSpPr>
        <p:spPr>
          <a:xfrm>
            <a:off x="990600" y="3560826"/>
            <a:ext cx="1896533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pt-BR" sz="1400" b="1" dirty="0">
                <a:solidFill>
                  <a:srgbClr val="CC3333"/>
                </a:solidFill>
                <a:latin typeface="Segoe UI"/>
              </a:rPr>
              <a:t>Autenticidade</a:t>
            </a:r>
          </a:p>
        </p:txBody>
      </p:sp>
      <p:sp>
        <p:nvSpPr>
          <p:cNvPr id="31" name="CardDesc3">
            <a:extLst>
              <a:ext uri="{FF2B5EF4-FFF2-40B4-BE49-F238E27FC236}">
                <a16:creationId xmlns:a16="http://schemas.microsoft.com/office/drawing/2014/main" xmlns="" id="{3A294DA4-912D-DF70-E554-6850802888EE}"/>
              </a:ext>
            </a:extLst>
          </p:cNvPr>
          <p:cNvSpPr/>
          <p:nvPr/>
        </p:nvSpPr>
        <p:spPr>
          <a:xfrm>
            <a:off x="457200" y="4094226"/>
            <a:ext cx="2404533" cy="76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pt-BR" sz="1200" dirty="0">
                <a:solidFill>
                  <a:srgbClr val="555555"/>
                </a:solidFill>
                <a:latin typeface="Segoe UI"/>
              </a:rPr>
              <a:t>Confirmar identidade e origem das informações.</a:t>
            </a:r>
          </a:p>
        </p:txBody>
      </p:sp>
      <p:sp>
        <p:nvSpPr>
          <p:cNvPr id="32" name="Card4">
            <a:extLst>
              <a:ext uri="{FF2B5EF4-FFF2-40B4-BE49-F238E27FC236}">
                <a16:creationId xmlns:a16="http://schemas.microsoft.com/office/drawing/2014/main" xmlns="" id="{C030FB2B-C562-1BCE-86AC-0B2B4F6E1F54}"/>
              </a:ext>
            </a:extLst>
          </p:cNvPr>
          <p:cNvSpPr/>
          <p:nvPr/>
        </p:nvSpPr>
        <p:spPr>
          <a:xfrm>
            <a:off x="3191933" y="3408426"/>
            <a:ext cx="2760133" cy="14533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6350">
            <a:solidFill>
              <a:srgbClr val="E8E8E8"/>
            </a:solidFill>
          </a:ln>
          <a:effectLst>
            <a:outerShdw blurRad="38100" dist="19050" dir="5400000" algn="ctr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 dirty="0">
              <a:solidFill>
                <a:srgbClr val="333333"/>
              </a:solidFill>
            </a:endParaRPr>
          </a:p>
        </p:txBody>
      </p:sp>
      <p:sp>
        <p:nvSpPr>
          <p:cNvPr id="33" name="Accent4">
            <a:extLst>
              <a:ext uri="{FF2B5EF4-FFF2-40B4-BE49-F238E27FC236}">
                <a16:creationId xmlns:a16="http://schemas.microsoft.com/office/drawing/2014/main" xmlns="" id="{831EFC40-7575-54AA-57BA-C88B3954C9DC}"/>
              </a:ext>
            </a:extLst>
          </p:cNvPr>
          <p:cNvSpPr/>
          <p:nvPr/>
        </p:nvSpPr>
        <p:spPr>
          <a:xfrm>
            <a:off x="3191933" y="3408426"/>
            <a:ext cx="2760133" cy="50800"/>
          </a:xfrm>
          <a:prstGeom prst="rect">
            <a:avLst/>
          </a:prstGeom>
          <a:solidFill>
            <a:srgbClr val="7B2D8E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7B2D8E"/>
              </a:solidFill>
            </a:endParaRPr>
          </a:p>
        </p:txBody>
      </p:sp>
      <p:sp>
        <p:nvSpPr>
          <p:cNvPr id="34" name="IconBg4">
            <a:extLst>
              <a:ext uri="{FF2B5EF4-FFF2-40B4-BE49-F238E27FC236}">
                <a16:creationId xmlns:a16="http://schemas.microsoft.com/office/drawing/2014/main" xmlns="" id="{9D4D6615-1F7D-C7F3-D617-BDE1732F45AE}"/>
              </a:ext>
            </a:extLst>
          </p:cNvPr>
          <p:cNvSpPr/>
          <p:nvPr/>
        </p:nvSpPr>
        <p:spPr>
          <a:xfrm>
            <a:off x="3369733" y="3560826"/>
            <a:ext cx="457200" cy="457200"/>
          </a:xfrm>
          <a:prstGeom prst="ellipse">
            <a:avLst/>
          </a:prstGeom>
          <a:solidFill>
            <a:srgbClr val="7B2D8E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7B2D8E"/>
              </a:solidFill>
            </a:endParaRPr>
          </a:p>
        </p:txBody>
      </p:sp>
      <p:sp>
        <p:nvSpPr>
          <p:cNvPr id="35" name="CardTitle4">
            <a:extLst>
              <a:ext uri="{FF2B5EF4-FFF2-40B4-BE49-F238E27FC236}">
                <a16:creationId xmlns:a16="http://schemas.microsoft.com/office/drawing/2014/main" xmlns="" id="{CDA70F77-C6D5-B872-75EB-831E8D4D0483}"/>
              </a:ext>
            </a:extLst>
          </p:cNvPr>
          <p:cNvSpPr/>
          <p:nvPr/>
        </p:nvSpPr>
        <p:spPr>
          <a:xfrm>
            <a:off x="3903133" y="3560826"/>
            <a:ext cx="1896533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pt-BR" sz="1400" b="1" dirty="0">
                <a:solidFill>
                  <a:srgbClr val="7B2D8E"/>
                </a:solidFill>
                <a:latin typeface="Segoe UI"/>
              </a:rPr>
              <a:t>Rastreabilidade</a:t>
            </a:r>
          </a:p>
        </p:txBody>
      </p:sp>
      <p:sp>
        <p:nvSpPr>
          <p:cNvPr id="42" name="CardDesc4">
            <a:extLst>
              <a:ext uri="{FF2B5EF4-FFF2-40B4-BE49-F238E27FC236}">
                <a16:creationId xmlns:a16="http://schemas.microsoft.com/office/drawing/2014/main" xmlns="" id="{1A7ACE76-7101-1552-23A4-0480D6E9B61A}"/>
              </a:ext>
            </a:extLst>
          </p:cNvPr>
          <p:cNvSpPr/>
          <p:nvPr/>
        </p:nvSpPr>
        <p:spPr>
          <a:xfrm>
            <a:off x="3369733" y="4094226"/>
            <a:ext cx="2404533" cy="76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pt-BR" sz="1200" dirty="0">
                <a:solidFill>
                  <a:srgbClr val="555555"/>
                </a:solidFill>
                <a:latin typeface="Segoe UI"/>
              </a:rPr>
              <a:t>Registrar e rastrear ações nos sistemas.</a:t>
            </a:r>
          </a:p>
        </p:txBody>
      </p:sp>
      <p:sp>
        <p:nvSpPr>
          <p:cNvPr id="46" name="Card5">
            <a:extLst>
              <a:ext uri="{FF2B5EF4-FFF2-40B4-BE49-F238E27FC236}">
                <a16:creationId xmlns:a16="http://schemas.microsoft.com/office/drawing/2014/main" xmlns="" id="{903FE40E-21A7-D962-7BD0-D084DFB6553A}"/>
              </a:ext>
            </a:extLst>
          </p:cNvPr>
          <p:cNvSpPr/>
          <p:nvPr/>
        </p:nvSpPr>
        <p:spPr>
          <a:xfrm>
            <a:off x="6104466" y="3408426"/>
            <a:ext cx="2760133" cy="14533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6350">
            <a:solidFill>
              <a:srgbClr val="E8E8E8"/>
            </a:solidFill>
          </a:ln>
          <a:effectLst>
            <a:outerShdw blurRad="38100" dist="19050" dir="5400000" algn="ctr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 dirty="0">
              <a:solidFill>
                <a:srgbClr val="333333"/>
              </a:solidFill>
            </a:endParaRPr>
          </a:p>
        </p:txBody>
      </p:sp>
      <p:sp>
        <p:nvSpPr>
          <p:cNvPr id="48" name="Accent5">
            <a:extLst>
              <a:ext uri="{FF2B5EF4-FFF2-40B4-BE49-F238E27FC236}">
                <a16:creationId xmlns:a16="http://schemas.microsoft.com/office/drawing/2014/main" xmlns="" id="{6883E394-BA36-A161-4942-37B2300E3B89}"/>
              </a:ext>
            </a:extLst>
          </p:cNvPr>
          <p:cNvSpPr/>
          <p:nvPr/>
        </p:nvSpPr>
        <p:spPr>
          <a:xfrm>
            <a:off x="6104466" y="3408426"/>
            <a:ext cx="2760133" cy="508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3D3D3D"/>
              </a:solidFill>
            </a:endParaRPr>
          </a:p>
        </p:txBody>
      </p:sp>
      <p:sp>
        <p:nvSpPr>
          <p:cNvPr id="53" name="IconBg5">
            <a:extLst>
              <a:ext uri="{FF2B5EF4-FFF2-40B4-BE49-F238E27FC236}">
                <a16:creationId xmlns:a16="http://schemas.microsoft.com/office/drawing/2014/main" xmlns="" id="{5DF51CAA-E0C1-73C3-D92C-0D2DAB58F61A}"/>
              </a:ext>
            </a:extLst>
          </p:cNvPr>
          <p:cNvSpPr/>
          <p:nvPr/>
        </p:nvSpPr>
        <p:spPr>
          <a:xfrm>
            <a:off x="6282266" y="3560826"/>
            <a:ext cx="457200" cy="457200"/>
          </a:xfrm>
          <a:prstGeom prst="ellipse">
            <a:avLst/>
          </a:prstGeom>
          <a:solidFill>
            <a:srgbClr val="3D3D3D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3D3D3D"/>
              </a:solidFill>
            </a:endParaRPr>
          </a:p>
        </p:txBody>
      </p:sp>
      <p:sp>
        <p:nvSpPr>
          <p:cNvPr id="55" name="CardTitle5">
            <a:extLst>
              <a:ext uri="{FF2B5EF4-FFF2-40B4-BE49-F238E27FC236}">
                <a16:creationId xmlns:a16="http://schemas.microsoft.com/office/drawing/2014/main" xmlns="" id="{540825E4-3E44-7076-DE92-459355663299}"/>
              </a:ext>
            </a:extLst>
          </p:cNvPr>
          <p:cNvSpPr/>
          <p:nvPr/>
        </p:nvSpPr>
        <p:spPr>
          <a:xfrm>
            <a:off x="6815666" y="3560826"/>
            <a:ext cx="1896533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pt-BR" sz="1400" b="1" dirty="0">
                <a:solidFill>
                  <a:srgbClr val="3D3D3D"/>
                </a:solidFill>
                <a:latin typeface="Segoe UI"/>
              </a:rPr>
              <a:t>Conformidade Legal</a:t>
            </a:r>
          </a:p>
        </p:txBody>
      </p:sp>
      <p:sp>
        <p:nvSpPr>
          <p:cNvPr id="57" name="CardDesc5">
            <a:extLst>
              <a:ext uri="{FF2B5EF4-FFF2-40B4-BE49-F238E27FC236}">
                <a16:creationId xmlns:a16="http://schemas.microsoft.com/office/drawing/2014/main" xmlns="" id="{2E182B19-1AFC-5774-A097-F6D836C63383}"/>
              </a:ext>
            </a:extLst>
          </p:cNvPr>
          <p:cNvSpPr/>
          <p:nvPr/>
        </p:nvSpPr>
        <p:spPr>
          <a:xfrm>
            <a:off x="6282266" y="4094226"/>
            <a:ext cx="2404533" cy="76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pt-BR" sz="1200" dirty="0">
                <a:solidFill>
                  <a:srgbClr val="555555"/>
                </a:solidFill>
                <a:latin typeface="Segoe UI"/>
              </a:rPr>
              <a:t>Seguir normas e leis de segurança da informação.</a:t>
            </a:r>
          </a:p>
        </p:txBody>
      </p:sp>
      <p:pic>
        <p:nvPicPr>
          <p:cNvPr id="59" name="Graphic 871" descr="Cadeado - Confidencialidade">
            <a:extLst>
              <a:ext uri="{FF2B5EF4-FFF2-40B4-BE49-F238E27FC236}">
                <a16:creationId xmlns:a16="http://schemas.microsoft.com/office/drawing/2014/main" xmlns="" id="{618D6EE2-303D-1617-5196-0928657BFF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546100" y="2039620"/>
            <a:ext cx="279400" cy="279400"/>
          </a:xfrm>
          <a:prstGeom prst="rect">
            <a:avLst/>
          </a:prstGeom>
        </p:spPr>
      </p:pic>
      <p:pic>
        <p:nvPicPr>
          <p:cNvPr id="61" name="Graphic 872" descr="Check - Integridade">
            <a:extLst>
              <a:ext uri="{FF2B5EF4-FFF2-40B4-BE49-F238E27FC236}">
                <a16:creationId xmlns:a16="http://schemas.microsoft.com/office/drawing/2014/main" xmlns="" id="{C6B42A12-C1B9-E5A8-AF5C-E1DED9A5B4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454400" y="2039620"/>
            <a:ext cx="279400" cy="279400"/>
          </a:xfrm>
          <a:prstGeom prst="rect">
            <a:avLst/>
          </a:prstGeom>
        </p:spPr>
      </p:pic>
      <p:pic>
        <p:nvPicPr>
          <p:cNvPr id="63" name="Graphic 873" descr="Relógio - Disponibilidade">
            <a:extLst>
              <a:ext uri="{FF2B5EF4-FFF2-40B4-BE49-F238E27FC236}">
                <a16:creationId xmlns:a16="http://schemas.microsoft.com/office/drawing/2014/main" xmlns="" id="{35683CD9-B932-D4BD-AF41-83F3BE2489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373583" y="2049290"/>
            <a:ext cx="279400" cy="279400"/>
          </a:xfrm>
          <a:prstGeom prst="rect">
            <a:avLst/>
          </a:prstGeom>
        </p:spPr>
      </p:pic>
      <p:pic>
        <p:nvPicPr>
          <p:cNvPr id="65" name="Graphic 874" descr="Chave - Autenticidade">
            <a:extLst>
              <a:ext uri="{FF2B5EF4-FFF2-40B4-BE49-F238E27FC236}">
                <a16:creationId xmlns:a16="http://schemas.microsoft.com/office/drawing/2014/main" xmlns="" id="{1B661253-7199-B14D-8A11-43D4F403D7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546100" y="3649726"/>
            <a:ext cx="279400" cy="279400"/>
          </a:xfrm>
          <a:prstGeom prst="rect">
            <a:avLst/>
          </a:prstGeom>
        </p:spPr>
      </p:pic>
      <p:pic>
        <p:nvPicPr>
          <p:cNvPr id="66" name="Graphic 875" descr="Lupa - Rastreabilidade">
            <a:extLst>
              <a:ext uri="{FF2B5EF4-FFF2-40B4-BE49-F238E27FC236}">
                <a16:creationId xmlns:a16="http://schemas.microsoft.com/office/drawing/2014/main" xmlns="" id="{24E2BEB4-AE94-8031-D994-FB07AF1779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3454400" y="3649726"/>
            <a:ext cx="279400" cy="279400"/>
          </a:xfrm>
          <a:prstGeom prst="rect">
            <a:avLst/>
          </a:prstGeom>
        </p:spPr>
      </p:pic>
      <p:pic>
        <p:nvPicPr>
          <p:cNvPr id="67" name="Graphic 876" descr="Balança - Conformidade Legal">
            <a:extLst>
              <a:ext uri="{FF2B5EF4-FFF2-40B4-BE49-F238E27FC236}">
                <a16:creationId xmlns:a16="http://schemas.microsoft.com/office/drawing/2014/main" xmlns="" id="{A8963939-835B-3D18-80FB-62E03856EC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381446" y="3637026"/>
            <a:ext cx="2794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321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DDCCAA"/>
          </a:solidFill>
          <a:ln w="12700">
            <a:solidFill>
              <a:srgbClr val="DDCCA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100" noProof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— CONCEITOS BÁSICOS DE SEGURANÇA DA INFORMAÇÃO</a:t>
            </a:r>
            <a:endParaRPr lang="pt-BR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200" noProof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ISSO IMPORTA PARA MIM?</a:t>
            </a:r>
            <a:endParaRPr lang="pt-BR" sz="2200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22860"/>
          </a:xfrm>
          <a:prstGeom prst="rect">
            <a:avLst/>
          </a:prstGeom>
          <a:solidFill>
            <a:srgbClr val="CCBBAA"/>
          </a:solidFill>
          <a:ln w="12700">
            <a:solidFill>
              <a:srgbClr val="CCBBA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09728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1430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pt-BR" sz="1250" i="1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servidor é parte fundamental da segurança da FUNSERV. Ações simples do dia a dia podem proteger ou comprometer dados de milhares de segurados.</a:t>
            </a:r>
            <a:endParaRPr lang="pt-BR" sz="1250" noProof="0" dirty="0"/>
          </a:p>
        </p:txBody>
      </p:sp>
      <p:sp>
        <p:nvSpPr>
          <p:cNvPr id="8" name="Shape 5"/>
          <p:cNvSpPr/>
          <p:nvPr/>
        </p:nvSpPr>
        <p:spPr>
          <a:xfrm>
            <a:off x="320040" y="1783080"/>
            <a:ext cx="4069080" cy="1417320"/>
          </a:xfrm>
          <a:prstGeom prst="rect">
            <a:avLst/>
          </a:prstGeom>
          <a:solidFill>
            <a:srgbClr val="FFFFFF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6"/>
          <p:cNvSpPr/>
          <p:nvPr/>
        </p:nvSpPr>
        <p:spPr>
          <a:xfrm>
            <a:off x="326967" y="1783080"/>
            <a:ext cx="4069080" cy="347472"/>
          </a:xfrm>
          <a:prstGeom prst="rect">
            <a:avLst/>
          </a:prstGeom>
          <a:solidFill>
            <a:srgbClr val="4A90D9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411480" y="17830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 QUE PROTEGEMOS?</a:t>
            </a:r>
            <a:endParaRPr lang="pt-BR" sz="1100" noProof="0" dirty="0"/>
          </a:p>
        </p:txBody>
      </p:sp>
      <p:sp>
        <p:nvSpPr>
          <p:cNvPr id="11" name="Text 8"/>
          <p:cNvSpPr/>
          <p:nvPr/>
        </p:nvSpPr>
        <p:spPr>
          <a:xfrm>
            <a:off x="411480" y="2185416"/>
            <a:ext cx="38862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pt-BR" sz="1150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pessoais dos segurados, informações financeiras, documentos administrativos e sistemas da Fundação.</a:t>
            </a:r>
            <a:endParaRPr lang="pt-BR" sz="1150" noProof="0" dirty="0"/>
          </a:p>
        </p:txBody>
      </p:sp>
      <p:sp>
        <p:nvSpPr>
          <p:cNvPr id="12" name="Shape 9"/>
          <p:cNvSpPr/>
          <p:nvPr/>
        </p:nvSpPr>
        <p:spPr>
          <a:xfrm>
            <a:off x="4663440" y="1783080"/>
            <a:ext cx="4069080" cy="1417320"/>
          </a:xfrm>
          <a:prstGeom prst="rect">
            <a:avLst/>
          </a:prstGeom>
          <a:solidFill>
            <a:srgbClr val="FFFFFF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Shape 10"/>
          <p:cNvSpPr/>
          <p:nvPr/>
        </p:nvSpPr>
        <p:spPr>
          <a:xfrm>
            <a:off x="4663440" y="1783080"/>
            <a:ext cx="4069080" cy="347472"/>
          </a:xfrm>
          <a:prstGeom prst="rect">
            <a:avLst/>
          </a:prstGeom>
          <a:solidFill>
            <a:srgbClr val="CC000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1"/>
          <p:cNvSpPr/>
          <p:nvPr/>
        </p:nvSpPr>
        <p:spPr>
          <a:xfrm>
            <a:off x="4754880" y="17830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PODE ACONTECER?</a:t>
            </a:r>
            <a:endParaRPr lang="pt-BR" sz="1100" noProof="0" dirty="0"/>
          </a:p>
        </p:txBody>
      </p:sp>
      <p:sp>
        <p:nvSpPr>
          <p:cNvPr id="15" name="Text 12"/>
          <p:cNvSpPr/>
          <p:nvPr/>
        </p:nvSpPr>
        <p:spPr>
          <a:xfrm>
            <a:off x="4754880" y="2185416"/>
            <a:ext cx="38862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pt-BR" sz="1150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Vazamento de dados, fraudes, processos legais, perda de confiança e penalidades sob a LGPD.</a:t>
            </a:r>
            <a:endParaRPr lang="pt-BR" sz="1150" noProof="0" dirty="0"/>
          </a:p>
        </p:txBody>
      </p:sp>
      <p:sp>
        <p:nvSpPr>
          <p:cNvPr id="16" name="Shape 13"/>
          <p:cNvSpPr/>
          <p:nvPr/>
        </p:nvSpPr>
        <p:spPr>
          <a:xfrm>
            <a:off x="320040" y="3364992"/>
            <a:ext cx="4069080" cy="1417320"/>
          </a:xfrm>
          <a:prstGeom prst="rect">
            <a:avLst/>
          </a:prstGeom>
          <a:solidFill>
            <a:srgbClr val="FFFFFF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Shape 14"/>
          <p:cNvSpPr/>
          <p:nvPr/>
        </p:nvSpPr>
        <p:spPr>
          <a:xfrm>
            <a:off x="320040" y="3364992"/>
            <a:ext cx="4069080" cy="347472"/>
          </a:xfrm>
          <a:prstGeom prst="rect">
            <a:avLst/>
          </a:prstGeom>
          <a:solidFill>
            <a:srgbClr val="00B05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5"/>
          <p:cNvSpPr/>
          <p:nvPr/>
        </p:nvSpPr>
        <p:spPr>
          <a:xfrm>
            <a:off x="411480" y="33649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MINHA RESPONSABILIDADE</a:t>
            </a:r>
            <a:endParaRPr lang="pt-BR" sz="1100" noProof="0" dirty="0"/>
          </a:p>
        </p:txBody>
      </p:sp>
      <p:sp>
        <p:nvSpPr>
          <p:cNvPr id="19" name="Text 16"/>
          <p:cNvSpPr/>
          <p:nvPr/>
        </p:nvSpPr>
        <p:spPr>
          <a:xfrm>
            <a:off x="411480" y="3767328"/>
            <a:ext cx="38862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pt-BR" sz="1150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colaborador é responsável pelas informações que acessa, armazena e transmite no exercício de suas funções.</a:t>
            </a:r>
            <a:endParaRPr lang="pt-BR" sz="1150" noProof="0" dirty="0"/>
          </a:p>
        </p:txBody>
      </p:sp>
      <p:sp>
        <p:nvSpPr>
          <p:cNvPr id="20" name="Shape 17"/>
          <p:cNvSpPr/>
          <p:nvPr/>
        </p:nvSpPr>
        <p:spPr>
          <a:xfrm>
            <a:off x="4663440" y="3364992"/>
            <a:ext cx="4069080" cy="1417320"/>
          </a:xfrm>
          <a:prstGeom prst="rect">
            <a:avLst/>
          </a:prstGeom>
          <a:solidFill>
            <a:srgbClr val="FFFFFF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Shape 18"/>
          <p:cNvSpPr/>
          <p:nvPr/>
        </p:nvSpPr>
        <p:spPr>
          <a:xfrm>
            <a:off x="4663440" y="3364992"/>
            <a:ext cx="4069080" cy="34747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19"/>
          <p:cNvSpPr/>
          <p:nvPr/>
        </p:nvSpPr>
        <p:spPr>
          <a:xfrm>
            <a:off x="4754880" y="33649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LEGAL</a:t>
            </a:r>
            <a:endParaRPr lang="pt-BR" sz="1100" noProof="0" dirty="0"/>
          </a:p>
        </p:txBody>
      </p:sp>
      <p:sp>
        <p:nvSpPr>
          <p:cNvPr id="23" name="Text 20"/>
          <p:cNvSpPr/>
          <p:nvPr/>
        </p:nvSpPr>
        <p:spPr>
          <a:xfrm>
            <a:off x="4754880" y="3767328"/>
            <a:ext cx="38862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pt-BR" sz="1150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PSI FUNSERV, LGPD (Lei 13.709/2018), Pró-Gestão RPPS e normas da administração pública municipal.</a:t>
            </a:r>
            <a:endParaRPr lang="pt-BR" sz="115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>
            <a:extLst>
              <a:ext uri="{FF2B5EF4-FFF2-40B4-BE49-F238E27FC236}">
                <a16:creationId xmlns:a16="http://schemas.microsoft.com/office/drawing/2014/main" xmlns="" id="{C7CF09BB-A5C1-9466-098A-EB04FA6E34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702"/>
          <a:stretch>
            <a:fillRect/>
          </a:stretch>
        </p:blipFill>
        <p:spPr>
          <a:xfrm>
            <a:off x="138480" y="2327459"/>
            <a:ext cx="2928843" cy="2612461"/>
          </a:xfrm>
          <a:prstGeom prst="rect">
            <a:avLst/>
          </a:prstGeom>
        </p:spPr>
      </p:pic>
      <p:sp>
        <p:nvSpPr>
          <p:cNvPr id="8" name="Shape 6"/>
          <p:cNvSpPr/>
          <p:nvPr/>
        </p:nvSpPr>
        <p:spPr>
          <a:xfrm>
            <a:off x="7955280" y="-365760"/>
            <a:ext cx="822960" cy="822960"/>
          </a:xfrm>
          <a:prstGeom prst="ellipse">
            <a:avLst/>
          </a:prstGeom>
          <a:solidFill>
            <a:srgbClr val="FF0000">
              <a:alpha val="50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7539128" y="4347028"/>
            <a:ext cx="2194560" cy="2194560"/>
          </a:xfrm>
          <a:prstGeom prst="ellipse">
            <a:avLst/>
          </a:prstGeom>
          <a:solidFill>
            <a:srgbClr val="E6B800">
              <a:alpha val="40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-47246" y="4851003"/>
            <a:ext cx="394718" cy="355667"/>
          </a:xfrm>
          <a:prstGeom prst="ellipse">
            <a:avLst/>
          </a:prstGeom>
          <a:solidFill>
            <a:srgbClr val="E6B800">
              <a:alpha val="50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" name="Shape 0"/>
          <p:cNvSpPr/>
          <p:nvPr/>
        </p:nvSpPr>
        <p:spPr>
          <a:xfrm>
            <a:off x="8921871" y="502920"/>
            <a:ext cx="54864" cy="402336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4400" b="1" noProof="0" dirty="0">
                <a:solidFill>
                  <a:srgbClr val="3D3D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PRINCÍPIOS DA LGPD</a:t>
            </a:r>
            <a:endParaRPr lang="pt-BR" sz="44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4400" b="1" noProof="0" dirty="0">
                <a:solidFill>
                  <a:srgbClr val="3D3D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 PROTEÇÃO DE DADOS PESSOAIS</a:t>
            </a:r>
            <a:endParaRPr lang="pt-BR" sz="4400" noProof="0" dirty="0"/>
          </a:p>
        </p:txBody>
      </p:sp>
      <p:sp>
        <p:nvSpPr>
          <p:cNvPr id="5" name="Shape 3"/>
          <p:cNvSpPr/>
          <p:nvPr/>
        </p:nvSpPr>
        <p:spPr>
          <a:xfrm>
            <a:off x="3277553" y="2971800"/>
            <a:ext cx="201168" cy="347472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3286697" y="297180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pt-BR" sz="11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700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 Geral de Proteção de Dados — Lei nº 13.709/2018</a:t>
            </a:r>
            <a:endParaRPr lang="pt-BR" sz="1700" noProof="0" dirty="0"/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xmlns="" id="{F367137D-899A-7223-ED56-EBA8B3DB4268}"/>
              </a:ext>
            </a:extLst>
          </p:cNvPr>
          <p:cNvGrpSpPr/>
          <p:nvPr/>
        </p:nvGrpSpPr>
        <p:grpSpPr>
          <a:xfrm>
            <a:off x="182880" y="190450"/>
            <a:ext cx="457200" cy="457200"/>
            <a:chOff x="8503920" y="274320"/>
            <a:chExt cx="457200" cy="457200"/>
          </a:xfrm>
        </p:grpSpPr>
        <p:sp>
          <p:nvSpPr>
            <p:cNvPr id="11" name="Shape 9"/>
            <p:cNvSpPr/>
            <p:nvPr/>
          </p:nvSpPr>
          <p:spPr>
            <a:xfrm>
              <a:off x="8503920" y="274320"/>
              <a:ext cx="457200" cy="457200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8503920" y="27432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pt-BR" sz="1400" b="1" noProof="0" dirty="0">
                  <a:solidFill>
                    <a:srgbClr val="FFCC00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II</a:t>
              </a:r>
              <a:endParaRPr lang="pt-BR" sz="1400" noProof="0" dirty="0"/>
            </a:p>
          </p:txBody>
        </p:sp>
      </p:grpSp>
      <p:sp>
        <p:nvSpPr>
          <p:cNvPr id="13" name="Shape 8">
            <a:extLst>
              <a:ext uri="{FF2B5EF4-FFF2-40B4-BE49-F238E27FC236}">
                <a16:creationId xmlns:a16="http://schemas.microsoft.com/office/drawing/2014/main" xmlns="" id="{33CEBF74-E41E-5874-ECCB-A72A6C09A7BD}"/>
              </a:ext>
            </a:extLst>
          </p:cNvPr>
          <p:cNvSpPr/>
          <p:nvPr/>
        </p:nvSpPr>
        <p:spPr>
          <a:xfrm>
            <a:off x="44088" y="4762086"/>
            <a:ext cx="197359" cy="177834"/>
          </a:xfrm>
          <a:prstGeom prst="ellipse">
            <a:avLst/>
          </a:prstGeom>
          <a:solidFill>
            <a:srgbClr val="FF0000">
              <a:alpha val="50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E26D96E3-CE27-DEB7-B6A2-EFCBD10E2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xmlns="" id="{CF70A9DD-CF6E-16F5-6C97-5D91784458A1}"/>
              </a:ext>
            </a:extLst>
          </p:cNvPr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DDCCAA"/>
          </a:solidFill>
          <a:ln w="12700">
            <a:solidFill>
              <a:srgbClr val="DDCCA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xmlns="" id="{2143C0A1-3A9E-610F-0BBA-DC9DE3FBB0A7}"/>
              </a:ext>
            </a:extLst>
          </p:cNvPr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100" noProof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 — PRINCÍPIOS DA LGPD E PROTEÇÃO DE DADOS PESSOAIS</a:t>
            </a:r>
            <a:endParaRPr lang="pt-BR" sz="11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xmlns="" id="{D72B2910-D9E3-1509-0E95-576DECF38C50}"/>
              </a:ext>
            </a:extLst>
          </p:cNvPr>
          <p:cNvSpPr/>
          <p:nvPr/>
        </p:nvSpPr>
        <p:spPr>
          <a:xfrm>
            <a:off x="36576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200" noProof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A LGPD?</a:t>
            </a:r>
            <a:endParaRPr lang="pt-BR" sz="22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xmlns="" id="{5668B8F7-CA21-1510-54CB-25FDD1854DB8}"/>
              </a:ext>
            </a:extLst>
          </p:cNvPr>
          <p:cNvSpPr/>
          <p:nvPr/>
        </p:nvSpPr>
        <p:spPr>
          <a:xfrm>
            <a:off x="365760" y="1024128"/>
            <a:ext cx="8412480" cy="22860"/>
          </a:xfrm>
          <a:prstGeom prst="rect">
            <a:avLst/>
          </a:prstGeom>
          <a:solidFill>
            <a:srgbClr val="CCBBAA"/>
          </a:solidFill>
          <a:ln w="12700">
            <a:solidFill>
              <a:srgbClr val="CCBBA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xmlns="" id="{1424E58F-5BB0-36D5-91A8-F4DDD5C04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09728"/>
            <a:ext cx="594360" cy="59436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xmlns="" id="{03AE279C-B6EA-881A-EBE7-2D4E66B0194B}"/>
              </a:ext>
            </a:extLst>
          </p:cNvPr>
          <p:cNvSpPr/>
          <p:nvPr/>
        </p:nvSpPr>
        <p:spPr>
          <a:xfrm>
            <a:off x="365760" y="11430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i="1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LGPD garante que os dados pessoais das pessoas sejam tratados com respeito, segurança e finalidade clara. Todos nós lidamos com dados pessoais no serviço público.</a:t>
            </a:r>
            <a:endParaRPr lang="pt-BR" sz="1250" noProof="0" dirty="0"/>
          </a:p>
        </p:txBody>
      </p:sp>
      <p:grpSp>
        <p:nvGrpSpPr>
          <p:cNvPr id="78" name="Agrupar 77">
            <a:extLst>
              <a:ext uri="{FF2B5EF4-FFF2-40B4-BE49-F238E27FC236}">
                <a16:creationId xmlns:a16="http://schemas.microsoft.com/office/drawing/2014/main" xmlns="" id="{3B5BE950-9CCF-4EDD-E88A-24E2F01FD9F9}"/>
              </a:ext>
            </a:extLst>
          </p:cNvPr>
          <p:cNvGrpSpPr/>
          <p:nvPr/>
        </p:nvGrpSpPr>
        <p:grpSpPr>
          <a:xfrm>
            <a:off x="278167" y="1640423"/>
            <a:ext cx="4253193" cy="571109"/>
            <a:chOff x="278167" y="1640423"/>
            <a:chExt cx="4253193" cy="571109"/>
          </a:xfrm>
        </p:grpSpPr>
        <p:sp>
          <p:nvSpPr>
            <p:cNvPr id="68" name="Card0">
              <a:extLst>
                <a:ext uri="{FF2B5EF4-FFF2-40B4-BE49-F238E27FC236}">
                  <a16:creationId xmlns:a16="http://schemas.microsoft.com/office/drawing/2014/main" xmlns="" id="{45341422-3364-2ABD-9B4E-CCEA1E476F3B}"/>
                </a:ext>
              </a:extLst>
            </p:cNvPr>
            <p:cNvSpPr/>
            <p:nvPr/>
          </p:nvSpPr>
          <p:spPr>
            <a:xfrm>
              <a:off x="278167" y="1640423"/>
              <a:ext cx="4241074" cy="549148"/>
            </a:xfrm>
            <a:prstGeom prst="roundRect">
              <a:avLst>
                <a:gd name="adj" fmla="val 3500"/>
              </a:avLst>
            </a:prstGeom>
            <a:solidFill>
              <a:srgbClr val="FFFFFF"/>
            </a:solidFill>
            <a:ln w="6350">
              <a:solidFill>
                <a:srgbClr val="E8E8E8"/>
              </a:solidFill>
            </a:ln>
            <a:effectLst>
              <a:outerShdw blurRad="38100" dist="19050" dir="5400000" algn="ctr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pt-BR" dirty="0">
                <a:solidFill>
                  <a:srgbClr val="333333"/>
                </a:solidFill>
              </a:endParaRPr>
            </a:p>
          </p:txBody>
        </p:sp>
        <p:sp>
          <p:nvSpPr>
            <p:cNvPr id="10" name="Num0">
              <a:extLst>
                <a:ext uri="{FF2B5EF4-FFF2-40B4-BE49-F238E27FC236}">
                  <a16:creationId xmlns:a16="http://schemas.microsoft.com/office/drawing/2014/main" xmlns="" id="{603B8DFA-BCB4-4475-7254-8CEC60B47913}"/>
                </a:ext>
              </a:extLst>
            </p:cNvPr>
            <p:cNvSpPr/>
            <p:nvPr/>
          </p:nvSpPr>
          <p:spPr>
            <a:xfrm>
              <a:off x="365760" y="1765264"/>
              <a:ext cx="279400" cy="279400"/>
            </a:xfrm>
            <a:prstGeom prst="ellipse">
              <a:avLst/>
            </a:prstGeom>
            <a:solidFill>
              <a:srgbClr val="2A6BB5"/>
            </a:solidFill>
            <a:ln>
              <a:noFill/>
            </a:ln>
          </p:spPr>
          <p:txBody>
            <a:bodyPr lIns="0" tIns="0" rIns="0" bIns="0" anchor="ctr"/>
            <a:lstStyle/>
            <a:p>
              <a:pPr algn="ctr"/>
              <a:r>
                <a:rPr lang="pt-BR" sz="1100" b="1" dirty="0">
                  <a:solidFill>
                    <a:srgbClr val="FFFFFF"/>
                  </a:solidFill>
                  <a:latin typeface="Segoe UI"/>
                </a:rPr>
                <a:t>1</a:t>
              </a:r>
            </a:p>
          </p:txBody>
        </p:sp>
        <p:sp>
          <p:nvSpPr>
            <p:cNvPr id="11" name="ItemTitle0">
              <a:extLst>
                <a:ext uri="{FF2B5EF4-FFF2-40B4-BE49-F238E27FC236}">
                  <a16:creationId xmlns:a16="http://schemas.microsoft.com/office/drawing/2014/main" xmlns="" id="{F2D86B75-854A-3825-8F8B-8EAE13E348F5}"/>
                </a:ext>
              </a:extLst>
            </p:cNvPr>
            <p:cNvSpPr/>
            <p:nvPr/>
          </p:nvSpPr>
          <p:spPr>
            <a:xfrm>
              <a:off x="746760" y="1732851"/>
              <a:ext cx="3784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b"/>
            <a:lstStyle/>
            <a:p>
              <a:pPr algn="l"/>
              <a:r>
                <a:rPr lang="pt-BR" sz="1400" b="1" dirty="0">
                  <a:solidFill>
                    <a:srgbClr val="2A6BB5"/>
                  </a:solidFill>
                  <a:latin typeface="Segoe UI"/>
                </a:rPr>
                <a:t>Finalidade</a:t>
              </a:r>
            </a:p>
          </p:txBody>
        </p:sp>
        <p:sp>
          <p:nvSpPr>
            <p:cNvPr id="12" name="ItemDesc0">
              <a:extLst>
                <a:ext uri="{FF2B5EF4-FFF2-40B4-BE49-F238E27FC236}">
                  <a16:creationId xmlns:a16="http://schemas.microsoft.com/office/drawing/2014/main" xmlns="" id="{52E46776-D75F-AC3E-F50F-19C1B3126277}"/>
                </a:ext>
              </a:extLst>
            </p:cNvPr>
            <p:cNvSpPr/>
            <p:nvPr/>
          </p:nvSpPr>
          <p:spPr>
            <a:xfrm>
              <a:off x="746760" y="1942038"/>
              <a:ext cx="3784600" cy="269494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45720" bIns="0" anchor="t"/>
            <a:lstStyle/>
            <a:p>
              <a:pPr algn="l"/>
              <a:r>
                <a:rPr lang="pt-BR" sz="1200" dirty="0">
                  <a:solidFill>
                    <a:srgbClr val="666666"/>
                  </a:solidFill>
                  <a:latin typeface="Segoe UI"/>
                </a:rPr>
                <a:t>Dados coletados para finalidade específica e informada</a:t>
              </a:r>
            </a:p>
          </p:txBody>
        </p:sp>
      </p:grpSp>
      <p:grpSp>
        <p:nvGrpSpPr>
          <p:cNvPr id="79" name="Agrupar 78">
            <a:extLst>
              <a:ext uri="{FF2B5EF4-FFF2-40B4-BE49-F238E27FC236}">
                <a16:creationId xmlns:a16="http://schemas.microsoft.com/office/drawing/2014/main" xmlns="" id="{437D031D-B767-ADB2-C92E-CB5DF5AAF1EA}"/>
              </a:ext>
            </a:extLst>
          </p:cNvPr>
          <p:cNvGrpSpPr/>
          <p:nvPr/>
        </p:nvGrpSpPr>
        <p:grpSpPr>
          <a:xfrm>
            <a:off x="290286" y="2330958"/>
            <a:ext cx="4241074" cy="549148"/>
            <a:chOff x="290286" y="2330958"/>
            <a:chExt cx="4241074" cy="549148"/>
          </a:xfrm>
        </p:grpSpPr>
        <p:sp>
          <p:nvSpPr>
            <p:cNvPr id="69" name="Card0">
              <a:extLst>
                <a:ext uri="{FF2B5EF4-FFF2-40B4-BE49-F238E27FC236}">
                  <a16:creationId xmlns:a16="http://schemas.microsoft.com/office/drawing/2014/main" xmlns="" id="{AC7A25AE-7229-3384-E477-2962D717A6C3}"/>
                </a:ext>
              </a:extLst>
            </p:cNvPr>
            <p:cNvSpPr/>
            <p:nvPr/>
          </p:nvSpPr>
          <p:spPr>
            <a:xfrm>
              <a:off x="290286" y="2330958"/>
              <a:ext cx="4241074" cy="549148"/>
            </a:xfrm>
            <a:prstGeom prst="roundRect">
              <a:avLst>
                <a:gd name="adj" fmla="val 3500"/>
              </a:avLst>
            </a:prstGeom>
            <a:solidFill>
              <a:srgbClr val="FFFFFF"/>
            </a:solidFill>
            <a:ln w="6350">
              <a:solidFill>
                <a:srgbClr val="E8E8E8"/>
              </a:solidFill>
            </a:ln>
            <a:effectLst>
              <a:outerShdw blurRad="38100" dist="19050" dir="5400000" algn="ctr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pt-BR" dirty="0">
                <a:solidFill>
                  <a:srgbClr val="333333"/>
                </a:solidFill>
              </a:endParaRPr>
            </a:p>
          </p:txBody>
        </p:sp>
        <p:sp>
          <p:nvSpPr>
            <p:cNvPr id="13" name="Num1">
              <a:extLst>
                <a:ext uri="{FF2B5EF4-FFF2-40B4-BE49-F238E27FC236}">
                  <a16:creationId xmlns:a16="http://schemas.microsoft.com/office/drawing/2014/main" xmlns="" id="{5FC9C00F-6064-7639-E1FE-48E945251F51}"/>
                </a:ext>
              </a:extLst>
            </p:cNvPr>
            <p:cNvSpPr/>
            <p:nvPr/>
          </p:nvSpPr>
          <p:spPr>
            <a:xfrm>
              <a:off x="365760" y="2435352"/>
              <a:ext cx="279400" cy="279400"/>
            </a:xfrm>
            <a:prstGeom prst="ellipse">
              <a:avLst/>
            </a:prstGeom>
            <a:solidFill>
              <a:srgbClr val="CC3333"/>
            </a:solidFill>
            <a:ln>
              <a:noFill/>
            </a:ln>
          </p:spPr>
          <p:txBody>
            <a:bodyPr lIns="0" tIns="0" rIns="0" bIns="0" anchor="ctr"/>
            <a:lstStyle/>
            <a:p>
              <a:pPr algn="ctr"/>
              <a:r>
                <a:rPr lang="pt-BR" sz="1100" b="1" dirty="0">
                  <a:solidFill>
                    <a:srgbClr val="FFFFFF"/>
                  </a:solidFill>
                  <a:latin typeface="Segoe UI"/>
                </a:rPr>
                <a:t>2</a:t>
              </a:r>
            </a:p>
          </p:txBody>
        </p:sp>
        <p:sp>
          <p:nvSpPr>
            <p:cNvPr id="14" name="ItemTitle1">
              <a:extLst>
                <a:ext uri="{FF2B5EF4-FFF2-40B4-BE49-F238E27FC236}">
                  <a16:creationId xmlns:a16="http://schemas.microsoft.com/office/drawing/2014/main" xmlns="" id="{10CBFAB4-AE96-F5F0-621F-B3D2A78DDCA1}"/>
                </a:ext>
              </a:extLst>
            </p:cNvPr>
            <p:cNvSpPr/>
            <p:nvPr/>
          </p:nvSpPr>
          <p:spPr>
            <a:xfrm>
              <a:off x="746760" y="2409952"/>
              <a:ext cx="3784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b"/>
            <a:lstStyle/>
            <a:p>
              <a:pPr algn="l"/>
              <a:r>
                <a:rPr lang="pt-BR" sz="1400" b="1" dirty="0">
                  <a:solidFill>
                    <a:srgbClr val="CC3333"/>
                  </a:solidFill>
                  <a:latin typeface="Segoe UI"/>
                </a:rPr>
                <a:t>Necessidade</a:t>
              </a:r>
            </a:p>
          </p:txBody>
        </p:sp>
      </p:grpSp>
      <p:sp>
        <p:nvSpPr>
          <p:cNvPr id="15" name="ItemDesc1">
            <a:extLst>
              <a:ext uri="{FF2B5EF4-FFF2-40B4-BE49-F238E27FC236}">
                <a16:creationId xmlns:a16="http://schemas.microsoft.com/office/drawing/2014/main" xmlns="" id="{EE829080-86D1-6FED-AEF3-BD699344C707}"/>
              </a:ext>
            </a:extLst>
          </p:cNvPr>
          <p:cNvSpPr/>
          <p:nvPr/>
        </p:nvSpPr>
        <p:spPr>
          <a:xfrm>
            <a:off x="746760" y="2638552"/>
            <a:ext cx="3784600" cy="43180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t"/>
          <a:lstStyle/>
          <a:p>
            <a:pPr algn="l"/>
            <a:r>
              <a:rPr lang="pt-BR" sz="1200" dirty="0">
                <a:solidFill>
                  <a:srgbClr val="666666"/>
                </a:solidFill>
                <a:latin typeface="Segoe UI"/>
              </a:rPr>
              <a:t>Usar apenas o mínimo necessário de dados</a:t>
            </a:r>
          </a:p>
        </p:txBody>
      </p:sp>
      <p:grpSp>
        <p:nvGrpSpPr>
          <p:cNvPr id="80" name="Agrupar 79">
            <a:extLst>
              <a:ext uri="{FF2B5EF4-FFF2-40B4-BE49-F238E27FC236}">
                <a16:creationId xmlns:a16="http://schemas.microsoft.com/office/drawing/2014/main" xmlns="" id="{8F837415-844E-FA41-9678-D8E5EC40A18E}"/>
              </a:ext>
            </a:extLst>
          </p:cNvPr>
          <p:cNvGrpSpPr/>
          <p:nvPr/>
        </p:nvGrpSpPr>
        <p:grpSpPr>
          <a:xfrm>
            <a:off x="290286" y="3057398"/>
            <a:ext cx="4241074" cy="549148"/>
            <a:chOff x="290286" y="3057398"/>
            <a:chExt cx="4241074" cy="549148"/>
          </a:xfrm>
        </p:grpSpPr>
        <p:sp>
          <p:nvSpPr>
            <p:cNvPr id="70" name="Card0">
              <a:extLst>
                <a:ext uri="{FF2B5EF4-FFF2-40B4-BE49-F238E27FC236}">
                  <a16:creationId xmlns:a16="http://schemas.microsoft.com/office/drawing/2014/main" xmlns="" id="{B800F023-FDA3-5E50-D189-705F4F3054A6}"/>
                </a:ext>
              </a:extLst>
            </p:cNvPr>
            <p:cNvSpPr/>
            <p:nvPr/>
          </p:nvSpPr>
          <p:spPr>
            <a:xfrm>
              <a:off x="290286" y="3057398"/>
              <a:ext cx="4241074" cy="549148"/>
            </a:xfrm>
            <a:prstGeom prst="roundRect">
              <a:avLst>
                <a:gd name="adj" fmla="val 3500"/>
              </a:avLst>
            </a:prstGeom>
            <a:solidFill>
              <a:srgbClr val="FFFFFF"/>
            </a:solidFill>
            <a:ln w="6350">
              <a:solidFill>
                <a:srgbClr val="E8E8E8"/>
              </a:solidFill>
            </a:ln>
            <a:effectLst>
              <a:outerShdw blurRad="38100" dist="19050" dir="5400000" algn="ctr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pt-BR" dirty="0">
                <a:solidFill>
                  <a:srgbClr val="333333"/>
                </a:solidFill>
              </a:endParaRPr>
            </a:p>
          </p:txBody>
        </p:sp>
        <p:sp>
          <p:nvSpPr>
            <p:cNvPr id="16" name="Num2">
              <a:extLst>
                <a:ext uri="{FF2B5EF4-FFF2-40B4-BE49-F238E27FC236}">
                  <a16:creationId xmlns:a16="http://schemas.microsoft.com/office/drawing/2014/main" xmlns="" id="{0B432358-CFAC-BB79-C249-4030A68ABD18}"/>
                </a:ext>
              </a:extLst>
            </p:cNvPr>
            <p:cNvSpPr/>
            <p:nvPr/>
          </p:nvSpPr>
          <p:spPr>
            <a:xfrm>
              <a:off x="365760" y="3161792"/>
              <a:ext cx="279400" cy="279400"/>
            </a:xfrm>
            <a:prstGeom prst="ellipse">
              <a:avLst/>
            </a:prstGeom>
            <a:solidFill>
              <a:srgbClr val="1A7A3A"/>
            </a:solidFill>
            <a:ln>
              <a:noFill/>
            </a:ln>
          </p:spPr>
          <p:txBody>
            <a:bodyPr lIns="0" tIns="0" rIns="0" bIns="0" anchor="ctr"/>
            <a:lstStyle/>
            <a:p>
              <a:pPr algn="ctr"/>
              <a:r>
                <a:rPr lang="pt-BR" sz="1100" b="1" dirty="0">
                  <a:solidFill>
                    <a:srgbClr val="FFFFFF"/>
                  </a:solidFill>
                  <a:latin typeface="Segoe UI"/>
                </a:rPr>
                <a:t>3</a:t>
              </a:r>
            </a:p>
          </p:txBody>
        </p:sp>
        <p:sp>
          <p:nvSpPr>
            <p:cNvPr id="17" name="ItemTitle2">
              <a:extLst>
                <a:ext uri="{FF2B5EF4-FFF2-40B4-BE49-F238E27FC236}">
                  <a16:creationId xmlns:a16="http://schemas.microsoft.com/office/drawing/2014/main" xmlns="" id="{2A199B4E-6AB1-A307-6054-6057A77D165B}"/>
                </a:ext>
              </a:extLst>
            </p:cNvPr>
            <p:cNvSpPr/>
            <p:nvPr/>
          </p:nvSpPr>
          <p:spPr>
            <a:xfrm>
              <a:off x="746760" y="3136392"/>
              <a:ext cx="3784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b"/>
            <a:lstStyle/>
            <a:p>
              <a:pPr algn="l"/>
              <a:r>
                <a:rPr lang="pt-BR" sz="1400" b="1" dirty="0">
                  <a:solidFill>
                    <a:srgbClr val="1A7A3A"/>
                  </a:solidFill>
                  <a:latin typeface="Segoe UI"/>
                </a:rPr>
                <a:t>Segurança</a:t>
              </a:r>
            </a:p>
          </p:txBody>
        </p:sp>
      </p:grpSp>
      <p:sp>
        <p:nvSpPr>
          <p:cNvPr id="18" name="ItemDesc2">
            <a:extLst>
              <a:ext uri="{FF2B5EF4-FFF2-40B4-BE49-F238E27FC236}">
                <a16:creationId xmlns:a16="http://schemas.microsoft.com/office/drawing/2014/main" xmlns="" id="{C24F8FCE-0B63-0698-8602-A9FB32101DF7}"/>
              </a:ext>
            </a:extLst>
          </p:cNvPr>
          <p:cNvSpPr/>
          <p:nvPr/>
        </p:nvSpPr>
        <p:spPr>
          <a:xfrm>
            <a:off x="746760" y="3364992"/>
            <a:ext cx="3784600" cy="43180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t"/>
          <a:lstStyle/>
          <a:p>
            <a:pPr algn="l"/>
            <a:r>
              <a:rPr lang="pt-BR" sz="1200" dirty="0">
                <a:solidFill>
                  <a:srgbClr val="666666"/>
                </a:solidFill>
                <a:latin typeface="Segoe UI"/>
              </a:rPr>
              <a:t>Proteger dados contra acessos não autorizados</a:t>
            </a:r>
          </a:p>
        </p:txBody>
      </p:sp>
      <p:grpSp>
        <p:nvGrpSpPr>
          <p:cNvPr id="81" name="Agrupar 80">
            <a:extLst>
              <a:ext uri="{FF2B5EF4-FFF2-40B4-BE49-F238E27FC236}">
                <a16:creationId xmlns:a16="http://schemas.microsoft.com/office/drawing/2014/main" xmlns="" id="{FB4E35F2-7DE1-B6A5-5EA8-5C93B6F1F5DF}"/>
              </a:ext>
            </a:extLst>
          </p:cNvPr>
          <p:cNvGrpSpPr/>
          <p:nvPr/>
        </p:nvGrpSpPr>
        <p:grpSpPr>
          <a:xfrm>
            <a:off x="290286" y="3782895"/>
            <a:ext cx="4241074" cy="549148"/>
            <a:chOff x="290286" y="3782895"/>
            <a:chExt cx="4241074" cy="549148"/>
          </a:xfrm>
        </p:grpSpPr>
        <p:sp>
          <p:nvSpPr>
            <p:cNvPr id="71" name="Card0">
              <a:extLst>
                <a:ext uri="{FF2B5EF4-FFF2-40B4-BE49-F238E27FC236}">
                  <a16:creationId xmlns:a16="http://schemas.microsoft.com/office/drawing/2014/main" xmlns="" id="{C4CB5EDB-7F12-55EF-C9B4-43CB6D5BDB2E}"/>
                </a:ext>
              </a:extLst>
            </p:cNvPr>
            <p:cNvSpPr/>
            <p:nvPr/>
          </p:nvSpPr>
          <p:spPr>
            <a:xfrm>
              <a:off x="290286" y="3782895"/>
              <a:ext cx="4241074" cy="549148"/>
            </a:xfrm>
            <a:prstGeom prst="roundRect">
              <a:avLst>
                <a:gd name="adj" fmla="val 3500"/>
              </a:avLst>
            </a:prstGeom>
            <a:solidFill>
              <a:srgbClr val="FFFFFF"/>
            </a:solidFill>
            <a:ln w="6350">
              <a:solidFill>
                <a:srgbClr val="E8E8E8"/>
              </a:solidFill>
            </a:ln>
            <a:effectLst>
              <a:outerShdw blurRad="38100" dist="19050" dir="5400000" algn="ctr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pt-BR" dirty="0">
                <a:solidFill>
                  <a:srgbClr val="333333"/>
                </a:solidFill>
              </a:endParaRPr>
            </a:p>
          </p:txBody>
        </p:sp>
        <p:sp>
          <p:nvSpPr>
            <p:cNvPr id="19" name="Num3">
              <a:extLst>
                <a:ext uri="{FF2B5EF4-FFF2-40B4-BE49-F238E27FC236}">
                  <a16:creationId xmlns:a16="http://schemas.microsoft.com/office/drawing/2014/main" xmlns="" id="{19B96F3D-CF8A-303F-0FEB-90884DAA3E1F}"/>
                </a:ext>
              </a:extLst>
            </p:cNvPr>
            <p:cNvSpPr/>
            <p:nvPr/>
          </p:nvSpPr>
          <p:spPr>
            <a:xfrm>
              <a:off x="365760" y="3888232"/>
              <a:ext cx="279400" cy="279400"/>
            </a:xfrm>
            <a:prstGeom prst="ellipse">
              <a:avLst/>
            </a:prstGeom>
            <a:solidFill>
              <a:srgbClr val="B5651D"/>
            </a:solidFill>
            <a:ln>
              <a:noFill/>
            </a:ln>
          </p:spPr>
          <p:txBody>
            <a:bodyPr lIns="0" tIns="0" rIns="0" bIns="0" anchor="ctr"/>
            <a:lstStyle/>
            <a:p>
              <a:pPr algn="ctr"/>
              <a:r>
                <a:rPr lang="pt-BR" sz="1100" b="1" dirty="0">
                  <a:solidFill>
                    <a:srgbClr val="FFFFFF"/>
                  </a:solidFill>
                  <a:latin typeface="Segoe UI"/>
                </a:rPr>
                <a:t>4</a:t>
              </a:r>
            </a:p>
          </p:txBody>
        </p:sp>
        <p:sp>
          <p:nvSpPr>
            <p:cNvPr id="20" name="ItemTitle3">
              <a:extLst>
                <a:ext uri="{FF2B5EF4-FFF2-40B4-BE49-F238E27FC236}">
                  <a16:creationId xmlns:a16="http://schemas.microsoft.com/office/drawing/2014/main" xmlns="" id="{0BE1FD68-1D93-0D93-E130-B9E636EADBC7}"/>
                </a:ext>
              </a:extLst>
            </p:cNvPr>
            <p:cNvSpPr/>
            <p:nvPr/>
          </p:nvSpPr>
          <p:spPr>
            <a:xfrm>
              <a:off x="746760" y="3862832"/>
              <a:ext cx="3784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b"/>
            <a:lstStyle/>
            <a:p>
              <a:pPr algn="l"/>
              <a:r>
                <a:rPr lang="pt-BR" sz="1400" b="1" dirty="0">
                  <a:solidFill>
                    <a:srgbClr val="B5651D"/>
                  </a:solidFill>
                  <a:latin typeface="Segoe UI"/>
                </a:rPr>
                <a:t>Transparência</a:t>
              </a:r>
            </a:p>
          </p:txBody>
        </p:sp>
      </p:grpSp>
      <p:sp>
        <p:nvSpPr>
          <p:cNvPr id="21" name="ItemDesc3">
            <a:extLst>
              <a:ext uri="{FF2B5EF4-FFF2-40B4-BE49-F238E27FC236}">
                <a16:creationId xmlns:a16="http://schemas.microsoft.com/office/drawing/2014/main" xmlns="" id="{4F13F798-0A71-F2F4-DED1-AB28BF08CFE9}"/>
              </a:ext>
            </a:extLst>
          </p:cNvPr>
          <p:cNvSpPr/>
          <p:nvPr/>
        </p:nvSpPr>
        <p:spPr>
          <a:xfrm>
            <a:off x="746760" y="4091432"/>
            <a:ext cx="3784600" cy="43180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t"/>
          <a:lstStyle/>
          <a:p>
            <a:pPr algn="l"/>
            <a:r>
              <a:rPr lang="pt-BR" sz="1200" dirty="0">
                <a:solidFill>
                  <a:srgbClr val="666666"/>
                </a:solidFill>
                <a:latin typeface="Segoe UI"/>
              </a:rPr>
              <a:t>Titular sabe como seus dados são usados</a:t>
            </a:r>
          </a:p>
        </p:txBody>
      </p:sp>
      <p:grpSp>
        <p:nvGrpSpPr>
          <p:cNvPr id="82" name="Agrupar 81">
            <a:extLst>
              <a:ext uri="{FF2B5EF4-FFF2-40B4-BE49-F238E27FC236}">
                <a16:creationId xmlns:a16="http://schemas.microsoft.com/office/drawing/2014/main" xmlns="" id="{AA08AA95-8200-A861-0B2C-13AFB7515CCC}"/>
              </a:ext>
            </a:extLst>
          </p:cNvPr>
          <p:cNvGrpSpPr/>
          <p:nvPr/>
        </p:nvGrpSpPr>
        <p:grpSpPr>
          <a:xfrm>
            <a:off x="290286" y="4511693"/>
            <a:ext cx="4241074" cy="549148"/>
            <a:chOff x="290286" y="4511693"/>
            <a:chExt cx="4241074" cy="549148"/>
          </a:xfrm>
        </p:grpSpPr>
        <p:sp>
          <p:nvSpPr>
            <p:cNvPr id="72" name="Card0">
              <a:extLst>
                <a:ext uri="{FF2B5EF4-FFF2-40B4-BE49-F238E27FC236}">
                  <a16:creationId xmlns:a16="http://schemas.microsoft.com/office/drawing/2014/main" xmlns="" id="{63269CAA-DFCE-95A8-2310-23536B6B191C}"/>
                </a:ext>
              </a:extLst>
            </p:cNvPr>
            <p:cNvSpPr/>
            <p:nvPr/>
          </p:nvSpPr>
          <p:spPr>
            <a:xfrm>
              <a:off x="290286" y="4511693"/>
              <a:ext cx="4241074" cy="549148"/>
            </a:xfrm>
            <a:prstGeom prst="roundRect">
              <a:avLst>
                <a:gd name="adj" fmla="val 3500"/>
              </a:avLst>
            </a:prstGeom>
            <a:solidFill>
              <a:srgbClr val="FFFFFF"/>
            </a:solidFill>
            <a:ln w="6350">
              <a:solidFill>
                <a:srgbClr val="E8E8E8"/>
              </a:solidFill>
            </a:ln>
            <a:effectLst>
              <a:outerShdw blurRad="38100" dist="19050" dir="5400000" algn="ctr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pt-BR" dirty="0">
                <a:solidFill>
                  <a:srgbClr val="333333"/>
                </a:solidFill>
              </a:endParaRPr>
            </a:p>
          </p:txBody>
        </p:sp>
        <p:sp>
          <p:nvSpPr>
            <p:cNvPr id="22" name="Num4">
              <a:extLst>
                <a:ext uri="{FF2B5EF4-FFF2-40B4-BE49-F238E27FC236}">
                  <a16:creationId xmlns:a16="http://schemas.microsoft.com/office/drawing/2014/main" xmlns="" id="{B6338A46-01C8-BB25-8525-6896EC21F12B}"/>
                </a:ext>
              </a:extLst>
            </p:cNvPr>
            <p:cNvSpPr/>
            <p:nvPr/>
          </p:nvSpPr>
          <p:spPr>
            <a:xfrm>
              <a:off x="365760" y="4614672"/>
              <a:ext cx="279400" cy="27940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</p:spPr>
          <p:txBody>
            <a:bodyPr lIns="0" tIns="0" rIns="0" bIns="0" anchor="ctr"/>
            <a:lstStyle/>
            <a:p>
              <a:pPr algn="ctr"/>
              <a:r>
                <a:rPr lang="pt-BR" sz="1100" b="1" dirty="0">
                  <a:solidFill>
                    <a:srgbClr val="FFFFFF"/>
                  </a:solidFill>
                  <a:latin typeface="Segoe UI"/>
                </a:rPr>
                <a:t>5</a:t>
              </a:r>
            </a:p>
          </p:txBody>
        </p:sp>
        <p:sp>
          <p:nvSpPr>
            <p:cNvPr id="23" name="ItemTitle4">
              <a:extLst>
                <a:ext uri="{FF2B5EF4-FFF2-40B4-BE49-F238E27FC236}">
                  <a16:creationId xmlns:a16="http://schemas.microsoft.com/office/drawing/2014/main" xmlns="" id="{329E86DB-CAAE-1DB3-80A4-09926A341011}"/>
                </a:ext>
              </a:extLst>
            </p:cNvPr>
            <p:cNvSpPr/>
            <p:nvPr/>
          </p:nvSpPr>
          <p:spPr>
            <a:xfrm>
              <a:off x="746760" y="4589272"/>
              <a:ext cx="3784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b"/>
            <a:lstStyle/>
            <a:p>
              <a:pPr algn="l"/>
              <a:r>
                <a:rPr lang="pt-BR" sz="1400" b="1" dirty="0">
                  <a:solidFill>
                    <a:srgbClr val="7B2D8E"/>
                  </a:solidFill>
                  <a:latin typeface="Segoe UI"/>
                </a:rPr>
                <a:t>Não discriminação</a:t>
              </a:r>
            </a:p>
          </p:txBody>
        </p:sp>
      </p:grpSp>
      <p:sp>
        <p:nvSpPr>
          <p:cNvPr id="24" name="ItemDesc4">
            <a:extLst>
              <a:ext uri="{FF2B5EF4-FFF2-40B4-BE49-F238E27FC236}">
                <a16:creationId xmlns:a16="http://schemas.microsoft.com/office/drawing/2014/main" xmlns="" id="{760C9282-7879-0C71-67BE-3021C4A0826C}"/>
              </a:ext>
            </a:extLst>
          </p:cNvPr>
          <p:cNvSpPr/>
          <p:nvPr/>
        </p:nvSpPr>
        <p:spPr>
          <a:xfrm>
            <a:off x="746760" y="4817872"/>
            <a:ext cx="3784600" cy="43180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t"/>
          <a:lstStyle/>
          <a:p>
            <a:pPr algn="l"/>
            <a:r>
              <a:rPr lang="pt-BR" sz="1200" dirty="0">
                <a:solidFill>
                  <a:srgbClr val="666666"/>
                </a:solidFill>
                <a:latin typeface="Segoe UI"/>
              </a:rPr>
              <a:t>Proibido uso abusivo ou discriminatório</a:t>
            </a:r>
          </a:p>
        </p:txBody>
      </p:sp>
      <p:grpSp>
        <p:nvGrpSpPr>
          <p:cNvPr id="87" name="Agrupar 86">
            <a:extLst>
              <a:ext uri="{FF2B5EF4-FFF2-40B4-BE49-F238E27FC236}">
                <a16:creationId xmlns:a16="http://schemas.microsoft.com/office/drawing/2014/main" xmlns="" id="{071DF08E-5C0F-7EAE-7C2D-930AB4121F43}"/>
              </a:ext>
            </a:extLst>
          </p:cNvPr>
          <p:cNvGrpSpPr/>
          <p:nvPr/>
        </p:nvGrpSpPr>
        <p:grpSpPr>
          <a:xfrm>
            <a:off x="4747478" y="1653794"/>
            <a:ext cx="4241074" cy="549148"/>
            <a:chOff x="4747478" y="1653794"/>
            <a:chExt cx="4241074" cy="549148"/>
          </a:xfrm>
        </p:grpSpPr>
        <p:sp>
          <p:nvSpPr>
            <p:cNvPr id="73" name="Card0">
              <a:extLst>
                <a:ext uri="{FF2B5EF4-FFF2-40B4-BE49-F238E27FC236}">
                  <a16:creationId xmlns:a16="http://schemas.microsoft.com/office/drawing/2014/main" xmlns="" id="{1C11B00E-516E-3720-55DB-700C1C875A72}"/>
                </a:ext>
              </a:extLst>
            </p:cNvPr>
            <p:cNvSpPr/>
            <p:nvPr/>
          </p:nvSpPr>
          <p:spPr>
            <a:xfrm>
              <a:off x="4747478" y="1653794"/>
              <a:ext cx="4241074" cy="549148"/>
            </a:xfrm>
            <a:prstGeom prst="roundRect">
              <a:avLst>
                <a:gd name="adj" fmla="val 3500"/>
              </a:avLst>
            </a:prstGeom>
            <a:solidFill>
              <a:srgbClr val="FFFFFF"/>
            </a:solidFill>
            <a:ln w="6350">
              <a:solidFill>
                <a:srgbClr val="E8E8E8"/>
              </a:solidFill>
            </a:ln>
            <a:effectLst>
              <a:outerShdw blurRad="38100" dist="19050" dir="5400000" algn="ctr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pt-BR" dirty="0">
                <a:solidFill>
                  <a:srgbClr val="333333"/>
                </a:solidFill>
              </a:endParaRPr>
            </a:p>
          </p:txBody>
        </p:sp>
        <p:sp>
          <p:nvSpPr>
            <p:cNvPr id="25" name="Num5">
              <a:extLst>
                <a:ext uri="{FF2B5EF4-FFF2-40B4-BE49-F238E27FC236}">
                  <a16:creationId xmlns:a16="http://schemas.microsoft.com/office/drawing/2014/main" xmlns="" id="{2D6A1386-777E-B02A-EF63-481DF3E4A841}"/>
                </a:ext>
              </a:extLst>
            </p:cNvPr>
            <p:cNvSpPr/>
            <p:nvPr/>
          </p:nvSpPr>
          <p:spPr>
            <a:xfrm>
              <a:off x="4817219" y="1769382"/>
              <a:ext cx="279400" cy="279400"/>
            </a:xfrm>
            <a:prstGeom prst="ellipse">
              <a:avLst/>
            </a:prstGeom>
            <a:solidFill>
              <a:srgbClr val="2A6BB5"/>
            </a:solidFill>
            <a:ln>
              <a:noFill/>
            </a:ln>
          </p:spPr>
          <p:txBody>
            <a:bodyPr lIns="0" tIns="0" rIns="0" bIns="0" anchor="ctr"/>
            <a:lstStyle/>
            <a:p>
              <a:pPr algn="ctr"/>
              <a:r>
                <a:rPr lang="pt-BR" sz="1100" b="1" dirty="0">
                  <a:solidFill>
                    <a:srgbClr val="FFFFFF"/>
                  </a:solidFill>
                  <a:latin typeface="Segoe UI"/>
                </a:rPr>
                <a:t>6</a:t>
              </a:r>
            </a:p>
          </p:txBody>
        </p:sp>
        <p:sp>
          <p:nvSpPr>
            <p:cNvPr id="26" name="ItemTitle5">
              <a:extLst>
                <a:ext uri="{FF2B5EF4-FFF2-40B4-BE49-F238E27FC236}">
                  <a16:creationId xmlns:a16="http://schemas.microsoft.com/office/drawing/2014/main" xmlns="" id="{21BDE154-0EEB-7F41-C652-BF70E30A8DD3}"/>
                </a:ext>
              </a:extLst>
            </p:cNvPr>
            <p:cNvSpPr/>
            <p:nvPr/>
          </p:nvSpPr>
          <p:spPr>
            <a:xfrm>
              <a:off x="5203952" y="1732851"/>
              <a:ext cx="3784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b"/>
            <a:lstStyle/>
            <a:p>
              <a:pPr algn="l"/>
              <a:r>
                <a:rPr lang="pt-BR" sz="1400" b="1" dirty="0">
                  <a:solidFill>
                    <a:srgbClr val="2A6BB5"/>
                  </a:solidFill>
                  <a:latin typeface="Segoe UI"/>
                </a:rPr>
                <a:t>Responsabilização</a:t>
              </a:r>
            </a:p>
          </p:txBody>
        </p:sp>
        <p:sp>
          <p:nvSpPr>
            <p:cNvPr id="27" name="ItemDesc5">
              <a:extLst>
                <a:ext uri="{FF2B5EF4-FFF2-40B4-BE49-F238E27FC236}">
                  <a16:creationId xmlns:a16="http://schemas.microsoft.com/office/drawing/2014/main" xmlns="" id="{C168D786-8B6C-B7C7-A61E-5FF04FFBB768}"/>
                </a:ext>
              </a:extLst>
            </p:cNvPr>
            <p:cNvSpPr/>
            <p:nvPr/>
          </p:nvSpPr>
          <p:spPr>
            <a:xfrm>
              <a:off x="5203952" y="1951164"/>
              <a:ext cx="3784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45720" bIns="0" anchor="t"/>
            <a:lstStyle/>
            <a:p>
              <a:pPr algn="l"/>
              <a:r>
                <a:rPr lang="pt-BR" sz="1200" dirty="0">
                  <a:solidFill>
                    <a:srgbClr val="666666"/>
                  </a:solidFill>
                  <a:latin typeface="Segoe UI"/>
                </a:rPr>
                <a:t>Instituição responde por descumprimentos</a:t>
              </a:r>
            </a:p>
          </p:txBody>
        </p:sp>
      </p:grpSp>
      <p:grpSp>
        <p:nvGrpSpPr>
          <p:cNvPr id="86" name="Agrupar 85">
            <a:extLst>
              <a:ext uri="{FF2B5EF4-FFF2-40B4-BE49-F238E27FC236}">
                <a16:creationId xmlns:a16="http://schemas.microsoft.com/office/drawing/2014/main" xmlns="" id="{17E34911-66E3-7244-B23F-A864EAFF2F03}"/>
              </a:ext>
            </a:extLst>
          </p:cNvPr>
          <p:cNvGrpSpPr/>
          <p:nvPr/>
        </p:nvGrpSpPr>
        <p:grpSpPr>
          <a:xfrm>
            <a:off x="4747478" y="2329125"/>
            <a:ext cx="4241074" cy="549148"/>
            <a:chOff x="4747478" y="2329125"/>
            <a:chExt cx="4241074" cy="549148"/>
          </a:xfrm>
        </p:grpSpPr>
        <p:sp>
          <p:nvSpPr>
            <p:cNvPr id="74" name="Card0">
              <a:extLst>
                <a:ext uri="{FF2B5EF4-FFF2-40B4-BE49-F238E27FC236}">
                  <a16:creationId xmlns:a16="http://schemas.microsoft.com/office/drawing/2014/main" xmlns="" id="{3821C242-EAAD-0CE6-EEC3-A0C83D25577C}"/>
                </a:ext>
              </a:extLst>
            </p:cNvPr>
            <p:cNvSpPr/>
            <p:nvPr/>
          </p:nvSpPr>
          <p:spPr>
            <a:xfrm>
              <a:off x="4747478" y="2329125"/>
              <a:ext cx="4241074" cy="549148"/>
            </a:xfrm>
            <a:prstGeom prst="roundRect">
              <a:avLst>
                <a:gd name="adj" fmla="val 3500"/>
              </a:avLst>
            </a:prstGeom>
            <a:solidFill>
              <a:srgbClr val="FFFFFF"/>
            </a:solidFill>
            <a:ln w="6350">
              <a:solidFill>
                <a:srgbClr val="E8E8E8"/>
              </a:solidFill>
            </a:ln>
            <a:effectLst>
              <a:outerShdw blurRad="38100" dist="19050" dir="5400000" algn="ctr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pt-BR" dirty="0">
                <a:solidFill>
                  <a:srgbClr val="333333"/>
                </a:solidFill>
              </a:endParaRPr>
            </a:p>
          </p:txBody>
        </p:sp>
        <p:sp>
          <p:nvSpPr>
            <p:cNvPr id="28" name="Num6">
              <a:extLst>
                <a:ext uri="{FF2B5EF4-FFF2-40B4-BE49-F238E27FC236}">
                  <a16:creationId xmlns:a16="http://schemas.microsoft.com/office/drawing/2014/main" xmlns="" id="{2FBA17B1-036D-FA8D-B164-DD6D4C37CDD5}"/>
                </a:ext>
              </a:extLst>
            </p:cNvPr>
            <p:cNvSpPr/>
            <p:nvPr/>
          </p:nvSpPr>
          <p:spPr>
            <a:xfrm>
              <a:off x="4817219" y="2432050"/>
              <a:ext cx="279400" cy="279400"/>
            </a:xfrm>
            <a:prstGeom prst="ellipse">
              <a:avLst/>
            </a:prstGeom>
            <a:solidFill>
              <a:srgbClr val="CC3333"/>
            </a:solidFill>
            <a:ln>
              <a:noFill/>
            </a:ln>
          </p:spPr>
          <p:txBody>
            <a:bodyPr lIns="0" tIns="0" rIns="0" bIns="0" anchor="ctr"/>
            <a:lstStyle/>
            <a:p>
              <a:pPr algn="ctr"/>
              <a:r>
                <a:rPr lang="pt-BR" sz="1100" b="1" dirty="0">
                  <a:solidFill>
                    <a:srgbClr val="FFFFFF"/>
                  </a:solidFill>
                  <a:latin typeface="Segoe UI"/>
                </a:rPr>
                <a:t>7</a:t>
              </a:r>
            </a:p>
          </p:txBody>
        </p:sp>
        <p:sp>
          <p:nvSpPr>
            <p:cNvPr id="29" name="ItemTitle6">
              <a:extLst>
                <a:ext uri="{FF2B5EF4-FFF2-40B4-BE49-F238E27FC236}">
                  <a16:creationId xmlns:a16="http://schemas.microsoft.com/office/drawing/2014/main" xmlns="" id="{A6AAEFC5-4CEF-5596-3847-66497527696F}"/>
                </a:ext>
              </a:extLst>
            </p:cNvPr>
            <p:cNvSpPr/>
            <p:nvPr/>
          </p:nvSpPr>
          <p:spPr>
            <a:xfrm>
              <a:off x="5203952" y="2409952"/>
              <a:ext cx="3784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b"/>
            <a:lstStyle/>
            <a:p>
              <a:pPr algn="l"/>
              <a:r>
                <a:rPr lang="pt-BR" sz="1400" b="1" dirty="0">
                  <a:solidFill>
                    <a:srgbClr val="CC3333"/>
                  </a:solidFill>
                  <a:latin typeface="Segoe UI"/>
                </a:rPr>
                <a:t>Adequação</a:t>
              </a:r>
            </a:p>
          </p:txBody>
        </p:sp>
        <p:sp>
          <p:nvSpPr>
            <p:cNvPr id="30" name="ItemDesc6">
              <a:extLst>
                <a:ext uri="{FF2B5EF4-FFF2-40B4-BE49-F238E27FC236}">
                  <a16:creationId xmlns:a16="http://schemas.microsoft.com/office/drawing/2014/main" xmlns="" id="{53CEDEC2-BB8C-8B74-0DDF-091F206397B3}"/>
                </a:ext>
              </a:extLst>
            </p:cNvPr>
            <p:cNvSpPr/>
            <p:nvPr/>
          </p:nvSpPr>
          <p:spPr>
            <a:xfrm>
              <a:off x="5203952" y="2638552"/>
              <a:ext cx="3784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45720" bIns="0" anchor="t"/>
            <a:lstStyle/>
            <a:p>
              <a:pPr algn="l"/>
              <a:r>
                <a:rPr lang="pt-BR" sz="1200" dirty="0">
                  <a:solidFill>
                    <a:srgbClr val="666666"/>
                  </a:solidFill>
                  <a:latin typeface="Segoe UI"/>
                </a:rPr>
                <a:t>Uso compatível com a finalidade informada</a:t>
              </a:r>
            </a:p>
          </p:txBody>
        </p:sp>
      </p:grpSp>
      <p:grpSp>
        <p:nvGrpSpPr>
          <p:cNvPr id="85" name="Agrupar 84">
            <a:extLst>
              <a:ext uri="{FF2B5EF4-FFF2-40B4-BE49-F238E27FC236}">
                <a16:creationId xmlns:a16="http://schemas.microsoft.com/office/drawing/2014/main" xmlns="" id="{1958417B-F7E3-5C17-5C24-EF194E2E0048}"/>
              </a:ext>
            </a:extLst>
          </p:cNvPr>
          <p:cNvGrpSpPr/>
          <p:nvPr/>
        </p:nvGrpSpPr>
        <p:grpSpPr>
          <a:xfrm>
            <a:off x="4747478" y="3056908"/>
            <a:ext cx="4241074" cy="549148"/>
            <a:chOff x="4747478" y="3056908"/>
            <a:chExt cx="4241074" cy="549148"/>
          </a:xfrm>
        </p:grpSpPr>
        <p:sp>
          <p:nvSpPr>
            <p:cNvPr id="75" name="Card0">
              <a:extLst>
                <a:ext uri="{FF2B5EF4-FFF2-40B4-BE49-F238E27FC236}">
                  <a16:creationId xmlns:a16="http://schemas.microsoft.com/office/drawing/2014/main" xmlns="" id="{7765300D-D3AB-4666-A7A3-4DA18AD11ED6}"/>
                </a:ext>
              </a:extLst>
            </p:cNvPr>
            <p:cNvSpPr/>
            <p:nvPr/>
          </p:nvSpPr>
          <p:spPr>
            <a:xfrm>
              <a:off x="4747478" y="3056908"/>
              <a:ext cx="4241074" cy="549148"/>
            </a:xfrm>
            <a:prstGeom prst="roundRect">
              <a:avLst>
                <a:gd name="adj" fmla="val 3500"/>
              </a:avLst>
            </a:prstGeom>
            <a:solidFill>
              <a:srgbClr val="FFFFFF"/>
            </a:solidFill>
            <a:ln w="6350">
              <a:solidFill>
                <a:srgbClr val="E8E8E8"/>
              </a:solidFill>
            </a:ln>
            <a:effectLst>
              <a:outerShdw blurRad="38100" dist="19050" dir="5400000" algn="ctr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pt-BR" dirty="0">
                <a:solidFill>
                  <a:srgbClr val="333333"/>
                </a:solidFill>
              </a:endParaRPr>
            </a:p>
          </p:txBody>
        </p:sp>
        <p:sp>
          <p:nvSpPr>
            <p:cNvPr id="31" name="Num7">
              <a:extLst>
                <a:ext uri="{FF2B5EF4-FFF2-40B4-BE49-F238E27FC236}">
                  <a16:creationId xmlns:a16="http://schemas.microsoft.com/office/drawing/2014/main" xmlns="" id="{1A199258-731F-AFC2-46D7-F3D24FFB4B1F}"/>
                </a:ext>
              </a:extLst>
            </p:cNvPr>
            <p:cNvSpPr/>
            <p:nvPr/>
          </p:nvSpPr>
          <p:spPr>
            <a:xfrm>
              <a:off x="4817219" y="3152648"/>
              <a:ext cx="279400" cy="279400"/>
            </a:xfrm>
            <a:prstGeom prst="ellipse">
              <a:avLst/>
            </a:prstGeom>
            <a:solidFill>
              <a:srgbClr val="1A7A3A"/>
            </a:solidFill>
            <a:ln>
              <a:noFill/>
            </a:ln>
          </p:spPr>
          <p:txBody>
            <a:bodyPr lIns="0" tIns="0" rIns="0" bIns="0" anchor="ctr"/>
            <a:lstStyle/>
            <a:p>
              <a:pPr algn="ctr"/>
              <a:r>
                <a:rPr lang="pt-BR" sz="1100" b="1" dirty="0">
                  <a:solidFill>
                    <a:srgbClr val="FFFFFF"/>
                  </a:solidFill>
                  <a:latin typeface="Segoe UI"/>
                </a:rPr>
                <a:t>8</a:t>
              </a:r>
            </a:p>
          </p:txBody>
        </p:sp>
        <p:sp>
          <p:nvSpPr>
            <p:cNvPr id="60" name="ItemTitle7">
              <a:extLst>
                <a:ext uri="{FF2B5EF4-FFF2-40B4-BE49-F238E27FC236}">
                  <a16:creationId xmlns:a16="http://schemas.microsoft.com/office/drawing/2014/main" xmlns="" id="{29A5B79A-C1C3-EDB2-1183-B0B9E8A7A353}"/>
                </a:ext>
              </a:extLst>
            </p:cNvPr>
            <p:cNvSpPr/>
            <p:nvPr/>
          </p:nvSpPr>
          <p:spPr>
            <a:xfrm>
              <a:off x="5203952" y="3136392"/>
              <a:ext cx="3784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b"/>
            <a:lstStyle/>
            <a:p>
              <a:pPr algn="l"/>
              <a:r>
                <a:rPr lang="pt-BR" sz="1400" b="1" dirty="0">
                  <a:solidFill>
                    <a:srgbClr val="1A7A3A"/>
                  </a:solidFill>
                  <a:latin typeface="Segoe UI"/>
                </a:rPr>
                <a:t>Livre acesso</a:t>
              </a:r>
            </a:p>
          </p:txBody>
        </p:sp>
        <p:sp>
          <p:nvSpPr>
            <p:cNvPr id="61" name="ItemDesc7">
              <a:extLst>
                <a:ext uri="{FF2B5EF4-FFF2-40B4-BE49-F238E27FC236}">
                  <a16:creationId xmlns:a16="http://schemas.microsoft.com/office/drawing/2014/main" xmlns="" id="{02018316-E749-F653-2D19-5BB8DB385C04}"/>
                </a:ext>
              </a:extLst>
            </p:cNvPr>
            <p:cNvSpPr/>
            <p:nvPr/>
          </p:nvSpPr>
          <p:spPr>
            <a:xfrm>
              <a:off x="5203952" y="3364992"/>
              <a:ext cx="3784600" cy="178635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45720" bIns="0" anchor="t"/>
            <a:lstStyle/>
            <a:p>
              <a:pPr algn="l"/>
              <a:r>
                <a:rPr lang="pt-BR" sz="1200" dirty="0">
                  <a:solidFill>
                    <a:srgbClr val="666666"/>
                  </a:solidFill>
                  <a:latin typeface="Segoe UI"/>
                </a:rPr>
                <a:t>Titular pode consultar seus dados a qualquer momento</a:t>
              </a:r>
            </a:p>
          </p:txBody>
        </p:sp>
      </p:grpSp>
      <p:grpSp>
        <p:nvGrpSpPr>
          <p:cNvPr id="84" name="Agrupar 83">
            <a:extLst>
              <a:ext uri="{FF2B5EF4-FFF2-40B4-BE49-F238E27FC236}">
                <a16:creationId xmlns:a16="http://schemas.microsoft.com/office/drawing/2014/main" xmlns="" id="{764D28A8-4887-359A-A7EA-B234C95E5F83}"/>
              </a:ext>
            </a:extLst>
          </p:cNvPr>
          <p:cNvGrpSpPr/>
          <p:nvPr/>
        </p:nvGrpSpPr>
        <p:grpSpPr>
          <a:xfrm>
            <a:off x="4747478" y="3778522"/>
            <a:ext cx="4241074" cy="549148"/>
            <a:chOff x="4747478" y="3778522"/>
            <a:chExt cx="4241074" cy="549148"/>
          </a:xfrm>
        </p:grpSpPr>
        <p:sp>
          <p:nvSpPr>
            <p:cNvPr id="76" name="Card0">
              <a:extLst>
                <a:ext uri="{FF2B5EF4-FFF2-40B4-BE49-F238E27FC236}">
                  <a16:creationId xmlns:a16="http://schemas.microsoft.com/office/drawing/2014/main" xmlns="" id="{63045318-0204-E391-EE67-7E17AA6CA794}"/>
                </a:ext>
              </a:extLst>
            </p:cNvPr>
            <p:cNvSpPr/>
            <p:nvPr/>
          </p:nvSpPr>
          <p:spPr>
            <a:xfrm>
              <a:off x="4747478" y="3778522"/>
              <a:ext cx="4241074" cy="549148"/>
            </a:xfrm>
            <a:prstGeom prst="roundRect">
              <a:avLst>
                <a:gd name="adj" fmla="val 3500"/>
              </a:avLst>
            </a:prstGeom>
            <a:solidFill>
              <a:srgbClr val="FFFFFF"/>
            </a:solidFill>
            <a:ln w="6350">
              <a:solidFill>
                <a:srgbClr val="E8E8E8"/>
              </a:solidFill>
            </a:ln>
            <a:effectLst>
              <a:outerShdw blurRad="38100" dist="19050" dir="5400000" algn="ctr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pt-BR" dirty="0">
                <a:solidFill>
                  <a:srgbClr val="333333"/>
                </a:solidFill>
              </a:endParaRPr>
            </a:p>
          </p:txBody>
        </p:sp>
        <p:sp>
          <p:nvSpPr>
            <p:cNvPr id="62" name="Num8">
              <a:extLst>
                <a:ext uri="{FF2B5EF4-FFF2-40B4-BE49-F238E27FC236}">
                  <a16:creationId xmlns:a16="http://schemas.microsoft.com/office/drawing/2014/main" xmlns="" id="{180646BD-4650-9DC9-5EA8-7A34FFFE8B45}"/>
                </a:ext>
              </a:extLst>
            </p:cNvPr>
            <p:cNvSpPr/>
            <p:nvPr/>
          </p:nvSpPr>
          <p:spPr>
            <a:xfrm>
              <a:off x="4817219" y="3888232"/>
              <a:ext cx="279400" cy="279400"/>
            </a:xfrm>
            <a:prstGeom prst="ellipse">
              <a:avLst/>
            </a:prstGeom>
            <a:solidFill>
              <a:srgbClr val="B5651D"/>
            </a:solidFill>
            <a:ln>
              <a:noFill/>
            </a:ln>
          </p:spPr>
          <p:txBody>
            <a:bodyPr lIns="0" tIns="0" rIns="0" bIns="0" anchor="ctr"/>
            <a:lstStyle/>
            <a:p>
              <a:pPr algn="ctr"/>
              <a:r>
                <a:rPr lang="pt-BR" sz="1100" b="1" dirty="0">
                  <a:solidFill>
                    <a:srgbClr val="FFFFFF"/>
                  </a:solidFill>
                  <a:latin typeface="Segoe UI"/>
                </a:rPr>
                <a:t>9</a:t>
              </a:r>
            </a:p>
          </p:txBody>
        </p:sp>
        <p:sp>
          <p:nvSpPr>
            <p:cNvPr id="63" name="ItemTitle8">
              <a:extLst>
                <a:ext uri="{FF2B5EF4-FFF2-40B4-BE49-F238E27FC236}">
                  <a16:creationId xmlns:a16="http://schemas.microsoft.com/office/drawing/2014/main" xmlns="" id="{2F8AE8E9-4A6C-0FB3-2AF5-40F19270075D}"/>
                </a:ext>
              </a:extLst>
            </p:cNvPr>
            <p:cNvSpPr/>
            <p:nvPr/>
          </p:nvSpPr>
          <p:spPr>
            <a:xfrm>
              <a:off x="5203952" y="3862832"/>
              <a:ext cx="3784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b"/>
            <a:lstStyle/>
            <a:p>
              <a:pPr algn="l"/>
              <a:r>
                <a:rPr lang="pt-BR" sz="1400" b="1" dirty="0">
                  <a:solidFill>
                    <a:srgbClr val="B5651D"/>
                  </a:solidFill>
                  <a:latin typeface="Segoe UI"/>
                </a:rPr>
                <a:t>Qualidade dos dados</a:t>
              </a:r>
            </a:p>
          </p:txBody>
        </p:sp>
        <p:sp>
          <p:nvSpPr>
            <p:cNvPr id="64" name="ItemDesc8">
              <a:extLst>
                <a:ext uri="{FF2B5EF4-FFF2-40B4-BE49-F238E27FC236}">
                  <a16:creationId xmlns:a16="http://schemas.microsoft.com/office/drawing/2014/main" xmlns="" id="{980A3338-7BBE-9389-FE96-428E31BB0EBF}"/>
                </a:ext>
              </a:extLst>
            </p:cNvPr>
            <p:cNvSpPr/>
            <p:nvPr/>
          </p:nvSpPr>
          <p:spPr>
            <a:xfrm>
              <a:off x="5203952" y="4118501"/>
              <a:ext cx="3784600" cy="156954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45720" bIns="0" anchor="t"/>
            <a:lstStyle/>
            <a:p>
              <a:pPr algn="l"/>
              <a:r>
                <a:rPr lang="pt-BR" sz="1200" dirty="0">
                  <a:solidFill>
                    <a:srgbClr val="666666"/>
                  </a:solidFill>
                  <a:latin typeface="Segoe UI"/>
                </a:rPr>
                <a:t>Dados devem ser corretos e atualizados</a:t>
              </a:r>
            </a:p>
          </p:txBody>
        </p:sp>
      </p:grpSp>
      <p:grpSp>
        <p:nvGrpSpPr>
          <p:cNvPr id="83" name="Agrupar 82">
            <a:extLst>
              <a:ext uri="{FF2B5EF4-FFF2-40B4-BE49-F238E27FC236}">
                <a16:creationId xmlns:a16="http://schemas.microsoft.com/office/drawing/2014/main" xmlns="" id="{42CD19F8-CABD-7428-B21F-81E2DE0BDD80}"/>
              </a:ext>
            </a:extLst>
          </p:cNvPr>
          <p:cNvGrpSpPr/>
          <p:nvPr/>
        </p:nvGrpSpPr>
        <p:grpSpPr>
          <a:xfrm>
            <a:off x="4747478" y="4511693"/>
            <a:ext cx="4241074" cy="549148"/>
            <a:chOff x="4747478" y="4511693"/>
            <a:chExt cx="4241074" cy="549148"/>
          </a:xfrm>
        </p:grpSpPr>
        <p:sp>
          <p:nvSpPr>
            <p:cNvPr id="77" name="Card0">
              <a:extLst>
                <a:ext uri="{FF2B5EF4-FFF2-40B4-BE49-F238E27FC236}">
                  <a16:creationId xmlns:a16="http://schemas.microsoft.com/office/drawing/2014/main" xmlns="" id="{3F811A1F-5CF5-3D5C-A549-E99AF7A2E8F7}"/>
                </a:ext>
              </a:extLst>
            </p:cNvPr>
            <p:cNvSpPr/>
            <p:nvPr/>
          </p:nvSpPr>
          <p:spPr>
            <a:xfrm>
              <a:off x="4747478" y="4511693"/>
              <a:ext cx="4241074" cy="549148"/>
            </a:xfrm>
            <a:prstGeom prst="roundRect">
              <a:avLst>
                <a:gd name="adj" fmla="val 3500"/>
              </a:avLst>
            </a:prstGeom>
            <a:solidFill>
              <a:srgbClr val="FFFFFF"/>
            </a:solidFill>
            <a:ln w="6350">
              <a:solidFill>
                <a:srgbClr val="E8E8E8"/>
              </a:solidFill>
            </a:ln>
            <a:effectLst>
              <a:outerShdw blurRad="38100" dist="19050" dir="5400000" algn="ctr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pt-BR" dirty="0">
                <a:solidFill>
                  <a:srgbClr val="333333"/>
                </a:solidFill>
              </a:endParaRPr>
            </a:p>
          </p:txBody>
        </p:sp>
        <p:sp>
          <p:nvSpPr>
            <p:cNvPr id="65" name="Num9">
              <a:extLst>
                <a:ext uri="{FF2B5EF4-FFF2-40B4-BE49-F238E27FC236}">
                  <a16:creationId xmlns:a16="http://schemas.microsoft.com/office/drawing/2014/main" xmlns="" id="{CE5842B5-9FDC-7644-B28F-4F43D9864EE0}"/>
                </a:ext>
              </a:extLst>
            </p:cNvPr>
            <p:cNvSpPr/>
            <p:nvPr/>
          </p:nvSpPr>
          <p:spPr>
            <a:xfrm>
              <a:off x="4817509" y="4612858"/>
              <a:ext cx="279400" cy="27940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</p:spPr>
          <p:txBody>
            <a:bodyPr lIns="0" tIns="0" rIns="0" bIns="0" anchor="ctr"/>
            <a:lstStyle/>
            <a:p>
              <a:pPr algn="ctr"/>
              <a:r>
                <a:rPr lang="pt-BR" sz="1100" b="1" dirty="0">
                  <a:solidFill>
                    <a:srgbClr val="FFFFFF"/>
                  </a:solidFill>
                  <a:latin typeface="Segoe UI"/>
                </a:rPr>
                <a:t>10</a:t>
              </a:r>
            </a:p>
          </p:txBody>
        </p:sp>
        <p:sp>
          <p:nvSpPr>
            <p:cNvPr id="66" name="ItemTitle9">
              <a:extLst>
                <a:ext uri="{FF2B5EF4-FFF2-40B4-BE49-F238E27FC236}">
                  <a16:creationId xmlns:a16="http://schemas.microsoft.com/office/drawing/2014/main" xmlns="" id="{75CBD271-A59E-A5DD-C0C3-D2CDDB3BFB56}"/>
                </a:ext>
              </a:extLst>
            </p:cNvPr>
            <p:cNvSpPr/>
            <p:nvPr/>
          </p:nvSpPr>
          <p:spPr>
            <a:xfrm>
              <a:off x="5203952" y="4589272"/>
              <a:ext cx="3784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b"/>
            <a:lstStyle/>
            <a:p>
              <a:pPr algn="l"/>
              <a:r>
                <a:rPr lang="pt-BR" sz="1400" b="1" dirty="0">
                  <a:solidFill>
                    <a:srgbClr val="7B2D8E"/>
                  </a:solidFill>
                  <a:latin typeface="Segoe UI"/>
                </a:rPr>
                <a:t>Prevenção</a:t>
              </a:r>
            </a:p>
          </p:txBody>
        </p:sp>
        <p:sp>
          <p:nvSpPr>
            <p:cNvPr id="67" name="ItemDesc9">
              <a:extLst>
                <a:ext uri="{FF2B5EF4-FFF2-40B4-BE49-F238E27FC236}">
                  <a16:creationId xmlns:a16="http://schemas.microsoft.com/office/drawing/2014/main" xmlns="" id="{293EE166-ED69-9D40-D4BD-2C3AE9F338D0}"/>
                </a:ext>
              </a:extLst>
            </p:cNvPr>
            <p:cNvSpPr/>
            <p:nvPr/>
          </p:nvSpPr>
          <p:spPr>
            <a:xfrm>
              <a:off x="5203952" y="4817872"/>
              <a:ext cx="3784600" cy="16103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45720" bIns="0" anchor="t"/>
            <a:lstStyle/>
            <a:p>
              <a:pPr algn="l"/>
              <a:r>
                <a:rPr lang="pt-BR" sz="1200" dirty="0">
                  <a:solidFill>
                    <a:srgbClr val="666666"/>
                  </a:solidFill>
                  <a:latin typeface="Segoe UI"/>
                </a:rPr>
                <a:t>Evitar danos no tratamento de dados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757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30374D94-76AA-CEAD-9272-3E098A736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xmlns="" id="{6B89E399-4C78-56CB-A2C7-0EEBF5833C0C}"/>
              </a:ext>
            </a:extLst>
          </p:cNvPr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DDCCAA"/>
          </a:solidFill>
          <a:ln w="12700">
            <a:solidFill>
              <a:srgbClr val="DDCCA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xmlns="" id="{55582AA6-EB92-75AE-F802-1C90A8C7A779}"/>
              </a:ext>
            </a:extLst>
          </p:cNvPr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100" noProof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 — PRINCÍPIOS DA LGPD E PROTEÇÃO DE DADOS PESSOAIS</a:t>
            </a:r>
            <a:endParaRPr lang="pt-BR" sz="11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xmlns="" id="{6911FF58-34E2-6167-6782-664157B41634}"/>
              </a:ext>
            </a:extLst>
          </p:cNvPr>
          <p:cNvSpPr/>
          <p:nvPr/>
        </p:nvSpPr>
        <p:spPr>
          <a:xfrm>
            <a:off x="36576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200" noProof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DADOS</a:t>
            </a:r>
            <a:endParaRPr lang="pt-BR" sz="22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xmlns="" id="{9B2D7A18-EE92-642D-7ADD-5C9CAF88ED49}"/>
              </a:ext>
            </a:extLst>
          </p:cNvPr>
          <p:cNvSpPr/>
          <p:nvPr/>
        </p:nvSpPr>
        <p:spPr>
          <a:xfrm>
            <a:off x="365760" y="1024128"/>
            <a:ext cx="8412480" cy="22860"/>
          </a:xfrm>
          <a:prstGeom prst="rect">
            <a:avLst/>
          </a:prstGeom>
          <a:solidFill>
            <a:srgbClr val="CCBBAA"/>
          </a:solidFill>
          <a:ln w="12700">
            <a:solidFill>
              <a:srgbClr val="CCBBA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xmlns="" id="{01F2C565-A786-AEFE-C8DC-3BC1EB3E0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09728"/>
            <a:ext cx="594360" cy="594360"/>
          </a:xfrm>
          <a:prstGeom prst="rect">
            <a:avLst/>
          </a:prstGeom>
        </p:spPr>
      </p:pic>
      <p:sp>
        <p:nvSpPr>
          <p:cNvPr id="9" name="Card10">
            <a:extLst>
              <a:ext uri="{FF2B5EF4-FFF2-40B4-BE49-F238E27FC236}">
                <a16:creationId xmlns:a16="http://schemas.microsoft.com/office/drawing/2014/main" xmlns="" id="{7AEA24E0-95C3-A074-D410-D388FC553734}"/>
              </a:ext>
            </a:extLst>
          </p:cNvPr>
          <p:cNvSpPr/>
          <p:nvPr/>
        </p:nvSpPr>
        <p:spPr>
          <a:xfrm>
            <a:off x="304800" y="1219200"/>
            <a:ext cx="4165600" cy="1714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>
            <a:outerShdw blurRad="38100" dist="19050" dir="5400000" algn="ctr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>
              <a:solidFill>
                <a:srgbClr val="333333"/>
              </a:solidFill>
            </a:endParaRPr>
          </a:p>
        </p:txBody>
      </p:sp>
      <p:sp>
        <p:nvSpPr>
          <p:cNvPr id="10" name="AccBar10">
            <a:extLst>
              <a:ext uri="{FF2B5EF4-FFF2-40B4-BE49-F238E27FC236}">
                <a16:creationId xmlns:a16="http://schemas.microsoft.com/office/drawing/2014/main" xmlns="" id="{67B31BD3-1DA3-8448-6F0B-96C262576162}"/>
              </a:ext>
            </a:extLst>
          </p:cNvPr>
          <p:cNvSpPr/>
          <p:nvPr/>
        </p:nvSpPr>
        <p:spPr>
          <a:xfrm>
            <a:off x="304800" y="1219200"/>
            <a:ext cx="76200" cy="1714500"/>
          </a:xfrm>
          <a:prstGeom prst="rect">
            <a:avLst/>
          </a:prstGeom>
          <a:solidFill>
            <a:srgbClr val="2A6BB5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2A6BB5"/>
              </a:solidFill>
            </a:endParaRPr>
          </a:p>
        </p:txBody>
      </p:sp>
      <p:sp>
        <p:nvSpPr>
          <p:cNvPr id="11" name="IconCircle10">
            <a:extLst>
              <a:ext uri="{FF2B5EF4-FFF2-40B4-BE49-F238E27FC236}">
                <a16:creationId xmlns:a16="http://schemas.microsoft.com/office/drawing/2014/main" xmlns="" id="{371F7949-1E8D-F1B3-31B6-5195DED02743}"/>
              </a:ext>
            </a:extLst>
          </p:cNvPr>
          <p:cNvSpPr/>
          <p:nvPr/>
        </p:nvSpPr>
        <p:spPr>
          <a:xfrm>
            <a:off x="488043" y="1279144"/>
            <a:ext cx="508000" cy="508000"/>
          </a:xfrm>
          <a:prstGeom prst="ellipse">
            <a:avLst/>
          </a:prstGeom>
          <a:solidFill>
            <a:srgbClr val="2A6BB5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2A6BB5"/>
              </a:solidFill>
            </a:endParaRPr>
          </a:p>
        </p:txBody>
      </p:sp>
      <p:sp>
        <p:nvSpPr>
          <p:cNvPr id="12" name="CardTitle10">
            <a:extLst>
              <a:ext uri="{FF2B5EF4-FFF2-40B4-BE49-F238E27FC236}">
                <a16:creationId xmlns:a16="http://schemas.microsoft.com/office/drawing/2014/main" xmlns="" id="{7AFDCBD5-2B4E-D00D-FF5F-4F5529FEB7C6}"/>
              </a:ext>
            </a:extLst>
          </p:cNvPr>
          <p:cNvSpPr/>
          <p:nvPr/>
        </p:nvSpPr>
        <p:spPr>
          <a:xfrm>
            <a:off x="1168400" y="1346200"/>
            <a:ext cx="3124200" cy="2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pt-BR" b="1" dirty="0">
                <a:solidFill>
                  <a:srgbClr val="2A6BB5"/>
                </a:solidFill>
                <a:latin typeface="Segoe UI"/>
              </a:rPr>
              <a:t>Dado Pessoal</a:t>
            </a:r>
          </a:p>
        </p:txBody>
      </p:sp>
      <p:sp>
        <p:nvSpPr>
          <p:cNvPr id="14" name="Desc10">
            <a:extLst>
              <a:ext uri="{FF2B5EF4-FFF2-40B4-BE49-F238E27FC236}">
                <a16:creationId xmlns:a16="http://schemas.microsoft.com/office/drawing/2014/main" xmlns="" id="{06BB3569-2981-1253-56C1-659F2F938BB8}"/>
              </a:ext>
            </a:extLst>
          </p:cNvPr>
          <p:cNvSpPr/>
          <p:nvPr/>
        </p:nvSpPr>
        <p:spPr>
          <a:xfrm>
            <a:off x="533400" y="1727200"/>
            <a:ext cx="3784600" cy="110490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t"/>
          <a:lstStyle/>
          <a:p>
            <a:pPr algn="l">
              <a:lnSpc>
                <a:spcPts val="1600"/>
              </a:lnSpc>
            </a:pPr>
            <a:endParaRPr lang="pt-BR" sz="1300" dirty="0">
              <a:solidFill>
                <a:srgbClr val="555555"/>
              </a:solidFill>
              <a:latin typeface="Segoe UI"/>
            </a:endParaRPr>
          </a:p>
          <a:p>
            <a:pPr algn="l">
              <a:lnSpc>
                <a:spcPts val="1600"/>
              </a:lnSpc>
            </a:pPr>
            <a:r>
              <a:rPr lang="pt-BR" sz="1300" dirty="0">
                <a:solidFill>
                  <a:srgbClr val="555555"/>
                </a:solidFill>
                <a:latin typeface="Segoe UI"/>
              </a:rPr>
              <a:t>Nome, CPF, endereço, e-mail, telefone. Qualquer dado que identifique uma pessoa.</a:t>
            </a:r>
          </a:p>
        </p:txBody>
      </p:sp>
      <p:sp>
        <p:nvSpPr>
          <p:cNvPr id="19" name="Card20">
            <a:extLst>
              <a:ext uri="{FF2B5EF4-FFF2-40B4-BE49-F238E27FC236}">
                <a16:creationId xmlns:a16="http://schemas.microsoft.com/office/drawing/2014/main" xmlns="" id="{72F35CA1-4297-5509-AD7A-D5216FE25C50}"/>
              </a:ext>
            </a:extLst>
          </p:cNvPr>
          <p:cNvSpPr/>
          <p:nvPr/>
        </p:nvSpPr>
        <p:spPr>
          <a:xfrm>
            <a:off x="4673600" y="1219200"/>
            <a:ext cx="4165600" cy="1714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>
            <a:outerShdw blurRad="38100" dist="19050" dir="5400000" algn="ctr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>
              <a:solidFill>
                <a:srgbClr val="333333"/>
              </a:solidFill>
            </a:endParaRPr>
          </a:p>
        </p:txBody>
      </p:sp>
      <p:sp>
        <p:nvSpPr>
          <p:cNvPr id="20" name="AccBar20">
            <a:extLst>
              <a:ext uri="{FF2B5EF4-FFF2-40B4-BE49-F238E27FC236}">
                <a16:creationId xmlns:a16="http://schemas.microsoft.com/office/drawing/2014/main" xmlns="" id="{99711C77-A35B-6797-A33B-E7FFF927B970}"/>
              </a:ext>
            </a:extLst>
          </p:cNvPr>
          <p:cNvSpPr/>
          <p:nvPr/>
        </p:nvSpPr>
        <p:spPr>
          <a:xfrm>
            <a:off x="4673600" y="1219200"/>
            <a:ext cx="76200" cy="171450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CC3333"/>
              </a:solidFill>
            </a:endParaRPr>
          </a:p>
        </p:txBody>
      </p:sp>
      <p:sp>
        <p:nvSpPr>
          <p:cNvPr id="21" name="IconCircle20">
            <a:extLst>
              <a:ext uri="{FF2B5EF4-FFF2-40B4-BE49-F238E27FC236}">
                <a16:creationId xmlns:a16="http://schemas.microsoft.com/office/drawing/2014/main" xmlns="" id="{174A9BEF-7654-4183-D26A-A3BDC12EC818}"/>
              </a:ext>
            </a:extLst>
          </p:cNvPr>
          <p:cNvSpPr/>
          <p:nvPr/>
        </p:nvSpPr>
        <p:spPr>
          <a:xfrm>
            <a:off x="4894943" y="1279144"/>
            <a:ext cx="508000" cy="508000"/>
          </a:xfrm>
          <a:prstGeom prst="ellipse">
            <a:avLst/>
          </a:prstGeom>
          <a:solidFill>
            <a:srgbClr val="CC3333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CC3333"/>
              </a:solidFill>
            </a:endParaRPr>
          </a:p>
        </p:txBody>
      </p:sp>
      <p:sp>
        <p:nvSpPr>
          <p:cNvPr id="22" name="CardTitle20">
            <a:extLst>
              <a:ext uri="{FF2B5EF4-FFF2-40B4-BE49-F238E27FC236}">
                <a16:creationId xmlns:a16="http://schemas.microsoft.com/office/drawing/2014/main" xmlns="" id="{9E3BDA2E-7A7F-3173-7B13-B1CB898B627B}"/>
              </a:ext>
            </a:extLst>
          </p:cNvPr>
          <p:cNvSpPr/>
          <p:nvPr/>
        </p:nvSpPr>
        <p:spPr>
          <a:xfrm>
            <a:off x="5537200" y="1346200"/>
            <a:ext cx="3124200" cy="2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pt-BR" b="1" dirty="0">
                <a:solidFill>
                  <a:srgbClr val="CC3333"/>
                </a:solidFill>
                <a:latin typeface="Segoe UI"/>
              </a:rPr>
              <a:t>Dado Pessoal Sensível</a:t>
            </a:r>
          </a:p>
        </p:txBody>
      </p:sp>
      <p:sp>
        <p:nvSpPr>
          <p:cNvPr id="24" name="Desc20">
            <a:extLst>
              <a:ext uri="{FF2B5EF4-FFF2-40B4-BE49-F238E27FC236}">
                <a16:creationId xmlns:a16="http://schemas.microsoft.com/office/drawing/2014/main" xmlns="" id="{C57C8DE4-EFAE-4F43-1942-E4DC672581A3}"/>
              </a:ext>
            </a:extLst>
          </p:cNvPr>
          <p:cNvSpPr/>
          <p:nvPr/>
        </p:nvSpPr>
        <p:spPr>
          <a:xfrm>
            <a:off x="4902200" y="1727200"/>
            <a:ext cx="3784600" cy="110490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t"/>
          <a:lstStyle/>
          <a:p>
            <a:pPr algn="l">
              <a:lnSpc>
                <a:spcPts val="1600"/>
              </a:lnSpc>
            </a:pPr>
            <a:endParaRPr lang="pt-BR" sz="1300" dirty="0">
              <a:solidFill>
                <a:srgbClr val="555555"/>
              </a:solidFill>
              <a:latin typeface="Segoe UI"/>
            </a:endParaRPr>
          </a:p>
          <a:p>
            <a:pPr algn="l">
              <a:lnSpc>
                <a:spcPts val="1600"/>
              </a:lnSpc>
            </a:pPr>
            <a:r>
              <a:rPr lang="pt-BR" sz="1300" dirty="0">
                <a:solidFill>
                  <a:srgbClr val="555555"/>
                </a:solidFill>
                <a:latin typeface="Segoe UI"/>
              </a:rPr>
              <a:t>Saúde, origem étnica, religião, biometria. Exigem proteção reforçada pela LGPD.</a:t>
            </a:r>
          </a:p>
        </p:txBody>
      </p:sp>
      <p:sp>
        <p:nvSpPr>
          <p:cNvPr id="31" name="Card30">
            <a:extLst>
              <a:ext uri="{FF2B5EF4-FFF2-40B4-BE49-F238E27FC236}">
                <a16:creationId xmlns:a16="http://schemas.microsoft.com/office/drawing/2014/main" xmlns="" id="{5296FDB2-8A0A-F1B2-3642-028A4BA56EA5}"/>
              </a:ext>
            </a:extLst>
          </p:cNvPr>
          <p:cNvSpPr/>
          <p:nvPr/>
        </p:nvSpPr>
        <p:spPr>
          <a:xfrm>
            <a:off x="304800" y="3086100"/>
            <a:ext cx="4165600" cy="1714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>
            <a:outerShdw blurRad="38100" dist="19050" dir="5400000" algn="ctr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>
              <a:solidFill>
                <a:srgbClr val="333333"/>
              </a:solidFill>
            </a:endParaRPr>
          </a:p>
        </p:txBody>
      </p:sp>
      <p:sp>
        <p:nvSpPr>
          <p:cNvPr id="32" name="AccBar30">
            <a:extLst>
              <a:ext uri="{FF2B5EF4-FFF2-40B4-BE49-F238E27FC236}">
                <a16:creationId xmlns:a16="http://schemas.microsoft.com/office/drawing/2014/main" xmlns="" id="{572F4E1E-FB24-1708-21B6-47414980012E}"/>
              </a:ext>
            </a:extLst>
          </p:cNvPr>
          <p:cNvSpPr/>
          <p:nvPr/>
        </p:nvSpPr>
        <p:spPr>
          <a:xfrm>
            <a:off x="304800" y="3086100"/>
            <a:ext cx="76200" cy="171450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1A7A3A"/>
              </a:solidFill>
            </a:endParaRPr>
          </a:p>
        </p:txBody>
      </p:sp>
      <p:sp>
        <p:nvSpPr>
          <p:cNvPr id="36" name="IconCircle30">
            <a:extLst>
              <a:ext uri="{FF2B5EF4-FFF2-40B4-BE49-F238E27FC236}">
                <a16:creationId xmlns:a16="http://schemas.microsoft.com/office/drawing/2014/main" xmlns="" id="{08435FB0-DF8F-7F4E-71DE-A0FEAE9458B2}"/>
              </a:ext>
            </a:extLst>
          </p:cNvPr>
          <p:cNvSpPr/>
          <p:nvPr/>
        </p:nvSpPr>
        <p:spPr>
          <a:xfrm>
            <a:off x="482600" y="3132836"/>
            <a:ext cx="508000" cy="508000"/>
          </a:xfrm>
          <a:prstGeom prst="ellipse">
            <a:avLst/>
          </a:prstGeom>
          <a:solidFill>
            <a:srgbClr val="1A7A3A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1A7A3A"/>
              </a:solidFill>
            </a:endParaRPr>
          </a:p>
        </p:txBody>
      </p:sp>
      <p:sp>
        <p:nvSpPr>
          <p:cNvPr id="38" name="CardTitle30">
            <a:extLst>
              <a:ext uri="{FF2B5EF4-FFF2-40B4-BE49-F238E27FC236}">
                <a16:creationId xmlns:a16="http://schemas.microsoft.com/office/drawing/2014/main" xmlns="" id="{5D0AD294-3902-8818-CB43-DC708312591F}"/>
              </a:ext>
            </a:extLst>
          </p:cNvPr>
          <p:cNvSpPr/>
          <p:nvPr/>
        </p:nvSpPr>
        <p:spPr>
          <a:xfrm>
            <a:off x="1168400" y="3213100"/>
            <a:ext cx="3124200" cy="2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pt-BR" b="1" dirty="0">
                <a:solidFill>
                  <a:srgbClr val="1A7A3A"/>
                </a:solidFill>
                <a:latin typeface="Segoe UI"/>
              </a:rPr>
              <a:t>Dado Anonimizado</a:t>
            </a:r>
          </a:p>
        </p:txBody>
      </p:sp>
      <p:sp>
        <p:nvSpPr>
          <p:cNvPr id="40" name="Desc30">
            <a:extLst>
              <a:ext uri="{FF2B5EF4-FFF2-40B4-BE49-F238E27FC236}">
                <a16:creationId xmlns:a16="http://schemas.microsoft.com/office/drawing/2014/main" xmlns="" id="{EB461613-F682-8E64-97A6-31385E9F7CCC}"/>
              </a:ext>
            </a:extLst>
          </p:cNvPr>
          <p:cNvSpPr/>
          <p:nvPr/>
        </p:nvSpPr>
        <p:spPr>
          <a:xfrm>
            <a:off x="533400" y="3594100"/>
            <a:ext cx="3784600" cy="110490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t"/>
          <a:lstStyle/>
          <a:p>
            <a:pPr algn="l">
              <a:lnSpc>
                <a:spcPts val="1600"/>
              </a:lnSpc>
            </a:pPr>
            <a:endParaRPr lang="pt-BR" sz="1300" dirty="0">
              <a:solidFill>
                <a:srgbClr val="555555"/>
              </a:solidFill>
              <a:latin typeface="Segoe UI"/>
            </a:endParaRPr>
          </a:p>
          <a:p>
            <a:pPr algn="l">
              <a:lnSpc>
                <a:spcPts val="1600"/>
              </a:lnSpc>
            </a:pPr>
            <a:r>
              <a:rPr lang="pt-BR" sz="1300" dirty="0">
                <a:solidFill>
                  <a:srgbClr val="555555"/>
                </a:solidFill>
                <a:latin typeface="Segoe UI"/>
              </a:rPr>
              <a:t>Dados que não permitem identificar a pessoa. Não são dados pessoais pela LGPD.</a:t>
            </a:r>
          </a:p>
        </p:txBody>
      </p:sp>
      <p:sp>
        <p:nvSpPr>
          <p:cNvPr id="41" name="Card40">
            <a:extLst>
              <a:ext uri="{FF2B5EF4-FFF2-40B4-BE49-F238E27FC236}">
                <a16:creationId xmlns:a16="http://schemas.microsoft.com/office/drawing/2014/main" xmlns="" id="{7BBB7452-FA12-1FF8-53EB-C0EF13C87D2D}"/>
              </a:ext>
            </a:extLst>
          </p:cNvPr>
          <p:cNvSpPr/>
          <p:nvPr/>
        </p:nvSpPr>
        <p:spPr>
          <a:xfrm>
            <a:off x="4673600" y="3086100"/>
            <a:ext cx="4165600" cy="1714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>
            <a:outerShdw blurRad="38100" dist="19050" dir="5400000" algn="ctr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>
              <a:solidFill>
                <a:srgbClr val="333333"/>
              </a:solidFill>
            </a:endParaRPr>
          </a:p>
        </p:txBody>
      </p:sp>
      <p:sp>
        <p:nvSpPr>
          <p:cNvPr id="42" name="AccBar40">
            <a:extLst>
              <a:ext uri="{FF2B5EF4-FFF2-40B4-BE49-F238E27FC236}">
                <a16:creationId xmlns:a16="http://schemas.microsoft.com/office/drawing/2014/main" xmlns="" id="{5D15410C-AC22-BF8C-03FF-ECD3FFB94207}"/>
              </a:ext>
            </a:extLst>
          </p:cNvPr>
          <p:cNvSpPr/>
          <p:nvPr/>
        </p:nvSpPr>
        <p:spPr>
          <a:xfrm>
            <a:off x="4673600" y="3086100"/>
            <a:ext cx="76200" cy="1714500"/>
          </a:xfrm>
          <a:prstGeom prst="rect">
            <a:avLst/>
          </a:prstGeom>
          <a:solidFill>
            <a:srgbClr val="D97B1E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D97B1E"/>
              </a:solidFill>
            </a:endParaRPr>
          </a:p>
        </p:txBody>
      </p:sp>
      <p:sp>
        <p:nvSpPr>
          <p:cNvPr id="43" name="IconCircle40">
            <a:extLst>
              <a:ext uri="{FF2B5EF4-FFF2-40B4-BE49-F238E27FC236}">
                <a16:creationId xmlns:a16="http://schemas.microsoft.com/office/drawing/2014/main" xmlns="" id="{9B870046-FFC1-0FA6-4435-D2F2DDC1454D}"/>
              </a:ext>
            </a:extLst>
          </p:cNvPr>
          <p:cNvSpPr/>
          <p:nvPr/>
        </p:nvSpPr>
        <p:spPr>
          <a:xfrm>
            <a:off x="4876800" y="3127756"/>
            <a:ext cx="508000" cy="508000"/>
          </a:xfrm>
          <a:prstGeom prst="ellipse">
            <a:avLst/>
          </a:prstGeom>
          <a:solidFill>
            <a:srgbClr val="D97B1E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D97B1E"/>
              </a:solidFill>
            </a:endParaRPr>
          </a:p>
        </p:txBody>
      </p:sp>
      <p:sp>
        <p:nvSpPr>
          <p:cNvPr id="44" name="CardTitle40">
            <a:extLst>
              <a:ext uri="{FF2B5EF4-FFF2-40B4-BE49-F238E27FC236}">
                <a16:creationId xmlns:a16="http://schemas.microsoft.com/office/drawing/2014/main" xmlns="" id="{AD1F5968-CB46-AF00-388B-AC8C5A17AF38}"/>
              </a:ext>
            </a:extLst>
          </p:cNvPr>
          <p:cNvSpPr/>
          <p:nvPr/>
        </p:nvSpPr>
        <p:spPr>
          <a:xfrm>
            <a:off x="5537200" y="3213100"/>
            <a:ext cx="3124200" cy="2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pt-BR" b="1" dirty="0">
                <a:solidFill>
                  <a:srgbClr val="D97B1E"/>
                </a:solidFill>
                <a:latin typeface="Segoe UI"/>
              </a:rPr>
              <a:t>Dado Pseudonimizado</a:t>
            </a:r>
          </a:p>
        </p:txBody>
      </p:sp>
      <p:sp>
        <p:nvSpPr>
          <p:cNvPr id="46" name="Desc40">
            <a:extLst>
              <a:ext uri="{FF2B5EF4-FFF2-40B4-BE49-F238E27FC236}">
                <a16:creationId xmlns:a16="http://schemas.microsoft.com/office/drawing/2014/main" xmlns="" id="{588D7307-553D-7E35-D155-29ADD024145A}"/>
              </a:ext>
            </a:extLst>
          </p:cNvPr>
          <p:cNvSpPr/>
          <p:nvPr/>
        </p:nvSpPr>
        <p:spPr>
          <a:xfrm>
            <a:off x="4902200" y="3594100"/>
            <a:ext cx="3784600" cy="110490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t"/>
          <a:lstStyle/>
          <a:p>
            <a:pPr algn="l">
              <a:lnSpc>
                <a:spcPts val="1600"/>
              </a:lnSpc>
            </a:pPr>
            <a:endParaRPr lang="pt-BR" sz="1300" dirty="0">
              <a:solidFill>
                <a:srgbClr val="555555"/>
              </a:solidFill>
              <a:latin typeface="Segoe UI"/>
            </a:endParaRPr>
          </a:p>
          <a:p>
            <a:pPr algn="l">
              <a:lnSpc>
                <a:spcPts val="1600"/>
              </a:lnSpc>
            </a:pPr>
            <a:r>
              <a:rPr lang="pt-BR" sz="1300" dirty="0">
                <a:solidFill>
                  <a:srgbClr val="555555"/>
                </a:solidFill>
                <a:latin typeface="Segoe UI"/>
              </a:rPr>
              <a:t>Dados modificados, mas que podem ser reidentificados. Continuam protegidos pela LGPD.</a:t>
            </a:r>
          </a:p>
        </p:txBody>
      </p:sp>
      <p:pic>
        <p:nvPicPr>
          <p:cNvPr id="47" name="Graphic 851" descr="Ícone pessoa - dado pessoal">
            <a:extLst>
              <a:ext uri="{FF2B5EF4-FFF2-40B4-BE49-F238E27FC236}">
                <a16:creationId xmlns:a16="http://schemas.microsoft.com/office/drawing/2014/main" xmlns="" id="{CEF50874-E318-AB57-FD35-2882A515FA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596900" y="1371600"/>
            <a:ext cx="279400" cy="279400"/>
          </a:xfrm>
          <a:prstGeom prst="rect">
            <a:avLst/>
          </a:prstGeom>
        </p:spPr>
      </p:pic>
      <p:pic>
        <p:nvPicPr>
          <p:cNvPr id="48" name="Graphic 852" descr="Ícone saúde - dado sensível">
            <a:extLst>
              <a:ext uri="{FF2B5EF4-FFF2-40B4-BE49-F238E27FC236}">
                <a16:creationId xmlns:a16="http://schemas.microsoft.com/office/drawing/2014/main" xmlns="" id="{D5ECF54F-3DFC-A466-1508-79BFE17F97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016500" y="1402588"/>
            <a:ext cx="279400" cy="279400"/>
          </a:xfrm>
          <a:prstGeom prst="rect">
            <a:avLst/>
          </a:prstGeom>
        </p:spPr>
      </p:pic>
      <p:pic>
        <p:nvPicPr>
          <p:cNvPr id="49" name="Graphic 853" descr="Ícone documento - dado anonimizado">
            <a:extLst>
              <a:ext uri="{FF2B5EF4-FFF2-40B4-BE49-F238E27FC236}">
                <a16:creationId xmlns:a16="http://schemas.microsoft.com/office/drawing/2014/main" xmlns="" id="{3F159172-E09F-F7CC-A11B-252A6F7779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596900" y="3234182"/>
            <a:ext cx="279400" cy="279400"/>
          </a:xfrm>
          <a:prstGeom prst="rect">
            <a:avLst/>
          </a:prstGeom>
        </p:spPr>
      </p:pic>
      <p:pic>
        <p:nvPicPr>
          <p:cNvPr id="50" name="Graphic 854" descr="Ícone chave - dado pseudonimizado">
            <a:extLst>
              <a:ext uri="{FF2B5EF4-FFF2-40B4-BE49-F238E27FC236}">
                <a16:creationId xmlns:a16="http://schemas.microsoft.com/office/drawing/2014/main" xmlns="" id="{9D85AB42-16BE-6BC8-E4EA-1C7508AD3C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991100" y="3242056"/>
            <a:ext cx="2794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256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C3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>
            <a:extLst>
              <a:ext uri="{FF2B5EF4-FFF2-40B4-BE49-F238E27FC236}">
                <a16:creationId xmlns:a16="http://schemas.microsoft.com/office/drawing/2014/main" xmlns="" id="{9FA8BEED-508E-4D53-CCF3-6608616F09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312"/>
          <a:stretch>
            <a:fillRect/>
          </a:stretch>
        </p:blipFill>
        <p:spPr>
          <a:xfrm>
            <a:off x="5470860" y="2070051"/>
            <a:ext cx="2850180" cy="2498442"/>
          </a:xfrm>
          <a:prstGeom prst="rect">
            <a:avLst/>
          </a:prstGeom>
        </p:spPr>
      </p:pic>
      <p:sp>
        <p:nvSpPr>
          <p:cNvPr id="8" name="Shape 6"/>
          <p:cNvSpPr/>
          <p:nvPr/>
        </p:nvSpPr>
        <p:spPr>
          <a:xfrm>
            <a:off x="6908336" y="-200532"/>
            <a:ext cx="1161660" cy="1107281"/>
          </a:xfrm>
          <a:prstGeom prst="ellipse">
            <a:avLst/>
          </a:prstGeom>
          <a:solidFill>
            <a:srgbClr val="F1BD01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1074004" y="-320040"/>
            <a:ext cx="1920794" cy="1920794"/>
          </a:xfrm>
          <a:prstGeom prst="ellipse">
            <a:avLst/>
          </a:prstGeom>
          <a:solidFill>
            <a:srgbClr val="E6B800">
              <a:alpha val="40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2648568" y="3462736"/>
            <a:ext cx="1371600" cy="1371600"/>
          </a:xfrm>
          <a:prstGeom prst="ellipse">
            <a:avLst/>
          </a:prstGeom>
          <a:solidFill>
            <a:srgbClr val="E6B800">
              <a:alpha val="50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" name="Shape 0"/>
          <p:cNvSpPr/>
          <p:nvPr/>
        </p:nvSpPr>
        <p:spPr>
          <a:xfrm>
            <a:off x="347472" y="548640"/>
            <a:ext cx="54864" cy="402336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4400" b="1" noProof="0" dirty="0">
                <a:solidFill>
                  <a:srgbClr val="3D3D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CLASSIFICAÇÃO</a:t>
            </a:r>
            <a:endParaRPr lang="pt-BR" sz="44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4400" b="1" noProof="0" dirty="0">
                <a:solidFill>
                  <a:srgbClr val="3D3D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 INFORMAÇÃO</a:t>
            </a:r>
            <a:endParaRPr lang="pt-BR" sz="44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201168" cy="347472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557784" y="297180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pt-BR" sz="11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700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informação tem um nível de proteção</a:t>
            </a:r>
            <a:endParaRPr lang="pt-BR" sz="1700" noProof="0" dirty="0"/>
          </a:p>
        </p:txBody>
      </p:sp>
      <p:sp>
        <p:nvSpPr>
          <p:cNvPr id="11" name="Shape 9"/>
          <p:cNvSpPr/>
          <p:nvPr/>
        </p:nvSpPr>
        <p:spPr>
          <a:xfrm>
            <a:off x="8503920" y="274320"/>
            <a:ext cx="457200" cy="45720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850392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FFC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III</a:t>
            </a:r>
            <a:endParaRPr lang="pt-BR" sz="14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DDCCAA"/>
          </a:solidFill>
          <a:ln w="12700">
            <a:solidFill>
              <a:srgbClr val="DDCCA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100" noProof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 — CLASSIFICAÇÃO DA INFORMAÇÃO</a:t>
            </a:r>
            <a:endParaRPr lang="pt-BR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200" noProof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4 NÍVEIS DE CLASSIFICAÇÃO</a:t>
            </a:r>
            <a:endParaRPr lang="pt-BR" sz="2200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22860"/>
          </a:xfrm>
          <a:prstGeom prst="rect">
            <a:avLst/>
          </a:prstGeom>
          <a:solidFill>
            <a:srgbClr val="CCBBAA"/>
          </a:solidFill>
          <a:ln w="12700">
            <a:solidFill>
              <a:srgbClr val="CCBBA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09728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1430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i="1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informação produzida ou recebida pela FUNSERV deve ser classificada. Em caso de dúvida, adote sempre o nível mais restritivo.</a:t>
            </a:r>
            <a:endParaRPr lang="pt-BR" sz="1250" noProof="0" dirty="0"/>
          </a:p>
        </p:txBody>
      </p:sp>
      <p:sp>
        <p:nvSpPr>
          <p:cNvPr id="8" name="Shape 5"/>
          <p:cNvSpPr/>
          <p:nvPr/>
        </p:nvSpPr>
        <p:spPr>
          <a:xfrm>
            <a:off x="274320" y="1719072"/>
            <a:ext cx="8595360" cy="731520"/>
          </a:xfrm>
          <a:prstGeom prst="rect">
            <a:avLst/>
          </a:prstGeom>
          <a:solidFill>
            <a:srgbClr val="FFFFFF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6"/>
          <p:cNvSpPr/>
          <p:nvPr/>
        </p:nvSpPr>
        <p:spPr>
          <a:xfrm>
            <a:off x="274320" y="1719072"/>
            <a:ext cx="1371600" cy="731520"/>
          </a:xfrm>
          <a:prstGeom prst="rect">
            <a:avLst/>
          </a:prstGeom>
          <a:solidFill>
            <a:srgbClr val="22C55E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274320" y="1719072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PÚBLICA</a:t>
            </a:r>
            <a:endParaRPr lang="pt-BR" sz="1050" noProof="0" dirty="0"/>
          </a:p>
        </p:txBody>
      </p:sp>
      <p:sp>
        <p:nvSpPr>
          <p:cNvPr id="11" name="Text 8"/>
          <p:cNvSpPr/>
          <p:nvPr/>
        </p:nvSpPr>
        <p:spPr>
          <a:xfrm>
            <a:off x="1737360" y="177393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Acesso: Qualquer pessoa</a:t>
            </a:r>
            <a:endParaRPr lang="pt-BR" sz="1100" noProof="0" dirty="0"/>
          </a:p>
        </p:txBody>
      </p:sp>
      <p:sp>
        <p:nvSpPr>
          <p:cNvPr id="12" name="Text 9"/>
          <p:cNvSpPr/>
          <p:nvPr/>
        </p:nvSpPr>
        <p:spPr>
          <a:xfrm>
            <a:off x="1737360" y="2084832"/>
            <a:ext cx="69951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Ex.: Balancetes, editais, atos administrativos publicados.</a:t>
            </a:r>
            <a:endParaRPr lang="pt-BR" sz="1000" noProof="0" dirty="0"/>
          </a:p>
        </p:txBody>
      </p:sp>
      <p:sp>
        <p:nvSpPr>
          <p:cNvPr id="13" name="Shape 10"/>
          <p:cNvSpPr/>
          <p:nvPr/>
        </p:nvSpPr>
        <p:spPr>
          <a:xfrm>
            <a:off x="274320" y="2542032"/>
            <a:ext cx="8595360" cy="731520"/>
          </a:xfrm>
          <a:prstGeom prst="rect">
            <a:avLst/>
          </a:prstGeom>
          <a:solidFill>
            <a:srgbClr val="FFFFFF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1"/>
          <p:cNvSpPr/>
          <p:nvPr/>
        </p:nvSpPr>
        <p:spPr>
          <a:xfrm>
            <a:off x="274320" y="2542032"/>
            <a:ext cx="1371600" cy="731520"/>
          </a:xfrm>
          <a:prstGeom prst="rect">
            <a:avLst/>
          </a:prstGeom>
          <a:solidFill>
            <a:srgbClr val="4A90D9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2"/>
          <p:cNvSpPr/>
          <p:nvPr/>
        </p:nvSpPr>
        <p:spPr>
          <a:xfrm>
            <a:off x="274320" y="2542032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INTERNO</a:t>
            </a:r>
            <a:endParaRPr lang="pt-BR" sz="1050" noProof="0" dirty="0"/>
          </a:p>
        </p:txBody>
      </p:sp>
      <p:sp>
        <p:nvSpPr>
          <p:cNvPr id="16" name="Text 13"/>
          <p:cNvSpPr/>
          <p:nvPr/>
        </p:nvSpPr>
        <p:spPr>
          <a:xfrm>
            <a:off x="1737360" y="259689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Acesso: Apenas colaboradores da FUNSERV</a:t>
            </a:r>
            <a:endParaRPr lang="pt-BR" sz="1100" noProof="0" dirty="0"/>
          </a:p>
        </p:txBody>
      </p:sp>
      <p:sp>
        <p:nvSpPr>
          <p:cNvPr id="17" name="Text 14"/>
          <p:cNvSpPr/>
          <p:nvPr/>
        </p:nvSpPr>
        <p:spPr>
          <a:xfrm>
            <a:off x="1737360" y="2907792"/>
            <a:ext cx="69951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Ex.: Memorandos internos, relatórios operacionais.</a:t>
            </a:r>
            <a:endParaRPr lang="pt-BR" sz="1000" noProof="0" dirty="0"/>
          </a:p>
        </p:txBody>
      </p:sp>
      <p:sp>
        <p:nvSpPr>
          <p:cNvPr id="18" name="Shape 15"/>
          <p:cNvSpPr/>
          <p:nvPr/>
        </p:nvSpPr>
        <p:spPr>
          <a:xfrm>
            <a:off x="274320" y="3364992"/>
            <a:ext cx="8595360" cy="731520"/>
          </a:xfrm>
          <a:prstGeom prst="rect">
            <a:avLst/>
          </a:prstGeom>
          <a:solidFill>
            <a:srgbClr val="FFFFFF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Shape 16"/>
          <p:cNvSpPr/>
          <p:nvPr/>
        </p:nvSpPr>
        <p:spPr>
          <a:xfrm>
            <a:off x="274320" y="3364992"/>
            <a:ext cx="1371600" cy="731520"/>
          </a:xfrm>
          <a:prstGeom prst="rect">
            <a:avLst/>
          </a:prstGeom>
          <a:solidFill>
            <a:srgbClr val="F59E0B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 17"/>
          <p:cNvSpPr/>
          <p:nvPr/>
        </p:nvSpPr>
        <p:spPr>
          <a:xfrm>
            <a:off x="274320" y="3364992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RESTRITA</a:t>
            </a:r>
            <a:endParaRPr lang="pt-BR" sz="1050" noProof="0" dirty="0"/>
          </a:p>
        </p:txBody>
      </p:sp>
      <p:sp>
        <p:nvSpPr>
          <p:cNvPr id="21" name="Text 18"/>
          <p:cNvSpPr/>
          <p:nvPr/>
        </p:nvSpPr>
        <p:spPr>
          <a:xfrm>
            <a:off x="1737360" y="34198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Acesso: Servidores autorizados por função</a:t>
            </a:r>
            <a:endParaRPr lang="pt-BR" sz="1100" noProof="0" dirty="0"/>
          </a:p>
        </p:txBody>
      </p:sp>
      <p:sp>
        <p:nvSpPr>
          <p:cNvPr id="22" name="Text 19"/>
          <p:cNvSpPr/>
          <p:nvPr/>
        </p:nvSpPr>
        <p:spPr>
          <a:xfrm>
            <a:off x="1737360" y="3730752"/>
            <a:ext cx="69951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Ex.: Processos previdenciários, cadastro de segurados</a:t>
            </a:r>
            <a:r>
              <a:rPr lang="pt-BR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guias médicas</a:t>
            </a:r>
            <a:r>
              <a:rPr lang="pt-BR" sz="1000" noProof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pt-BR" sz="1000" noProof="0" dirty="0"/>
          </a:p>
        </p:txBody>
      </p:sp>
      <p:sp>
        <p:nvSpPr>
          <p:cNvPr id="23" name="Shape 20"/>
          <p:cNvSpPr/>
          <p:nvPr/>
        </p:nvSpPr>
        <p:spPr>
          <a:xfrm>
            <a:off x="274320" y="4187952"/>
            <a:ext cx="8595360" cy="731520"/>
          </a:xfrm>
          <a:prstGeom prst="rect">
            <a:avLst/>
          </a:prstGeom>
          <a:solidFill>
            <a:srgbClr val="FFFFFF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Shape 21"/>
          <p:cNvSpPr/>
          <p:nvPr/>
        </p:nvSpPr>
        <p:spPr>
          <a:xfrm>
            <a:off x="274320" y="4187952"/>
            <a:ext cx="1371600" cy="731520"/>
          </a:xfrm>
          <a:prstGeom prst="rect">
            <a:avLst/>
          </a:prstGeom>
          <a:solidFill>
            <a:srgbClr val="CC000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22"/>
          <p:cNvSpPr/>
          <p:nvPr/>
        </p:nvSpPr>
        <p:spPr>
          <a:xfrm>
            <a:off x="274320" y="4187952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SIGILOSA</a:t>
            </a:r>
            <a:endParaRPr lang="pt-BR" sz="1050" noProof="0" dirty="0"/>
          </a:p>
        </p:txBody>
      </p:sp>
      <p:sp>
        <p:nvSpPr>
          <p:cNvPr id="26" name="Text 23"/>
          <p:cNvSpPr/>
          <p:nvPr/>
        </p:nvSpPr>
        <p:spPr>
          <a:xfrm>
            <a:off x="1737360" y="4242816"/>
            <a:ext cx="5943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Acesso: Altamente restrito, pode causar grave dano institucional, legal ou ao titular</a:t>
            </a:r>
            <a:endParaRPr lang="pt-BR" sz="1100" noProof="0" dirty="0"/>
          </a:p>
        </p:txBody>
      </p:sp>
      <p:sp>
        <p:nvSpPr>
          <p:cNvPr id="27" name="Text 24"/>
          <p:cNvSpPr/>
          <p:nvPr/>
        </p:nvSpPr>
        <p:spPr>
          <a:xfrm>
            <a:off x="1737360" y="4553712"/>
            <a:ext cx="69951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Ex.: Dados bancários, biometria, senhas, Informações críticas institucionais.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xmlns="" id="{E96F270B-DD88-0950-BDD5-70960C2CA7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700"/>
          <a:stretch>
            <a:fillRect/>
          </a:stretch>
        </p:blipFill>
        <p:spPr>
          <a:xfrm>
            <a:off x="430287" y="1851383"/>
            <a:ext cx="2736914" cy="2388996"/>
          </a:xfrm>
          <a:prstGeom prst="rect">
            <a:avLst/>
          </a:prstGeom>
        </p:spPr>
      </p:pic>
      <p:sp>
        <p:nvSpPr>
          <p:cNvPr id="8" name="Shape 6"/>
          <p:cNvSpPr/>
          <p:nvPr/>
        </p:nvSpPr>
        <p:spPr>
          <a:xfrm>
            <a:off x="6926365" y="162270"/>
            <a:ext cx="1645920" cy="1645920"/>
          </a:xfrm>
          <a:prstGeom prst="ellipse">
            <a:avLst/>
          </a:prstGeom>
          <a:solidFill>
            <a:srgbClr val="E6B800">
              <a:alpha val="50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-176691" y="4292519"/>
            <a:ext cx="1096726" cy="1096726"/>
          </a:xfrm>
          <a:prstGeom prst="ellipse">
            <a:avLst/>
          </a:prstGeom>
          <a:solidFill>
            <a:srgbClr val="FF0000">
              <a:alpha val="40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1517496" y="156833"/>
            <a:ext cx="562495" cy="562495"/>
          </a:xfrm>
          <a:prstGeom prst="ellipse">
            <a:avLst/>
          </a:prstGeom>
          <a:solidFill>
            <a:srgbClr val="E6B800">
              <a:alpha val="50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" name="Shape 0"/>
          <p:cNvSpPr/>
          <p:nvPr/>
        </p:nvSpPr>
        <p:spPr>
          <a:xfrm>
            <a:off x="8851392" y="560070"/>
            <a:ext cx="54864" cy="402336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4400" b="1" noProof="0" dirty="0">
                <a:solidFill>
                  <a:srgbClr val="3D3D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USO SEGURO DE SENHAS</a:t>
            </a:r>
            <a:endParaRPr lang="pt-BR" sz="44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4400" b="1" noProof="0" dirty="0">
                <a:solidFill>
                  <a:srgbClr val="3D3D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 AUTENTICAÇÃO</a:t>
            </a:r>
            <a:endParaRPr lang="pt-BR" sz="4400" noProof="0" dirty="0"/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xmlns="" id="{C865BAA1-CD58-9266-2665-1AECCB7F5B29}"/>
              </a:ext>
            </a:extLst>
          </p:cNvPr>
          <p:cNvGrpSpPr/>
          <p:nvPr/>
        </p:nvGrpSpPr>
        <p:grpSpPr>
          <a:xfrm>
            <a:off x="4273535" y="2980944"/>
            <a:ext cx="201168" cy="347472"/>
            <a:chOff x="548640" y="2971800"/>
            <a:chExt cx="201168" cy="347472"/>
          </a:xfrm>
        </p:grpSpPr>
        <p:sp>
          <p:nvSpPr>
            <p:cNvPr id="5" name="Shape 3"/>
            <p:cNvSpPr/>
            <p:nvPr/>
          </p:nvSpPr>
          <p:spPr>
            <a:xfrm>
              <a:off x="548640" y="2971800"/>
              <a:ext cx="201168" cy="347472"/>
            </a:xfrm>
            <a:prstGeom prst="rect">
              <a:avLst/>
            </a:prstGeom>
            <a:solidFill>
              <a:srgbClr val="3D3D3D"/>
            </a:solidFill>
            <a:ln w="12700">
              <a:solidFill>
                <a:srgbClr val="3D3D3D"/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557784" y="2971800"/>
              <a:ext cx="1828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pt-BR" sz="1100" noProof="0" dirty="0">
                  <a:solidFill>
                    <a:srgbClr val="FFCC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▶</a:t>
              </a:r>
              <a:endParaRPr lang="pt-BR" sz="1100" noProof="0" dirty="0"/>
            </a:p>
          </p:txBody>
        </p:sp>
      </p:grpSp>
      <p:sp>
        <p:nvSpPr>
          <p:cNvPr id="7" name="Text 5"/>
          <p:cNvSpPr/>
          <p:nvPr/>
        </p:nvSpPr>
        <p:spPr>
          <a:xfrm>
            <a:off x="822960" y="29718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700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senha é a primeira barreira de proteção</a:t>
            </a:r>
            <a:endParaRPr lang="pt-BR" sz="1700" noProof="0" dirty="0"/>
          </a:p>
        </p:txBody>
      </p:sp>
      <p:sp>
        <p:nvSpPr>
          <p:cNvPr id="11" name="Shape 9"/>
          <p:cNvSpPr/>
          <p:nvPr/>
        </p:nvSpPr>
        <p:spPr>
          <a:xfrm>
            <a:off x="156555" y="388343"/>
            <a:ext cx="457200" cy="45720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156555" y="38834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FFC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IV</a:t>
            </a:r>
            <a:endParaRPr lang="pt-BR" sz="1400" noProof="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xmlns="" id="{4ED6D847-4A49-40A4-2CAA-BF1FBADB0920}"/>
              </a:ext>
            </a:extLst>
          </p:cNvPr>
          <p:cNvSpPr/>
          <p:nvPr/>
        </p:nvSpPr>
        <p:spPr>
          <a:xfrm>
            <a:off x="7106473" y="4169859"/>
            <a:ext cx="1465812" cy="1465812"/>
          </a:xfrm>
          <a:prstGeom prst="ellipse">
            <a:avLst/>
          </a:prstGeom>
          <a:solidFill>
            <a:srgbClr val="E6B800">
              <a:alpha val="50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F355E3FC-EA77-4D9C-BD5A-A827A8F94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xmlns="" id="{D4F73BEF-71B7-90C0-957C-95E2A1A402A4}"/>
              </a:ext>
            </a:extLst>
          </p:cNvPr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DDCCAA"/>
          </a:solidFill>
          <a:ln w="12700">
            <a:solidFill>
              <a:srgbClr val="DDCCA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xmlns="" id="{32EC7529-6FD1-B6B8-BACC-FF2D0434AA75}"/>
              </a:ext>
            </a:extLst>
          </p:cNvPr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100" noProof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— USO SEGURO DE SENHAS E AUTENTICAÇÃO</a:t>
            </a:r>
            <a:endParaRPr lang="pt-BR" sz="11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xmlns="" id="{6337F268-0D91-D31D-B76E-CE2950E88DCB}"/>
              </a:ext>
            </a:extLst>
          </p:cNvPr>
          <p:cNvSpPr/>
          <p:nvPr/>
        </p:nvSpPr>
        <p:spPr>
          <a:xfrm>
            <a:off x="36576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200" noProof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CRIAR E USAR SENHAS SEGURAS?</a:t>
            </a:r>
            <a:endParaRPr lang="pt-BR" sz="22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xmlns="" id="{F40BD32D-CF38-EBD8-E83F-81B80FF2853B}"/>
              </a:ext>
            </a:extLst>
          </p:cNvPr>
          <p:cNvSpPr/>
          <p:nvPr/>
        </p:nvSpPr>
        <p:spPr>
          <a:xfrm>
            <a:off x="365760" y="1024128"/>
            <a:ext cx="8412480" cy="22860"/>
          </a:xfrm>
          <a:prstGeom prst="rect">
            <a:avLst/>
          </a:prstGeom>
          <a:solidFill>
            <a:srgbClr val="CCBBAA"/>
          </a:solidFill>
          <a:ln w="12700">
            <a:solidFill>
              <a:srgbClr val="CCBBA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xmlns="" id="{097091FC-7293-A43F-8D1B-F747F870D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09728"/>
            <a:ext cx="594360" cy="594360"/>
          </a:xfrm>
          <a:prstGeom prst="rect">
            <a:avLst/>
          </a:prstGeom>
        </p:spPr>
      </p:pic>
      <p:sp>
        <p:nvSpPr>
          <p:cNvPr id="15" name="LeftCard">
            <a:extLst>
              <a:ext uri="{FF2B5EF4-FFF2-40B4-BE49-F238E27FC236}">
                <a16:creationId xmlns:a16="http://schemas.microsoft.com/office/drawing/2014/main" xmlns="" id="{5DA32BF3-195D-014B-26FB-4D3682578D01}"/>
              </a:ext>
            </a:extLst>
          </p:cNvPr>
          <p:cNvSpPr/>
          <p:nvPr/>
        </p:nvSpPr>
        <p:spPr>
          <a:xfrm>
            <a:off x="304800" y="1206500"/>
            <a:ext cx="4114800" cy="3683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50800" dist="254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 dirty="0">
              <a:solidFill>
                <a:srgbClr val="333333"/>
              </a:solidFill>
            </a:endParaRPr>
          </a:p>
        </p:txBody>
      </p:sp>
      <p:sp>
        <p:nvSpPr>
          <p:cNvPr id="16" name="LeftGreenBar">
            <a:extLst>
              <a:ext uri="{FF2B5EF4-FFF2-40B4-BE49-F238E27FC236}">
                <a16:creationId xmlns:a16="http://schemas.microsoft.com/office/drawing/2014/main" xmlns="" id="{B201D0E3-7C68-4BE0-B83E-4D707793B335}"/>
              </a:ext>
            </a:extLst>
          </p:cNvPr>
          <p:cNvSpPr/>
          <p:nvPr/>
        </p:nvSpPr>
        <p:spPr>
          <a:xfrm>
            <a:off x="304800" y="1206500"/>
            <a:ext cx="76200" cy="368300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1A7A3A"/>
              </a:solidFill>
            </a:endParaRPr>
          </a:p>
        </p:txBody>
      </p:sp>
      <p:sp>
        <p:nvSpPr>
          <p:cNvPr id="17" name="LeftHeader">
            <a:extLst>
              <a:ext uri="{FF2B5EF4-FFF2-40B4-BE49-F238E27FC236}">
                <a16:creationId xmlns:a16="http://schemas.microsoft.com/office/drawing/2014/main" xmlns="" id="{B6A41612-2B3B-77DA-F5AE-3DE67CB6B1ED}"/>
              </a:ext>
            </a:extLst>
          </p:cNvPr>
          <p:cNvSpPr/>
          <p:nvPr/>
        </p:nvSpPr>
        <p:spPr>
          <a:xfrm>
            <a:off x="381000" y="1206500"/>
            <a:ext cx="4038600" cy="40640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txBody>
          <a:bodyPr lIns="182880" tIns="45720" rIns="91440" bIns="45720" anchor="ctr"/>
          <a:lstStyle/>
          <a:p>
            <a:pPr algn="l"/>
            <a:r>
              <a:rPr lang="pt-BR" sz="1800" b="1" dirty="0">
                <a:solidFill>
                  <a:srgbClr val="FFFFFF"/>
                </a:solidFill>
                <a:latin typeface="Segoe UI"/>
              </a:rPr>
              <a:t>Boas práticas</a:t>
            </a:r>
          </a:p>
        </p:txBody>
      </p:sp>
      <p:sp>
        <p:nvSpPr>
          <p:cNvPr id="18" name="LBullet0">
            <a:extLst>
              <a:ext uri="{FF2B5EF4-FFF2-40B4-BE49-F238E27FC236}">
                <a16:creationId xmlns:a16="http://schemas.microsoft.com/office/drawing/2014/main" xmlns="" id="{54790F72-71AA-EF9E-0B81-F8ACC03C77F3}"/>
              </a:ext>
            </a:extLst>
          </p:cNvPr>
          <p:cNvSpPr/>
          <p:nvPr/>
        </p:nvSpPr>
        <p:spPr>
          <a:xfrm>
            <a:off x="482600" y="1803400"/>
            <a:ext cx="127000" cy="127000"/>
          </a:xfrm>
          <a:prstGeom prst="ellipse">
            <a:avLst/>
          </a:prstGeom>
          <a:solidFill>
            <a:srgbClr val="1A7A3A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1A7A3A"/>
              </a:solidFill>
            </a:endParaRPr>
          </a:p>
        </p:txBody>
      </p:sp>
      <p:sp>
        <p:nvSpPr>
          <p:cNvPr id="19" name="LText0">
            <a:extLst>
              <a:ext uri="{FF2B5EF4-FFF2-40B4-BE49-F238E27FC236}">
                <a16:creationId xmlns:a16="http://schemas.microsoft.com/office/drawing/2014/main" xmlns="" id="{8B777A19-E3A1-371E-DE52-FB7E25D2E25C}"/>
              </a:ext>
            </a:extLst>
          </p:cNvPr>
          <p:cNvSpPr/>
          <p:nvPr/>
        </p:nvSpPr>
        <p:spPr>
          <a:xfrm>
            <a:off x="736600" y="17399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lIns="45720" tIns="0" rIns="45720" bIns="0" anchor="ctr"/>
          <a:lstStyle/>
          <a:p>
            <a:pPr algn="l"/>
            <a:r>
              <a:rPr lang="pt-BR" sz="1400" dirty="0">
                <a:solidFill>
                  <a:srgbClr val="333333"/>
                </a:solidFill>
                <a:latin typeface="Segoe UI"/>
              </a:rPr>
              <a:t>Use senhas longas (12+ caracteres)</a:t>
            </a:r>
          </a:p>
        </p:txBody>
      </p:sp>
      <p:sp>
        <p:nvSpPr>
          <p:cNvPr id="20" name="LBullet1">
            <a:extLst>
              <a:ext uri="{FF2B5EF4-FFF2-40B4-BE49-F238E27FC236}">
                <a16:creationId xmlns:a16="http://schemas.microsoft.com/office/drawing/2014/main" xmlns="" id="{74E4B217-836B-E349-630C-F0D878EDED84}"/>
              </a:ext>
            </a:extLst>
          </p:cNvPr>
          <p:cNvSpPr/>
          <p:nvPr/>
        </p:nvSpPr>
        <p:spPr>
          <a:xfrm>
            <a:off x="482600" y="2374900"/>
            <a:ext cx="127000" cy="127000"/>
          </a:xfrm>
          <a:prstGeom prst="ellipse">
            <a:avLst/>
          </a:prstGeom>
          <a:solidFill>
            <a:srgbClr val="1A7A3A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1A7A3A"/>
              </a:solidFill>
            </a:endParaRPr>
          </a:p>
        </p:txBody>
      </p:sp>
      <p:sp>
        <p:nvSpPr>
          <p:cNvPr id="21" name="LText1">
            <a:extLst>
              <a:ext uri="{FF2B5EF4-FFF2-40B4-BE49-F238E27FC236}">
                <a16:creationId xmlns:a16="http://schemas.microsoft.com/office/drawing/2014/main" xmlns="" id="{BCCE92B4-1FA2-4C64-27D0-341F82A26C5F}"/>
              </a:ext>
            </a:extLst>
          </p:cNvPr>
          <p:cNvSpPr/>
          <p:nvPr/>
        </p:nvSpPr>
        <p:spPr>
          <a:xfrm>
            <a:off x="736600" y="23114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lIns="45720" tIns="0" rIns="45720" bIns="0" anchor="ctr"/>
          <a:lstStyle/>
          <a:p>
            <a:pPr algn="l"/>
            <a:r>
              <a:rPr lang="pt-BR" sz="1400" dirty="0">
                <a:solidFill>
                  <a:srgbClr val="333333"/>
                </a:solidFill>
                <a:latin typeface="Segoe UI"/>
              </a:rPr>
              <a:t>Misture letras, números e símbolos</a:t>
            </a:r>
          </a:p>
        </p:txBody>
      </p:sp>
      <p:sp>
        <p:nvSpPr>
          <p:cNvPr id="22" name="LBullet2">
            <a:extLst>
              <a:ext uri="{FF2B5EF4-FFF2-40B4-BE49-F238E27FC236}">
                <a16:creationId xmlns:a16="http://schemas.microsoft.com/office/drawing/2014/main" xmlns="" id="{EC227CDB-61D0-D9C9-5C34-112CCE58A8C5}"/>
              </a:ext>
            </a:extLst>
          </p:cNvPr>
          <p:cNvSpPr/>
          <p:nvPr/>
        </p:nvSpPr>
        <p:spPr>
          <a:xfrm>
            <a:off x="482600" y="2946400"/>
            <a:ext cx="127000" cy="127000"/>
          </a:xfrm>
          <a:prstGeom prst="ellipse">
            <a:avLst/>
          </a:prstGeom>
          <a:solidFill>
            <a:srgbClr val="1A7A3A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1A7A3A"/>
              </a:solidFill>
            </a:endParaRPr>
          </a:p>
        </p:txBody>
      </p:sp>
      <p:sp>
        <p:nvSpPr>
          <p:cNvPr id="23" name="LText2">
            <a:extLst>
              <a:ext uri="{FF2B5EF4-FFF2-40B4-BE49-F238E27FC236}">
                <a16:creationId xmlns:a16="http://schemas.microsoft.com/office/drawing/2014/main" xmlns="" id="{E574FA35-D4DD-CADD-4AB8-7348D8887B4C}"/>
              </a:ext>
            </a:extLst>
          </p:cNvPr>
          <p:cNvSpPr/>
          <p:nvPr/>
        </p:nvSpPr>
        <p:spPr>
          <a:xfrm>
            <a:off x="736600" y="28829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lIns="45720" tIns="0" rIns="45720" bIns="0" anchor="ctr"/>
          <a:lstStyle/>
          <a:p>
            <a:pPr algn="l"/>
            <a:r>
              <a:rPr lang="pt-BR" sz="1400" dirty="0">
                <a:solidFill>
                  <a:srgbClr val="333333"/>
                </a:solidFill>
                <a:latin typeface="Segoe UI"/>
              </a:rPr>
              <a:t>Ative autenticação em dois fatores (MFA)</a:t>
            </a:r>
          </a:p>
        </p:txBody>
      </p:sp>
      <p:sp>
        <p:nvSpPr>
          <p:cNvPr id="24" name="LBullet3">
            <a:extLst>
              <a:ext uri="{FF2B5EF4-FFF2-40B4-BE49-F238E27FC236}">
                <a16:creationId xmlns:a16="http://schemas.microsoft.com/office/drawing/2014/main" xmlns="" id="{FF963028-E164-32D1-61FB-077649D4BA0A}"/>
              </a:ext>
            </a:extLst>
          </p:cNvPr>
          <p:cNvSpPr/>
          <p:nvPr/>
        </p:nvSpPr>
        <p:spPr>
          <a:xfrm>
            <a:off x="482600" y="3517900"/>
            <a:ext cx="127000" cy="127000"/>
          </a:xfrm>
          <a:prstGeom prst="ellipse">
            <a:avLst/>
          </a:prstGeom>
          <a:solidFill>
            <a:srgbClr val="1A7A3A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1A7A3A"/>
              </a:solidFill>
            </a:endParaRPr>
          </a:p>
        </p:txBody>
      </p:sp>
      <p:sp>
        <p:nvSpPr>
          <p:cNvPr id="25" name="LText3">
            <a:extLst>
              <a:ext uri="{FF2B5EF4-FFF2-40B4-BE49-F238E27FC236}">
                <a16:creationId xmlns:a16="http://schemas.microsoft.com/office/drawing/2014/main" xmlns="" id="{09DB1418-9C3B-2AD6-0D44-DBEF372973AD}"/>
              </a:ext>
            </a:extLst>
          </p:cNvPr>
          <p:cNvSpPr/>
          <p:nvPr/>
        </p:nvSpPr>
        <p:spPr>
          <a:xfrm>
            <a:off x="736600" y="34544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lIns="45720" tIns="0" rIns="45720" bIns="0" anchor="ctr"/>
          <a:lstStyle/>
          <a:p>
            <a:pPr algn="l"/>
            <a:r>
              <a:rPr lang="pt-BR" sz="1400" dirty="0">
                <a:solidFill>
                  <a:srgbClr val="333333"/>
                </a:solidFill>
                <a:latin typeface="Segoe UI"/>
              </a:rPr>
              <a:t>Use senha diferente para cada sistema</a:t>
            </a:r>
          </a:p>
        </p:txBody>
      </p:sp>
      <p:sp>
        <p:nvSpPr>
          <p:cNvPr id="26" name="LBullet4">
            <a:extLst>
              <a:ext uri="{FF2B5EF4-FFF2-40B4-BE49-F238E27FC236}">
                <a16:creationId xmlns:a16="http://schemas.microsoft.com/office/drawing/2014/main" xmlns="" id="{FBA369FF-2B04-C7DC-08FD-0EB2E1806E1A}"/>
              </a:ext>
            </a:extLst>
          </p:cNvPr>
          <p:cNvSpPr/>
          <p:nvPr/>
        </p:nvSpPr>
        <p:spPr>
          <a:xfrm>
            <a:off x="482600" y="4089400"/>
            <a:ext cx="127000" cy="127000"/>
          </a:xfrm>
          <a:prstGeom prst="ellipse">
            <a:avLst/>
          </a:prstGeom>
          <a:solidFill>
            <a:srgbClr val="1A7A3A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1A7A3A"/>
              </a:solidFill>
            </a:endParaRPr>
          </a:p>
        </p:txBody>
      </p:sp>
      <p:sp>
        <p:nvSpPr>
          <p:cNvPr id="27" name="LText4">
            <a:extLst>
              <a:ext uri="{FF2B5EF4-FFF2-40B4-BE49-F238E27FC236}">
                <a16:creationId xmlns:a16="http://schemas.microsoft.com/office/drawing/2014/main" xmlns="" id="{2E99B371-66DB-BC49-93AD-7DA9DBB15BE4}"/>
              </a:ext>
            </a:extLst>
          </p:cNvPr>
          <p:cNvSpPr/>
          <p:nvPr/>
        </p:nvSpPr>
        <p:spPr>
          <a:xfrm>
            <a:off x="736600" y="40259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lIns="45720" tIns="0" rIns="45720" bIns="0" anchor="ctr"/>
          <a:lstStyle/>
          <a:p>
            <a:pPr algn="l"/>
            <a:r>
              <a:rPr lang="pt-BR" sz="1400" dirty="0">
                <a:solidFill>
                  <a:srgbClr val="333333"/>
                </a:solidFill>
                <a:latin typeface="Segoe UI"/>
              </a:rPr>
              <a:t>Bloqueie o computador ao se ausentar</a:t>
            </a:r>
          </a:p>
        </p:txBody>
      </p:sp>
      <p:sp>
        <p:nvSpPr>
          <p:cNvPr id="28" name="RightCard">
            <a:extLst>
              <a:ext uri="{FF2B5EF4-FFF2-40B4-BE49-F238E27FC236}">
                <a16:creationId xmlns:a16="http://schemas.microsoft.com/office/drawing/2014/main" xmlns="" id="{612F36D0-DBA9-1AC0-CB47-A816F6B0EDC9}"/>
              </a:ext>
            </a:extLst>
          </p:cNvPr>
          <p:cNvSpPr/>
          <p:nvPr/>
        </p:nvSpPr>
        <p:spPr>
          <a:xfrm>
            <a:off x="4724400" y="1206500"/>
            <a:ext cx="4114800" cy="3683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50800" dist="254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 dirty="0">
              <a:solidFill>
                <a:srgbClr val="333333"/>
              </a:solidFill>
            </a:endParaRPr>
          </a:p>
        </p:txBody>
      </p:sp>
      <p:sp>
        <p:nvSpPr>
          <p:cNvPr id="29" name="RightRedBar">
            <a:extLst>
              <a:ext uri="{FF2B5EF4-FFF2-40B4-BE49-F238E27FC236}">
                <a16:creationId xmlns:a16="http://schemas.microsoft.com/office/drawing/2014/main" xmlns="" id="{7377DC94-DFEC-CCA4-3EE0-7A9D04775961}"/>
              </a:ext>
            </a:extLst>
          </p:cNvPr>
          <p:cNvSpPr/>
          <p:nvPr/>
        </p:nvSpPr>
        <p:spPr>
          <a:xfrm>
            <a:off x="4724400" y="1206500"/>
            <a:ext cx="76200" cy="368300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CC3333"/>
              </a:solidFill>
            </a:endParaRPr>
          </a:p>
        </p:txBody>
      </p:sp>
      <p:sp>
        <p:nvSpPr>
          <p:cNvPr id="30" name="RightHeader">
            <a:extLst>
              <a:ext uri="{FF2B5EF4-FFF2-40B4-BE49-F238E27FC236}">
                <a16:creationId xmlns:a16="http://schemas.microsoft.com/office/drawing/2014/main" xmlns="" id="{F79A22C8-020A-1D72-7CE3-14B16B955418}"/>
              </a:ext>
            </a:extLst>
          </p:cNvPr>
          <p:cNvSpPr/>
          <p:nvPr/>
        </p:nvSpPr>
        <p:spPr>
          <a:xfrm>
            <a:off x="4800600" y="1206500"/>
            <a:ext cx="4038600" cy="40640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txBody>
          <a:bodyPr lIns="182880" tIns="45720" rIns="91440" bIns="45720" anchor="ctr"/>
          <a:lstStyle/>
          <a:p>
            <a:pPr algn="l"/>
            <a:r>
              <a:rPr lang="pt-BR" sz="1800" b="1" dirty="0">
                <a:solidFill>
                  <a:srgbClr val="FFFFFF"/>
                </a:solidFill>
                <a:latin typeface="Segoe UI"/>
              </a:rPr>
              <a:t>Evite esses erros</a:t>
            </a:r>
          </a:p>
        </p:txBody>
      </p:sp>
      <p:sp>
        <p:nvSpPr>
          <p:cNvPr id="31" name="RBullet0">
            <a:extLst>
              <a:ext uri="{FF2B5EF4-FFF2-40B4-BE49-F238E27FC236}">
                <a16:creationId xmlns:a16="http://schemas.microsoft.com/office/drawing/2014/main" xmlns="" id="{1CBE69AC-14AA-C8CA-2D96-62826F17408A}"/>
              </a:ext>
            </a:extLst>
          </p:cNvPr>
          <p:cNvSpPr/>
          <p:nvPr/>
        </p:nvSpPr>
        <p:spPr>
          <a:xfrm>
            <a:off x="4902200" y="1803400"/>
            <a:ext cx="127000" cy="127000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CC3333"/>
              </a:solidFill>
            </a:endParaRPr>
          </a:p>
        </p:txBody>
      </p:sp>
      <p:sp>
        <p:nvSpPr>
          <p:cNvPr id="32" name="RText0">
            <a:extLst>
              <a:ext uri="{FF2B5EF4-FFF2-40B4-BE49-F238E27FC236}">
                <a16:creationId xmlns:a16="http://schemas.microsoft.com/office/drawing/2014/main" xmlns="" id="{D71249B6-682A-D93F-5B41-BCB0D593B231}"/>
              </a:ext>
            </a:extLst>
          </p:cNvPr>
          <p:cNvSpPr/>
          <p:nvPr/>
        </p:nvSpPr>
        <p:spPr>
          <a:xfrm>
            <a:off x="5156200" y="17399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lIns="45720" tIns="0" rIns="45720" bIns="0" anchor="ctr"/>
          <a:lstStyle/>
          <a:p>
            <a:pPr algn="l"/>
            <a:r>
              <a:rPr lang="pt-BR" sz="1400" dirty="0">
                <a:solidFill>
                  <a:srgbClr val="333333"/>
                </a:solidFill>
                <a:latin typeface="Segoe UI"/>
              </a:rPr>
              <a:t>Não compartilhe sua senha</a:t>
            </a:r>
          </a:p>
        </p:txBody>
      </p:sp>
      <p:sp>
        <p:nvSpPr>
          <p:cNvPr id="33" name="RBullet1">
            <a:extLst>
              <a:ext uri="{FF2B5EF4-FFF2-40B4-BE49-F238E27FC236}">
                <a16:creationId xmlns:a16="http://schemas.microsoft.com/office/drawing/2014/main" xmlns="" id="{234EDAD0-B1AD-A660-04B0-587E0ADE05C8}"/>
              </a:ext>
            </a:extLst>
          </p:cNvPr>
          <p:cNvSpPr/>
          <p:nvPr/>
        </p:nvSpPr>
        <p:spPr>
          <a:xfrm>
            <a:off x="4902200" y="2374900"/>
            <a:ext cx="127000" cy="127000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CC3333"/>
              </a:solidFill>
            </a:endParaRPr>
          </a:p>
        </p:txBody>
      </p:sp>
      <p:sp>
        <p:nvSpPr>
          <p:cNvPr id="34" name="RText1">
            <a:extLst>
              <a:ext uri="{FF2B5EF4-FFF2-40B4-BE49-F238E27FC236}">
                <a16:creationId xmlns:a16="http://schemas.microsoft.com/office/drawing/2014/main" xmlns="" id="{7375ED52-6A2C-6FB8-A2A4-9F5BD766FDBA}"/>
              </a:ext>
            </a:extLst>
          </p:cNvPr>
          <p:cNvSpPr/>
          <p:nvPr/>
        </p:nvSpPr>
        <p:spPr>
          <a:xfrm>
            <a:off x="5156200" y="23114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lIns="45720" tIns="0" rIns="45720" bIns="0" anchor="ctr"/>
          <a:lstStyle/>
          <a:p>
            <a:pPr algn="l"/>
            <a:r>
              <a:rPr lang="pt-BR" sz="1400" dirty="0">
                <a:solidFill>
                  <a:srgbClr val="333333"/>
                </a:solidFill>
                <a:latin typeface="Segoe UI"/>
              </a:rPr>
              <a:t>Não use dados pessoais (nome, data, CPF)</a:t>
            </a:r>
          </a:p>
        </p:txBody>
      </p:sp>
      <p:sp>
        <p:nvSpPr>
          <p:cNvPr id="35" name="RBullet2">
            <a:extLst>
              <a:ext uri="{FF2B5EF4-FFF2-40B4-BE49-F238E27FC236}">
                <a16:creationId xmlns:a16="http://schemas.microsoft.com/office/drawing/2014/main" xmlns="" id="{AB151A12-F0E6-5B09-E749-0624F764B8CE}"/>
              </a:ext>
            </a:extLst>
          </p:cNvPr>
          <p:cNvSpPr/>
          <p:nvPr/>
        </p:nvSpPr>
        <p:spPr>
          <a:xfrm>
            <a:off x="4902200" y="2946400"/>
            <a:ext cx="127000" cy="127000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CC3333"/>
              </a:solidFill>
            </a:endParaRPr>
          </a:p>
        </p:txBody>
      </p:sp>
      <p:sp>
        <p:nvSpPr>
          <p:cNvPr id="36" name="RText2">
            <a:extLst>
              <a:ext uri="{FF2B5EF4-FFF2-40B4-BE49-F238E27FC236}">
                <a16:creationId xmlns:a16="http://schemas.microsoft.com/office/drawing/2014/main" xmlns="" id="{0BC9302D-C174-C9CC-A857-5530F5487D6F}"/>
              </a:ext>
            </a:extLst>
          </p:cNvPr>
          <p:cNvSpPr/>
          <p:nvPr/>
        </p:nvSpPr>
        <p:spPr>
          <a:xfrm>
            <a:off x="5156200" y="28829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lIns="45720" tIns="0" rIns="45720" bIns="0" anchor="ctr"/>
          <a:lstStyle/>
          <a:p>
            <a:pPr algn="l"/>
            <a:r>
              <a:rPr lang="pt-BR" sz="1400" dirty="0">
                <a:solidFill>
                  <a:srgbClr val="333333"/>
                </a:solidFill>
                <a:latin typeface="Segoe UI"/>
              </a:rPr>
              <a:t>Não anote senhas em locais visíveis</a:t>
            </a:r>
          </a:p>
        </p:txBody>
      </p:sp>
      <p:sp>
        <p:nvSpPr>
          <p:cNvPr id="37" name="RBullet3">
            <a:extLst>
              <a:ext uri="{FF2B5EF4-FFF2-40B4-BE49-F238E27FC236}">
                <a16:creationId xmlns:a16="http://schemas.microsoft.com/office/drawing/2014/main" xmlns="" id="{81CFA2E4-0538-A7E6-07AA-A550E9C0B9EE}"/>
              </a:ext>
            </a:extLst>
          </p:cNvPr>
          <p:cNvSpPr/>
          <p:nvPr/>
        </p:nvSpPr>
        <p:spPr>
          <a:xfrm>
            <a:off x="4902200" y="3517900"/>
            <a:ext cx="127000" cy="127000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CC3333"/>
              </a:solidFill>
            </a:endParaRPr>
          </a:p>
        </p:txBody>
      </p:sp>
      <p:sp>
        <p:nvSpPr>
          <p:cNvPr id="38" name="RText3">
            <a:extLst>
              <a:ext uri="{FF2B5EF4-FFF2-40B4-BE49-F238E27FC236}">
                <a16:creationId xmlns:a16="http://schemas.microsoft.com/office/drawing/2014/main" xmlns="" id="{5CDA850E-2630-F7BD-81F7-79C39E83F9BA}"/>
              </a:ext>
            </a:extLst>
          </p:cNvPr>
          <p:cNvSpPr/>
          <p:nvPr/>
        </p:nvSpPr>
        <p:spPr>
          <a:xfrm>
            <a:off x="5156200" y="34544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lIns="45720" tIns="0" rIns="45720" bIns="0" anchor="ctr"/>
          <a:lstStyle/>
          <a:p>
            <a:pPr algn="l"/>
            <a:r>
              <a:rPr lang="pt-BR" sz="1400" dirty="0">
                <a:solidFill>
                  <a:srgbClr val="333333"/>
                </a:solidFill>
                <a:latin typeface="Segoe UI"/>
              </a:rPr>
              <a:t>Não reutilize a mesma senha</a:t>
            </a:r>
          </a:p>
        </p:txBody>
      </p:sp>
      <p:sp>
        <p:nvSpPr>
          <p:cNvPr id="39" name="RBullet4">
            <a:extLst>
              <a:ext uri="{FF2B5EF4-FFF2-40B4-BE49-F238E27FC236}">
                <a16:creationId xmlns:a16="http://schemas.microsoft.com/office/drawing/2014/main" xmlns="" id="{D48788ED-1B30-08B7-FC29-56B327BA3AFC}"/>
              </a:ext>
            </a:extLst>
          </p:cNvPr>
          <p:cNvSpPr/>
          <p:nvPr/>
        </p:nvSpPr>
        <p:spPr>
          <a:xfrm>
            <a:off x="4902200" y="4089400"/>
            <a:ext cx="127000" cy="127000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CC3333"/>
              </a:solidFill>
            </a:endParaRPr>
          </a:p>
        </p:txBody>
      </p:sp>
      <p:sp>
        <p:nvSpPr>
          <p:cNvPr id="40" name="RText4">
            <a:extLst>
              <a:ext uri="{FF2B5EF4-FFF2-40B4-BE49-F238E27FC236}">
                <a16:creationId xmlns:a16="http://schemas.microsoft.com/office/drawing/2014/main" xmlns="" id="{A6CF961D-5E0C-C583-54CF-046E91F0284D}"/>
              </a:ext>
            </a:extLst>
          </p:cNvPr>
          <p:cNvSpPr/>
          <p:nvPr/>
        </p:nvSpPr>
        <p:spPr>
          <a:xfrm>
            <a:off x="5156200" y="40259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lIns="45720" tIns="0" rIns="45720" bIns="0" anchor="ctr"/>
          <a:lstStyle/>
          <a:p>
            <a:pPr algn="l"/>
            <a:r>
              <a:rPr lang="pt-BR" sz="1400" dirty="0">
                <a:solidFill>
                  <a:srgbClr val="333333"/>
                </a:solidFill>
                <a:latin typeface="Segoe UI"/>
              </a:rPr>
              <a:t>Não deixe sessões abertas</a:t>
            </a:r>
          </a:p>
        </p:txBody>
      </p:sp>
    </p:spTree>
    <p:extLst>
      <p:ext uri="{BB962C8B-B14F-4D97-AF65-F5344CB8AC3E}">
        <p14:creationId xmlns:p14="http://schemas.microsoft.com/office/powerpoint/2010/main" val="2901876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C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8"/>
          <p:cNvSpPr/>
          <p:nvPr/>
        </p:nvSpPr>
        <p:spPr>
          <a:xfrm>
            <a:off x="8732520" y="2098834"/>
            <a:ext cx="1371600" cy="1371600"/>
          </a:xfrm>
          <a:prstGeom prst="ellipse">
            <a:avLst/>
          </a:prstGeom>
          <a:solidFill>
            <a:srgbClr val="E6B800">
              <a:alpha val="50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0" y="2651760"/>
            <a:ext cx="2194560" cy="2194560"/>
          </a:xfrm>
          <a:prstGeom prst="ellipse">
            <a:avLst/>
          </a:prstGeom>
          <a:solidFill>
            <a:srgbClr val="E6B800">
              <a:alpha val="40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6"/>
          <p:cNvSpPr/>
          <p:nvPr/>
        </p:nvSpPr>
        <p:spPr>
          <a:xfrm>
            <a:off x="3017520" y="-182880"/>
            <a:ext cx="1645920" cy="1645920"/>
          </a:xfrm>
          <a:prstGeom prst="ellipse">
            <a:avLst/>
          </a:prstGeom>
          <a:solidFill>
            <a:srgbClr val="E6B800">
              <a:alpha val="50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xmlns="" id="{6DA1F4CA-5BDD-57A2-F097-408D771C84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38" t="10876" r="4821" b="16808"/>
          <a:stretch>
            <a:fillRect/>
          </a:stretch>
        </p:blipFill>
        <p:spPr>
          <a:xfrm>
            <a:off x="5685678" y="2318147"/>
            <a:ext cx="2754686" cy="2304574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347472" y="548640"/>
            <a:ext cx="54864" cy="402336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4400" b="1" noProof="0" dirty="0">
                <a:solidFill>
                  <a:srgbClr val="3D3D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PHISHING, ENGENHARIA SOCIAL</a:t>
            </a:r>
            <a:endParaRPr lang="pt-BR" sz="44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4400" b="1" noProof="0" dirty="0">
                <a:solidFill>
                  <a:srgbClr val="3D3D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 GOLPES DIGITAIS</a:t>
            </a:r>
            <a:endParaRPr lang="pt-BR" sz="44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201168" cy="347472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557784" y="297180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pt-BR" sz="11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700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identificar e se proteger de ataques</a:t>
            </a:r>
            <a:endParaRPr lang="pt-BR" sz="1700" noProof="0" dirty="0"/>
          </a:p>
        </p:txBody>
      </p:sp>
      <p:sp>
        <p:nvSpPr>
          <p:cNvPr id="11" name="Shape 9"/>
          <p:cNvSpPr/>
          <p:nvPr/>
        </p:nvSpPr>
        <p:spPr>
          <a:xfrm>
            <a:off x="8503920" y="274320"/>
            <a:ext cx="457200" cy="45720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850392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FFC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</a:t>
            </a:r>
            <a:endParaRPr lang="pt-BR" sz="14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DDCCAA"/>
          </a:solidFill>
          <a:ln w="12700">
            <a:solidFill>
              <a:srgbClr val="DDCCA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100" noProof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— PHISHING, ENGENHARIA SOCIAL E GOLPES DIGITAIS</a:t>
            </a:r>
            <a:endParaRPr lang="pt-BR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200" noProof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PHISHING?</a:t>
            </a:r>
            <a:endParaRPr lang="pt-BR" sz="2200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22860"/>
          </a:xfrm>
          <a:prstGeom prst="rect">
            <a:avLst/>
          </a:prstGeom>
          <a:solidFill>
            <a:srgbClr val="CCBBAA"/>
          </a:solidFill>
          <a:ln w="12700">
            <a:solidFill>
              <a:srgbClr val="CCBBA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09728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1430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i="1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Tentativa de enganar o usuário para que clique em links maliciosos, baixe arquivos infectados ou revele informações confidenciais.</a:t>
            </a:r>
            <a:endParaRPr lang="pt-BR" sz="1250" noProof="0" dirty="0"/>
          </a:p>
        </p:txBody>
      </p:sp>
      <p:sp>
        <p:nvSpPr>
          <p:cNvPr id="24" name="Card310">
            <a:extLst>
              <a:ext uri="{FF2B5EF4-FFF2-40B4-BE49-F238E27FC236}">
                <a16:creationId xmlns:a16="http://schemas.microsoft.com/office/drawing/2014/main" xmlns="" id="{28F3BB7A-00FD-9E58-4928-D61BE4BCF9B2}"/>
              </a:ext>
            </a:extLst>
          </p:cNvPr>
          <p:cNvSpPr/>
          <p:nvPr/>
        </p:nvSpPr>
        <p:spPr>
          <a:xfrm>
            <a:off x="358503" y="1701800"/>
            <a:ext cx="4165600" cy="1524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38100" dist="19050" dir="5400000" algn="ctr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>
              <a:solidFill>
                <a:srgbClr val="333333"/>
              </a:solidFill>
            </a:endParaRPr>
          </a:p>
        </p:txBody>
      </p:sp>
      <p:sp>
        <p:nvSpPr>
          <p:cNvPr id="25" name="TopAccent310">
            <a:extLst>
              <a:ext uri="{FF2B5EF4-FFF2-40B4-BE49-F238E27FC236}">
                <a16:creationId xmlns:a16="http://schemas.microsoft.com/office/drawing/2014/main" xmlns="" id="{FC4F0130-76D0-E7CB-BB14-E6B9A70B8675}"/>
              </a:ext>
            </a:extLst>
          </p:cNvPr>
          <p:cNvSpPr/>
          <p:nvPr/>
        </p:nvSpPr>
        <p:spPr>
          <a:xfrm>
            <a:off x="358503" y="1701800"/>
            <a:ext cx="4165600" cy="76200"/>
          </a:xfrm>
          <a:prstGeom prst="roundRect">
            <a:avLst>
              <a:gd name="adj" fmla="val 8000"/>
            </a:avLst>
          </a:prstGeom>
          <a:solidFill>
            <a:srgbClr val="CC3333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CC3333"/>
              </a:solidFill>
            </a:endParaRPr>
          </a:p>
        </p:txBody>
      </p:sp>
      <p:sp>
        <p:nvSpPr>
          <p:cNvPr id="26" name="IconCircle310">
            <a:extLst>
              <a:ext uri="{FF2B5EF4-FFF2-40B4-BE49-F238E27FC236}">
                <a16:creationId xmlns:a16="http://schemas.microsoft.com/office/drawing/2014/main" xmlns="" id="{63C5040D-F43B-C6A9-F975-D58BDCBF0C04}"/>
              </a:ext>
            </a:extLst>
          </p:cNvPr>
          <p:cNvSpPr/>
          <p:nvPr/>
        </p:nvSpPr>
        <p:spPr>
          <a:xfrm>
            <a:off x="510903" y="1854200"/>
            <a:ext cx="381000" cy="381000"/>
          </a:xfrm>
          <a:prstGeom prst="ellipse">
            <a:avLst/>
          </a:prstGeom>
          <a:solidFill>
            <a:srgbClr val="CC3333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CC3333"/>
              </a:solidFill>
            </a:endParaRPr>
          </a:p>
        </p:txBody>
      </p:sp>
      <p:sp>
        <p:nvSpPr>
          <p:cNvPr id="27" name="CardTitle310">
            <a:extLst>
              <a:ext uri="{FF2B5EF4-FFF2-40B4-BE49-F238E27FC236}">
                <a16:creationId xmlns:a16="http://schemas.microsoft.com/office/drawing/2014/main" xmlns="" id="{76CB2B0D-4CD5-C952-C082-8C25EE27074B}"/>
              </a:ext>
            </a:extLst>
          </p:cNvPr>
          <p:cNvSpPr/>
          <p:nvPr/>
        </p:nvSpPr>
        <p:spPr>
          <a:xfrm>
            <a:off x="993503" y="18542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pt-BR" sz="1500" b="1" dirty="0">
                <a:solidFill>
                  <a:srgbClr val="CC3333"/>
                </a:solidFill>
                <a:latin typeface="Segoe UI"/>
              </a:rPr>
              <a:t>Urgência ou pressão</a:t>
            </a:r>
          </a:p>
        </p:txBody>
      </p:sp>
      <p:sp>
        <p:nvSpPr>
          <p:cNvPr id="28" name="Example310">
            <a:extLst>
              <a:ext uri="{FF2B5EF4-FFF2-40B4-BE49-F238E27FC236}">
                <a16:creationId xmlns:a16="http://schemas.microsoft.com/office/drawing/2014/main" xmlns="" id="{7D3350FB-F525-6DBB-10B4-14283B7B1C37}"/>
              </a:ext>
            </a:extLst>
          </p:cNvPr>
          <p:cNvSpPr/>
          <p:nvPr/>
        </p:nvSpPr>
        <p:spPr>
          <a:xfrm>
            <a:off x="510903" y="2311400"/>
            <a:ext cx="3860800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pt-BR" sz="1200" i="1" dirty="0">
                <a:solidFill>
                  <a:srgbClr val="666666"/>
                </a:solidFill>
                <a:latin typeface="Segoe UI"/>
              </a:rPr>
              <a:t>"Sua conta será bloqueada em 24h!"</a:t>
            </a:r>
          </a:p>
        </p:txBody>
      </p:sp>
      <p:sp>
        <p:nvSpPr>
          <p:cNvPr id="29" name="Action310">
            <a:extLst>
              <a:ext uri="{FF2B5EF4-FFF2-40B4-BE49-F238E27FC236}">
                <a16:creationId xmlns:a16="http://schemas.microsoft.com/office/drawing/2014/main" xmlns="" id="{0EAF3590-0C3A-345B-74B2-BBCE5B5458FE}"/>
              </a:ext>
            </a:extLst>
          </p:cNvPr>
          <p:cNvSpPr/>
          <p:nvPr/>
        </p:nvSpPr>
        <p:spPr>
          <a:xfrm>
            <a:off x="510903" y="2616200"/>
            <a:ext cx="3860800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pt-BR" sz="1200" b="1" dirty="0">
                <a:solidFill>
                  <a:srgbClr val="1A7A3A"/>
                </a:solidFill>
                <a:latin typeface="Segoe UI"/>
              </a:rPr>
              <a:t>→ </a:t>
            </a:r>
            <a:r>
              <a:rPr lang="pt-BR" sz="1200" dirty="0">
                <a:solidFill>
                  <a:srgbClr val="333333"/>
                </a:solidFill>
                <a:latin typeface="Segoe UI"/>
              </a:rPr>
              <a:t>Desconfie de mensagens com urgência.</a:t>
            </a:r>
          </a:p>
        </p:txBody>
      </p:sp>
      <p:sp>
        <p:nvSpPr>
          <p:cNvPr id="30" name="Card320">
            <a:extLst>
              <a:ext uri="{FF2B5EF4-FFF2-40B4-BE49-F238E27FC236}">
                <a16:creationId xmlns:a16="http://schemas.microsoft.com/office/drawing/2014/main" xmlns="" id="{3D6457C1-6F23-7BE5-4EDF-7F55FEF904C3}"/>
              </a:ext>
            </a:extLst>
          </p:cNvPr>
          <p:cNvSpPr/>
          <p:nvPr/>
        </p:nvSpPr>
        <p:spPr>
          <a:xfrm>
            <a:off x="4727303" y="1701800"/>
            <a:ext cx="4165600" cy="1524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38100" dist="19050" dir="5400000" algn="ctr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>
              <a:solidFill>
                <a:srgbClr val="333333"/>
              </a:solidFill>
            </a:endParaRPr>
          </a:p>
        </p:txBody>
      </p:sp>
      <p:sp>
        <p:nvSpPr>
          <p:cNvPr id="31" name="TopAccent320">
            <a:extLst>
              <a:ext uri="{FF2B5EF4-FFF2-40B4-BE49-F238E27FC236}">
                <a16:creationId xmlns:a16="http://schemas.microsoft.com/office/drawing/2014/main" xmlns="" id="{8FCB9008-1AA9-E738-E581-5B7D9CFEFDD1}"/>
              </a:ext>
            </a:extLst>
          </p:cNvPr>
          <p:cNvSpPr/>
          <p:nvPr/>
        </p:nvSpPr>
        <p:spPr>
          <a:xfrm>
            <a:off x="4727303" y="1701800"/>
            <a:ext cx="4165600" cy="76200"/>
          </a:xfrm>
          <a:prstGeom prst="roundRect">
            <a:avLst>
              <a:gd name="adj" fmla="val 8000"/>
            </a:avLst>
          </a:prstGeom>
          <a:solidFill>
            <a:srgbClr val="2A6BB5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2A6BB5"/>
              </a:solidFill>
            </a:endParaRPr>
          </a:p>
        </p:txBody>
      </p:sp>
      <p:sp>
        <p:nvSpPr>
          <p:cNvPr id="32" name="IconCircle320">
            <a:extLst>
              <a:ext uri="{FF2B5EF4-FFF2-40B4-BE49-F238E27FC236}">
                <a16:creationId xmlns:a16="http://schemas.microsoft.com/office/drawing/2014/main" xmlns="" id="{690D1B5A-0D48-70C4-AE6E-84311DCDF289}"/>
              </a:ext>
            </a:extLst>
          </p:cNvPr>
          <p:cNvSpPr/>
          <p:nvPr/>
        </p:nvSpPr>
        <p:spPr>
          <a:xfrm>
            <a:off x="4879703" y="1854200"/>
            <a:ext cx="381000" cy="381000"/>
          </a:xfrm>
          <a:prstGeom prst="ellipse">
            <a:avLst/>
          </a:prstGeom>
          <a:solidFill>
            <a:srgbClr val="2A6BB5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2A6BB5"/>
              </a:solidFill>
            </a:endParaRPr>
          </a:p>
        </p:txBody>
      </p:sp>
      <p:sp>
        <p:nvSpPr>
          <p:cNvPr id="33" name="CardTitle320">
            <a:extLst>
              <a:ext uri="{FF2B5EF4-FFF2-40B4-BE49-F238E27FC236}">
                <a16:creationId xmlns:a16="http://schemas.microsoft.com/office/drawing/2014/main" xmlns="" id="{01BF929A-F4EE-9870-7A32-815014F13D23}"/>
              </a:ext>
            </a:extLst>
          </p:cNvPr>
          <p:cNvSpPr/>
          <p:nvPr/>
        </p:nvSpPr>
        <p:spPr>
          <a:xfrm>
            <a:off x="5362303" y="18542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pt-BR" sz="1500" b="1" dirty="0">
                <a:solidFill>
                  <a:srgbClr val="2A6BB5"/>
                </a:solidFill>
                <a:latin typeface="Segoe UI"/>
              </a:rPr>
              <a:t>Remetente suspeito</a:t>
            </a:r>
          </a:p>
        </p:txBody>
      </p:sp>
      <p:sp>
        <p:nvSpPr>
          <p:cNvPr id="34" name="Example320">
            <a:extLst>
              <a:ext uri="{FF2B5EF4-FFF2-40B4-BE49-F238E27FC236}">
                <a16:creationId xmlns:a16="http://schemas.microsoft.com/office/drawing/2014/main" xmlns="" id="{601D55F9-788F-CF81-92BB-AB47378ECBF5}"/>
              </a:ext>
            </a:extLst>
          </p:cNvPr>
          <p:cNvSpPr/>
          <p:nvPr/>
        </p:nvSpPr>
        <p:spPr>
          <a:xfrm>
            <a:off x="4879703" y="2311400"/>
            <a:ext cx="3860800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pt-BR" sz="1200" i="1" dirty="0">
                <a:solidFill>
                  <a:srgbClr val="666666"/>
                </a:solidFill>
                <a:latin typeface="Segoe UI"/>
              </a:rPr>
              <a:t>E-mails falsos: funserv.br@gmail.com</a:t>
            </a:r>
          </a:p>
        </p:txBody>
      </p:sp>
      <p:sp>
        <p:nvSpPr>
          <p:cNvPr id="35" name="Action320">
            <a:extLst>
              <a:ext uri="{FF2B5EF4-FFF2-40B4-BE49-F238E27FC236}">
                <a16:creationId xmlns:a16="http://schemas.microsoft.com/office/drawing/2014/main" xmlns="" id="{FD6FCAD5-1D4D-420D-5D82-18C769C2CE82}"/>
              </a:ext>
            </a:extLst>
          </p:cNvPr>
          <p:cNvSpPr/>
          <p:nvPr/>
        </p:nvSpPr>
        <p:spPr>
          <a:xfrm>
            <a:off x="4879703" y="2616200"/>
            <a:ext cx="3860800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pt-BR" sz="1200" b="1" dirty="0">
                <a:solidFill>
                  <a:srgbClr val="1A7A3A"/>
                </a:solidFill>
                <a:latin typeface="Segoe UI"/>
              </a:rPr>
              <a:t>→ </a:t>
            </a:r>
            <a:r>
              <a:rPr lang="pt-BR" sz="1200" dirty="0">
                <a:solidFill>
                  <a:srgbClr val="333333"/>
                </a:solidFill>
                <a:latin typeface="Segoe UI"/>
              </a:rPr>
              <a:t>Verifique o domínio do remetente.</a:t>
            </a:r>
          </a:p>
        </p:txBody>
      </p:sp>
      <p:sp>
        <p:nvSpPr>
          <p:cNvPr id="36" name="Card330">
            <a:extLst>
              <a:ext uri="{FF2B5EF4-FFF2-40B4-BE49-F238E27FC236}">
                <a16:creationId xmlns:a16="http://schemas.microsoft.com/office/drawing/2014/main" xmlns="" id="{FC3DD12F-EC09-F7E1-8364-157EEEA6E25C}"/>
              </a:ext>
            </a:extLst>
          </p:cNvPr>
          <p:cNvSpPr/>
          <p:nvPr/>
        </p:nvSpPr>
        <p:spPr>
          <a:xfrm>
            <a:off x="358503" y="3378200"/>
            <a:ext cx="4165600" cy="1524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38100" dist="19050" dir="5400000" algn="ctr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>
              <a:solidFill>
                <a:srgbClr val="333333"/>
              </a:solidFill>
            </a:endParaRPr>
          </a:p>
        </p:txBody>
      </p:sp>
      <p:sp>
        <p:nvSpPr>
          <p:cNvPr id="37" name="TopAccent330">
            <a:extLst>
              <a:ext uri="{FF2B5EF4-FFF2-40B4-BE49-F238E27FC236}">
                <a16:creationId xmlns:a16="http://schemas.microsoft.com/office/drawing/2014/main" xmlns="" id="{6E181C57-2984-4FC4-6356-8B07CC4ACEBB}"/>
              </a:ext>
            </a:extLst>
          </p:cNvPr>
          <p:cNvSpPr/>
          <p:nvPr/>
        </p:nvSpPr>
        <p:spPr>
          <a:xfrm>
            <a:off x="358503" y="3378200"/>
            <a:ext cx="4165600" cy="76200"/>
          </a:xfrm>
          <a:prstGeom prst="roundRect">
            <a:avLst>
              <a:gd name="adj" fmla="val 8000"/>
            </a:avLst>
          </a:prstGeom>
          <a:solidFill>
            <a:srgbClr val="D97B1E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D97B1E"/>
              </a:solidFill>
            </a:endParaRPr>
          </a:p>
        </p:txBody>
      </p:sp>
      <p:sp>
        <p:nvSpPr>
          <p:cNvPr id="38" name="IconCircle330">
            <a:extLst>
              <a:ext uri="{FF2B5EF4-FFF2-40B4-BE49-F238E27FC236}">
                <a16:creationId xmlns:a16="http://schemas.microsoft.com/office/drawing/2014/main" xmlns="" id="{6D9FB63B-2DF0-D95A-FA41-DD65B42D24D9}"/>
              </a:ext>
            </a:extLst>
          </p:cNvPr>
          <p:cNvSpPr/>
          <p:nvPr/>
        </p:nvSpPr>
        <p:spPr>
          <a:xfrm>
            <a:off x="510903" y="3530600"/>
            <a:ext cx="381000" cy="381000"/>
          </a:xfrm>
          <a:prstGeom prst="ellipse">
            <a:avLst/>
          </a:prstGeom>
          <a:solidFill>
            <a:srgbClr val="D97B1E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D97B1E"/>
              </a:solidFill>
            </a:endParaRPr>
          </a:p>
        </p:txBody>
      </p:sp>
      <p:sp>
        <p:nvSpPr>
          <p:cNvPr id="39" name="CardTitle330">
            <a:extLst>
              <a:ext uri="{FF2B5EF4-FFF2-40B4-BE49-F238E27FC236}">
                <a16:creationId xmlns:a16="http://schemas.microsoft.com/office/drawing/2014/main" xmlns="" id="{531922AB-C284-71A6-301B-1A54FF348C65}"/>
              </a:ext>
            </a:extLst>
          </p:cNvPr>
          <p:cNvSpPr/>
          <p:nvPr/>
        </p:nvSpPr>
        <p:spPr>
          <a:xfrm>
            <a:off x="993503" y="35306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pt-BR" sz="1500" b="1" dirty="0">
                <a:solidFill>
                  <a:srgbClr val="D97B1E"/>
                </a:solidFill>
                <a:latin typeface="Segoe UI"/>
              </a:rPr>
              <a:t>Link estranho</a:t>
            </a:r>
          </a:p>
        </p:txBody>
      </p:sp>
      <p:sp>
        <p:nvSpPr>
          <p:cNvPr id="40" name="Example330">
            <a:extLst>
              <a:ext uri="{FF2B5EF4-FFF2-40B4-BE49-F238E27FC236}">
                <a16:creationId xmlns:a16="http://schemas.microsoft.com/office/drawing/2014/main" xmlns="" id="{F675DB9C-C6EB-ACB6-DBEE-1474EF96AAE2}"/>
              </a:ext>
            </a:extLst>
          </p:cNvPr>
          <p:cNvSpPr/>
          <p:nvPr/>
        </p:nvSpPr>
        <p:spPr>
          <a:xfrm>
            <a:off x="510903" y="3987800"/>
            <a:ext cx="3860800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pt-BR" sz="1200" i="1" dirty="0">
                <a:solidFill>
                  <a:srgbClr val="666666"/>
                </a:solidFill>
                <a:latin typeface="Segoe UI"/>
              </a:rPr>
              <a:t>Links encurtados ou com endereços estranhos.</a:t>
            </a:r>
          </a:p>
        </p:txBody>
      </p:sp>
      <p:sp>
        <p:nvSpPr>
          <p:cNvPr id="41" name="Action330">
            <a:extLst>
              <a:ext uri="{FF2B5EF4-FFF2-40B4-BE49-F238E27FC236}">
                <a16:creationId xmlns:a16="http://schemas.microsoft.com/office/drawing/2014/main" xmlns="" id="{859F29CB-A415-E643-8445-CC9541B70494}"/>
              </a:ext>
            </a:extLst>
          </p:cNvPr>
          <p:cNvSpPr/>
          <p:nvPr/>
        </p:nvSpPr>
        <p:spPr>
          <a:xfrm>
            <a:off x="510903" y="4292600"/>
            <a:ext cx="3860800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pt-BR" sz="1200" b="1" dirty="0">
                <a:solidFill>
                  <a:srgbClr val="1A7A3A"/>
                </a:solidFill>
                <a:latin typeface="Segoe UI"/>
              </a:rPr>
              <a:t>→ </a:t>
            </a:r>
            <a:r>
              <a:rPr lang="pt-BR" sz="1200" dirty="0">
                <a:solidFill>
                  <a:srgbClr val="333333"/>
                </a:solidFill>
                <a:latin typeface="Segoe UI"/>
              </a:rPr>
              <a:t>Passe o mouse sobre o link antes de clicar.</a:t>
            </a:r>
          </a:p>
        </p:txBody>
      </p:sp>
      <p:sp>
        <p:nvSpPr>
          <p:cNvPr id="42" name="Card340">
            <a:extLst>
              <a:ext uri="{FF2B5EF4-FFF2-40B4-BE49-F238E27FC236}">
                <a16:creationId xmlns:a16="http://schemas.microsoft.com/office/drawing/2014/main" xmlns="" id="{08B5E130-8E3E-004D-EA57-72EAD0394299}"/>
              </a:ext>
            </a:extLst>
          </p:cNvPr>
          <p:cNvSpPr/>
          <p:nvPr/>
        </p:nvSpPr>
        <p:spPr>
          <a:xfrm>
            <a:off x="4727303" y="3378200"/>
            <a:ext cx="4165600" cy="1524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38100" dist="19050" dir="5400000" algn="ctr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>
              <a:solidFill>
                <a:srgbClr val="333333"/>
              </a:solidFill>
            </a:endParaRPr>
          </a:p>
        </p:txBody>
      </p:sp>
      <p:sp>
        <p:nvSpPr>
          <p:cNvPr id="43" name="TopAccent340">
            <a:extLst>
              <a:ext uri="{FF2B5EF4-FFF2-40B4-BE49-F238E27FC236}">
                <a16:creationId xmlns:a16="http://schemas.microsoft.com/office/drawing/2014/main" xmlns="" id="{B99828CB-4A70-000C-FD76-73F9F85EFA5F}"/>
              </a:ext>
            </a:extLst>
          </p:cNvPr>
          <p:cNvSpPr/>
          <p:nvPr/>
        </p:nvSpPr>
        <p:spPr>
          <a:xfrm>
            <a:off x="4727303" y="3378200"/>
            <a:ext cx="4165600" cy="76200"/>
          </a:xfrm>
          <a:prstGeom prst="roundRect">
            <a:avLst>
              <a:gd name="adj" fmla="val 8000"/>
            </a:avLst>
          </a:prstGeom>
          <a:solidFill>
            <a:srgbClr val="3D3D3D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3D3D3D"/>
              </a:solidFill>
            </a:endParaRPr>
          </a:p>
        </p:txBody>
      </p:sp>
      <p:sp>
        <p:nvSpPr>
          <p:cNvPr id="44" name="IconCircle340">
            <a:extLst>
              <a:ext uri="{FF2B5EF4-FFF2-40B4-BE49-F238E27FC236}">
                <a16:creationId xmlns:a16="http://schemas.microsoft.com/office/drawing/2014/main" xmlns="" id="{16DF2FD3-3EBE-F4DC-5581-D6E6E88E6F10}"/>
              </a:ext>
            </a:extLst>
          </p:cNvPr>
          <p:cNvSpPr/>
          <p:nvPr/>
        </p:nvSpPr>
        <p:spPr>
          <a:xfrm>
            <a:off x="4879703" y="3530600"/>
            <a:ext cx="381000" cy="381000"/>
          </a:xfrm>
          <a:prstGeom prst="ellipse">
            <a:avLst/>
          </a:prstGeom>
          <a:solidFill>
            <a:srgbClr val="3D3D3D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3D3D3D"/>
              </a:solidFill>
            </a:endParaRPr>
          </a:p>
        </p:txBody>
      </p:sp>
      <p:sp>
        <p:nvSpPr>
          <p:cNvPr id="45" name="CardTitle340">
            <a:extLst>
              <a:ext uri="{FF2B5EF4-FFF2-40B4-BE49-F238E27FC236}">
                <a16:creationId xmlns:a16="http://schemas.microsoft.com/office/drawing/2014/main" xmlns="" id="{6D65F241-43FD-6CBF-9F0B-2DF2BBEBD8CC}"/>
              </a:ext>
            </a:extLst>
          </p:cNvPr>
          <p:cNvSpPr/>
          <p:nvPr/>
        </p:nvSpPr>
        <p:spPr>
          <a:xfrm>
            <a:off x="5362303" y="35306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pt-BR" sz="1500" b="1" dirty="0">
                <a:solidFill>
                  <a:srgbClr val="3D3D3D"/>
                </a:solidFill>
                <a:latin typeface="Segoe UI"/>
              </a:rPr>
              <a:t>Anexo inesperado</a:t>
            </a:r>
          </a:p>
        </p:txBody>
      </p:sp>
      <p:sp>
        <p:nvSpPr>
          <p:cNvPr id="46" name="Example340">
            <a:extLst>
              <a:ext uri="{FF2B5EF4-FFF2-40B4-BE49-F238E27FC236}">
                <a16:creationId xmlns:a16="http://schemas.microsoft.com/office/drawing/2014/main" xmlns="" id="{C3EEBF30-13DB-4CB2-72DB-79CF627556EA}"/>
              </a:ext>
            </a:extLst>
          </p:cNvPr>
          <p:cNvSpPr/>
          <p:nvPr/>
        </p:nvSpPr>
        <p:spPr>
          <a:xfrm>
            <a:off x="4879703" y="3987800"/>
            <a:ext cx="3860800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pt-BR" sz="1200" i="1" dirty="0">
                <a:solidFill>
                  <a:srgbClr val="666666"/>
                </a:solidFill>
                <a:latin typeface="Segoe UI"/>
              </a:rPr>
              <a:t>Arquivos .exe, .zip ou pedidos de macro.</a:t>
            </a:r>
          </a:p>
        </p:txBody>
      </p:sp>
      <p:sp>
        <p:nvSpPr>
          <p:cNvPr id="47" name="Action340">
            <a:extLst>
              <a:ext uri="{FF2B5EF4-FFF2-40B4-BE49-F238E27FC236}">
                <a16:creationId xmlns:a16="http://schemas.microsoft.com/office/drawing/2014/main" xmlns="" id="{4BABAE73-58D2-C5C3-4932-15B010FC31F4}"/>
              </a:ext>
            </a:extLst>
          </p:cNvPr>
          <p:cNvSpPr/>
          <p:nvPr/>
        </p:nvSpPr>
        <p:spPr>
          <a:xfrm>
            <a:off x="4879703" y="4292600"/>
            <a:ext cx="3860800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pt-BR" sz="1200" b="1" dirty="0">
                <a:solidFill>
                  <a:srgbClr val="1A7A3A"/>
                </a:solidFill>
                <a:latin typeface="Segoe UI"/>
              </a:rPr>
              <a:t>→ </a:t>
            </a:r>
            <a:r>
              <a:rPr lang="pt-BR" sz="1200" dirty="0">
                <a:solidFill>
                  <a:srgbClr val="333333"/>
                </a:solidFill>
                <a:latin typeface="Segoe UI"/>
              </a:rPr>
              <a:t>Não abra anexos suspeitos.</a:t>
            </a:r>
          </a:p>
        </p:txBody>
      </p:sp>
      <p:pic>
        <p:nvPicPr>
          <p:cNvPr id="48" name="Graphic 351" descr="Ícone relógio urgência">
            <a:extLst>
              <a:ext uri="{FF2B5EF4-FFF2-40B4-BE49-F238E27FC236}">
                <a16:creationId xmlns:a16="http://schemas.microsoft.com/office/drawing/2014/main" xmlns="" id="{62F051EF-38C9-6A46-ABFA-1BEC04EC45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561703" y="1905000"/>
            <a:ext cx="279400" cy="279400"/>
          </a:xfrm>
          <a:prstGeom prst="rect">
            <a:avLst/>
          </a:prstGeom>
        </p:spPr>
      </p:pic>
      <p:pic>
        <p:nvPicPr>
          <p:cNvPr id="49" name="Graphic 352" descr="Ícone e-mail remetente">
            <a:extLst>
              <a:ext uri="{FF2B5EF4-FFF2-40B4-BE49-F238E27FC236}">
                <a16:creationId xmlns:a16="http://schemas.microsoft.com/office/drawing/2014/main" xmlns="" id="{AC5ABEF8-5F29-269A-FA88-62A5BDE181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930503" y="1899920"/>
            <a:ext cx="279400" cy="279400"/>
          </a:xfrm>
          <a:prstGeom prst="rect">
            <a:avLst/>
          </a:prstGeom>
        </p:spPr>
      </p:pic>
      <p:pic>
        <p:nvPicPr>
          <p:cNvPr id="50" name="Graphic 353" descr="Ícone cursor link">
            <a:extLst>
              <a:ext uri="{FF2B5EF4-FFF2-40B4-BE49-F238E27FC236}">
                <a16:creationId xmlns:a16="http://schemas.microsoft.com/office/drawing/2014/main" xmlns="" id="{A7B77562-2912-9D79-7EBB-7F46C63DBA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561703" y="3581400"/>
            <a:ext cx="279400" cy="279400"/>
          </a:xfrm>
          <a:prstGeom prst="rect">
            <a:avLst/>
          </a:prstGeom>
        </p:spPr>
      </p:pic>
      <p:pic>
        <p:nvPicPr>
          <p:cNvPr id="51" name="Graphic 354" descr="Ícone anexo clip">
            <a:extLst>
              <a:ext uri="{FF2B5EF4-FFF2-40B4-BE49-F238E27FC236}">
                <a16:creationId xmlns:a16="http://schemas.microsoft.com/office/drawing/2014/main" xmlns="" id="{935B4976-D883-6396-BB90-7660FFEA22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930503" y="3581400"/>
            <a:ext cx="2794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DDCCAA"/>
          </a:solidFill>
          <a:ln w="12700">
            <a:solidFill>
              <a:srgbClr val="DDCCA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100" noProof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— PHISHING, ENGENHARIA SOCIAL E GOLPES DIGITAIS</a:t>
            </a:r>
            <a:endParaRPr lang="pt-BR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200" noProof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FAZER AO IDENTIFICAR UM ATAQUE?</a:t>
            </a:r>
            <a:endParaRPr lang="pt-BR" sz="2200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22860"/>
          </a:xfrm>
          <a:prstGeom prst="rect">
            <a:avLst/>
          </a:prstGeom>
          <a:solidFill>
            <a:srgbClr val="CCBBAA"/>
          </a:solidFill>
          <a:ln w="12700">
            <a:solidFill>
              <a:srgbClr val="CCBBA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09728"/>
            <a:ext cx="59436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1143000"/>
            <a:ext cx="566928" cy="713232"/>
          </a:xfrm>
          <a:prstGeom prst="rect">
            <a:avLst/>
          </a:prstGeom>
          <a:solidFill>
            <a:srgbClr val="3D3D3D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5"/>
          <p:cNvSpPr/>
          <p:nvPr/>
        </p:nvSpPr>
        <p:spPr>
          <a:xfrm>
            <a:off x="320040" y="1143000"/>
            <a:ext cx="566928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b="1" noProof="0" dirty="0">
                <a:solidFill>
                  <a:srgbClr val="FFC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pt-BR" sz="2400" noProof="0" dirty="0"/>
          </a:p>
        </p:txBody>
      </p:sp>
      <p:sp>
        <p:nvSpPr>
          <p:cNvPr id="9" name="Shape 6"/>
          <p:cNvSpPr/>
          <p:nvPr/>
        </p:nvSpPr>
        <p:spPr>
          <a:xfrm>
            <a:off x="987552" y="1143000"/>
            <a:ext cx="7836408" cy="713232"/>
          </a:xfrm>
          <a:prstGeom prst="rect">
            <a:avLst/>
          </a:prstGeom>
          <a:solidFill>
            <a:srgbClr val="FFFFFF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1078992" y="11887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CLIQUE</a:t>
            </a:r>
            <a:endParaRPr lang="pt-BR" sz="1200" noProof="0" dirty="0"/>
          </a:p>
        </p:txBody>
      </p:sp>
      <p:sp>
        <p:nvSpPr>
          <p:cNvPr id="11" name="Text 8"/>
          <p:cNvSpPr/>
          <p:nvPr/>
        </p:nvSpPr>
        <p:spPr>
          <a:xfrm>
            <a:off x="1078992" y="1508760"/>
            <a:ext cx="7589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clique em links, não baixe anexos e não responda à mensagem suspeita.</a:t>
            </a:r>
            <a:endParaRPr lang="pt-BR" sz="1150" noProof="0" dirty="0"/>
          </a:p>
        </p:txBody>
      </p:sp>
      <p:sp>
        <p:nvSpPr>
          <p:cNvPr id="12" name="Shape 9"/>
          <p:cNvSpPr/>
          <p:nvPr/>
        </p:nvSpPr>
        <p:spPr>
          <a:xfrm>
            <a:off x="320040" y="2057400"/>
            <a:ext cx="566928" cy="713232"/>
          </a:xfrm>
          <a:prstGeom prst="rect">
            <a:avLst/>
          </a:prstGeom>
          <a:solidFill>
            <a:srgbClr val="3D3D3D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0"/>
          <p:cNvSpPr/>
          <p:nvPr/>
        </p:nvSpPr>
        <p:spPr>
          <a:xfrm>
            <a:off x="320040" y="2057400"/>
            <a:ext cx="566928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b="1" noProof="0" dirty="0">
                <a:solidFill>
                  <a:srgbClr val="FFC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pt-BR" sz="2400" noProof="0" dirty="0"/>
          </a:p>
        </p:txBody>
      </p:sp>
      <p:sp>
        <p:nvSpPr>
          <p:cNvPr id="14" name="Shape 11"/>
          <p:cNvSpPr/>
          <p:nvPr/>
        </p:nvSpPr>
        <p:spPr>
          <a:xfrm>
            <a:off x="987552" y="2057400"/>
            <a:ext cx="7836408" cy="713232"/>
          </a:xfrm>
          <a:prstGeom prst="rect">
            <a:avLst/>
          </a:prstGeom>
          <a:solidFill>
            <a:srgbClr val="FFFFFF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2"/>
          <p:cNvSpPr/>
          <p:nvPr/>
        </p:nvSpPr>
        <p:spPr>
          <a:xfrm>
            <a:off x="1078992" y="21031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REPASSE</a:t>
            </a:r>
            <a:endParaRPr lang="pt-BR" sz="1200" noProof="0" dirty="0"/>
          </a:p>
        </p:txBody>
      </p:sp>
      <p:sp>
        <p:nvSpPr>
          <p:cNvPr id="16" name="Text 13"/>
          <p:cNvSpPr/>
          <p:nvPr/>
        </p:nvSpPr>
        <p:spPr>
          <a:xfrm>
            <a:off x="1078992" y="2423160"/>
            <a:ext cx="7589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encaminhe o e-mail para colegas — isso pode espalhar o ataque.</a:t>
            </a:r>
            <a:endParaRPr lang="pt-BR" sz="1150" noProof="0" dirty="0"/>
          </a:p>
        </p:txBody>
      </p:sp>
      <p:sp>
        <p:nvSpPr>
          <p:cNvPr id="17" name="Shape 14"/>
          <p:cNvSpPr/>
          <p:nvPr/>
        </p:nvSpPr>
        <p:spPr>
          <a:xfrm>
            <a:off x="320040" y="2971800"/>
            <a:ext cx="566928" cy="713232"/>
          </a:xfrm>
          <a:prstGeom prst="rect">
            <a:avLst/>
          </a:prstGeom>
          <a:solidFill>
            <a:srgbClr val="3D3D3D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5"/>
          <p:cNvSpPr/>
          <p:nvPr/>
        </p:nvSpPr>
        <p:spPr>
          <a:xfrm>
            <a:off x="320040" y="2971800"/>
            <a:ext cx="566928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b="1" noProof="0" dirty="0">
                <a:solidFill>
                  <a:srgbClr val="FFC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pt-BR" sz="2400" noProof="0" dirty="0"/>
          </a:p>
        </p:txBody>
      </p:sp>
      <p:sp>
        <p:nvSpPr>
          <p:cNvPr id="19" name="Shape 16"/>
          <p:cNvSpPr/>
          <p:nvPr/>
        </p:nvSpPr>
        <p:spPr>
          <a:xfrm>
            <a:off x="987552" y="2971800"/>
            <a:ext cx="7836408" cy="713232"/>
          </a:xfrm>
          <a:prstGeom prst="rect">
            <a:avLst/>
          </a:prstGeom>
          <a:solidFill>
            <a:srgbClr val="FFFFFF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 17"/>
          <p:cNvSpPr/>
          <p:nvPr/>
        </p:nvSpPr>
        <p:spPr>
          <a:xfrm>
            <a:off x="1078992" y="3017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À TI</a:t>
            </a:r>
            <a:endParaRPr lang="pt-BR" sz="1200" noProof="0" dirty="0"/>
          </a:p>
        </p:txBody>
      </p:sp>
      <p:sp>
        <p:nvSpPr>
          <p:cNvPr id="21" name="Text 18"/>
          <p:cNvSpPr/>
          <p:nvPr/>
        </p:nvSpPr>
        <p:spPr>
          <a:xfrm>
            <a:off x="1078992" y="3337560"/>
            <a:ext cx="7589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Encaminhe o e-mail ou descreva a situação para a equipe de TI imediatamente.</a:t>
            </a:r>
            <a:endParaRPr lang="pt-BR" sz="1150" noProof="0" dirty="0"/>
          </a:p>
        </p:txBody>
      </p:sp>
      <p:sp>
        <p:nvSpPr>
          <p:cNvPr id="22" name="Shape 19"/>
          <p:cNvSpPr/>
          <p:nvPr/>
        </p:nvSpPr>
        <p:spPr>
          <a:xfrm>
            <a:off x="320040" y="3886200"/>
            <a:ext cx="566928" cy="713232"/>
          </a:xfrm>
          <a:prstGeom prst="rect">
            <a:avLst/>
          </a:prstGeom>
          <a:solidFill>
            <a:srgbClr val="3D3D3D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0"/>
          <p:cNvSpPr/>
          <p:nvPr/>
        </p:nvSpPr>
        <p:spPr>
          <a:xfrm>
            <a:off x="320040" y="3886200"/>
            <a:ext cx="566928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b="1" noProof="0" dirty="0">
                <a:solidFill>
                  <a:srgbClr val="FFC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pt-BR" sz="2400" noProof="0" dirty="0"/>
          </a:p>
        </p:txBody>
      </p:sp>
      <p:sp>
        <p:nvSpPr>
          <p:cNvPr id="24" name="Shape 21"/>
          <p:cNvSpPr/>
          <p:nvPr/>
        </p:nvSpPr>
        <p:spPr>
          <a:xfrm>
            <a:off x="987552" y="3886200"/>
            <a:ext cx="7836408" cy="713232"/>
          </a:xfrm>
          <a:prstGeom prst="rect">
            <a:avLst/>
          </a:prstGeom>
          <a:solidFill>
            <a:srgbClr val="FFFFFF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22"/>
          <p:cNvSpPr/>
          <p:nvPr/>
        </p:nvSpPr>
        <p:spPr>
          <a:xfrm>
            <a:off x="1078992" y="39319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COMUNIQUE AO RSI</a:t>
            </a:r>
            <a:endParaRPr lang="pt-BR" sz="1200" noProof="0" dirty="0"/>
          </a:p>
        </p:txBody>
      </p:sp>
      <p:sp>
        <p:nvSpPr>
          <p:cNvPr id="26" name="Text 23"/>
          <p:cNvSpPr/>
          <p:nvPr/>
        </p:nvSpPr>
        <p:spPr>
          <a:xfrm>
            <a:off x="1078992" y="4251960"/>
            <a:ext cx="7589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agiu (clicou, baixou), avise o Responsável pela Segurança da Informação.</a:t>
            </a:r>
            <a:endParaRPr lang="pt-BR" sz="1150" noProof="0" dirty="0"/>
          </a:p>
        </p:txBody>
      </p:sp>
      <p:sp>
        <p:nvSpPr>
          <p:cNvPr id="27" name="Shape 24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FFCC00"/>
          </a:solidFill>
          <a:ln w="381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8" name="Text 25"/>
          <p:cNvSpPr/>
          <p:nvPr/>
        </p:nvSpPr>
        <p:spPr>
          <a:xfrm>
            <a:off x="429768" y="4663440"/>
            <a:ext cx="830275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Lembre-se: nenhum sistema legítimo pede senha por e-mail ou mensagem.</a:t>
            </a:r>
            <a:endParaRPr lang="pt-BR" sz="115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C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5176223" y="-570808"/>
            <a:ext cx="1645920" cy="1645920"/>
          </a:xfrm>
          <a:prstGeom prst="ellipse">
            <a:avLst/>
          </a:prstGeom>
          <a:solidFill>
            <a:srgbClr val="E6B800">
              <a:alpha val="50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xmlns="" id="{372DF543-DEDB-E9E2-50E9-2840977FF9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18" t="14333" b="14134"/>
          <a:stretch>
            <a:fillRect/>
          </a:stretch>
        </p:blipFill>
        <p:spPr>
          <a:xfrm>
            <a:off x="365760" y="2419610"/>
            <a:ext cx="3153251" cy="235743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8891397" y="685800"/>
            <a:ext cx="54864" cy="402336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4400" b="1" noProof="0" dirty="0">
                <a:solidFill>
                  <a:srgbClr val="3D3D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USO ADEQUADO DO</a:t>
            </a:r>
            <a:endParaRPr lang="pt-BR" sz="44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4400" b="1" noProof="0" dirty="0">
                <a:solidFill>
                  <a:srgbClr val="3D3D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E-MAIL INSTITUCIONAL</a:t>
            </a:r>
            <a:endParaRPr lang="pt-BR" sz="4400" noProof="0" dirty="0"/>
          </a:p>
        </p:txBody>
      </p:sp>
      <p:sp>
        <p:nvSpPr>
          <p:cNvPr id="5" name="Shape 3"/>
          <p:cNvSpPr/>
          <p:nvPr/>
        </p:nvSpPr>
        <p:spPr>
          <a:xfrm>
            <a:off x="4405408" y="2990088"/>
            <a:ext cx="201168" cy="347472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4414552" y="2990088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pt-BR" sz="11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700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Comunicação oficial com responsabilidade</a:t>
            </a:r>
            <a:endParaRPr lang="pt-BR" sz="1700" noProof="0" dirty="0"/>
          </a:p>
        </p:txBody>
      </p:sp>
      <p:sp>
        <p:nvSpPr>
          <p:cNvPr id="9" name="Shape 7"/>
          <p:cNvSpPr/>
          <p:nvPr/>
        </p:nvSpPr>
        <p:spPr>
          <a:xfrm>
            <a:off x="-438553" y="781098"/>
            <a:ext cx="1592485" cy="1592485"/>
          </a:xfrm>
          <a:prstGeom prst="ellipse">
            <a:avLst/>
          </a:prstGeom>
          <a:solidFill>
            <a:srgbClr val="E6B800">
              <a:alpha val="40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6058615" y="4362711"/>
            <a:ext cx="1371600" cy="1371600"/>
          </a:xfrm>
          <a:prstGeom prst="ellipse">
            <a:avLst/>
          </a:prstGeom>
          <a:solidFill>
            <a:srgbClr val="FF0000">
              <a:alpha val="50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169597" y="228600"/>
            <a:ext cx="457200" cy="45720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169597" y="228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FFC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</a:t>
            </a:r>
            <a:endParaRPr lang="pt-BR" sz="140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DDCCAA"/>
          </a:solidFill>
          <a:ln w="12700">
            <a:solidFill>
              <a:srgbClr val="DDCCA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100" noProof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 — USO ADEQUADO DO E-MAIL INSTITUCIONAL</a:t>
            </a:r>
            <a:endParaRPr lang="pt-BR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200" noProof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BOAS PRÁTICAS NO USO DO E-MAIL</a:t>
            </a:r>
            <a:endParaRPr lang="pt-BR" sz="2200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22860"/>
          </a:xfrm>
          <a:prstGeom prst="rect">
            <a:avLst/>
          </a:prstGeom>
          <a:solidFill>
            <a:srgbClr val="CCBBAA"/>
          </a:solidFill>
          <a:ln w="12700">
            <a:solidFill>
              <a:srgbClr val="CCBBA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09728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1430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i="1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e-mail institucional é canal oficial da FUNSERV. Mensagens enviadas podem ser consideradas documentos administrativos sujeitos a auditoria.</a:t>
            </a:r>
            <a:endParaRPr lang="pt-BR" sz="1250" noProof="0" dirty="0"/>
          </a:p>
        </p:txBody>
      </p:sp>
      <p:sp>
        <p:nvSpPr>
          <p:cNvPr id="16" name="LeftCard">
            <a:extLst>
              <a:ext uri="{FF2B5EF4-FFF2-40B4-BE49-F238E27FC236}">
                <a16:creationId xmlns:a16="http://schemas.microsoft.com/office/drawing/2014/main" xmlns="" id="{51FCD658-6FEB-CE44-D85B-B05832F4417D}"/>
              </a:ext>
            </a:extLst>
          </p:cNvPr>
          <p:cNvSpPr/>
          <p:nvPr/>
        </p:nvSpPr>
        <p:spPr>
          <a:xfrm>
            <a:off x="279400" y="1645920"/>
            <a:ext cx="4191000" cy="330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38100" dist="19050" dir="5400000" algn="ctr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>
              <a:solidFill>
                <a:srgbClr val="333333"/>
              </a:solidFill>
            </a:endParaRPr>
          </a:p>
        </p:txBody>
      </p:sp>
      <p:sp>
        <p:nvSpPr>
          <p:cNvPr id="17" name="LeftGreenBar">
            <a:extLst>
              <a:ext uri="{FF2B5EF4-FFF2-40B4-BE49-F238E27FC236}">
                <a16:creationId xmlns:a16="http://schemas.microsoft.com/office/drawing/2014/main" xmlns="" id="{6FC3893E-1258-29B1-D085-E1E19B4DE08E}"/>
              </a:ext>
            </a:extLst>
          </p:cNvPr>
          <p:cNvSpPr/>
          <p:nvPr/>
        </p:nvSpPr>
        <p:spPr>
          <a:xfrm>
            <a:off x="279400" y="1645920"/>
            <a:ext cx="76200" cy="330200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1A7A3A"/>
              </a:solidFill>
            </a:endParaRPr>
          </a:p>
        </p:txBody>
      </p:sp>
      <p:sp>
        <p:nvSpPr>
          <p:cNvPr id="18" name="LeftHeader">
            <a:extLst>
              <a:ext uri="{FF2B5EF4-FFF2-40B4-BE49-F238E27FC236}">
                <a16:creationId xmlns:a16="http://schemas.microsoft.com/office/drawing/2014/main" xmlns="" id="{C7BFAB5D-F727-3945-DDE6-06D44AEBF641}"/>
              </a:ext>
            </a:extLst>
          </p:cNvPr>
          <p:cNvSpPr/>
          <p:nvPr/>
        </p:nvSpPr>
        <p:spPr>
          <a:xfrm>
            <a:off x="355600" y="1645920"/>
            <a:ext cx="4114800" cy="38100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txBody>
          <a:bodyPr lIns="152400" tIns="0" rIns="91440" bIns="0" anchor="ctr"/>
          <a:lstStyle/>
          <a:p>
            <a:pPr algn="l"/>
            <a:r>
              <a:rPr lang="pt-BR" sz="1600" b="1" dirty="0">
                <a:solidFill>
                  <a:srgbClr val="FFFFFF"/>
                </a:solidFill>
                <a:latin typeface="Segoe UI"/>
              </a:rPr>
              <a:t>Uso correto</a:t>
            </a:r>
          </a:p>
        </p:txBody>
      </p:sp>
      <p:sp>
        <p:nvSpPr>
          <p:cNvPr id="20" name="LText0">
            <a:extLst>
              <a:ext uri="{FF2B5EF4-FFF2-40B4-BE49-F238E27FC236}">
                <a16:creationId xmlns:a16="http://schemas.microsoft.com/office/drawing/2014/main" xmlns="" id="{E4233F9E-3470-A292-05B3-FA280B12848C}"/>
              </a:ext>
            </a:extLst>
          </p:cNvPr>
          <p:cNvSpPr/>
          <p:nvPr/>
        </p:nvSpPr>
        <p:spPr>
          <a:xfrm>
            <a:off x="749300" y="2128520"/>
            <a:ext cx="35687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200" dirty="0">
                <a:solidFill>
                  <a:srgbClr val="333333"/>
                </a:solidFill>
                <a:latin typeface="Segoe UI"/>
              </a:rPr>
              <a:t>Use linguagem profissional e institucional</a:t>
            </a:r>
          </a:p>
        </p:txBody>
      </p:sp>
      <p:sp>
        <p:nvSpPr>
          <p:cNvPr id="22" name="LText1">
            <a:extLst>
              <a:ext uri="{FF2B5EF4-FFF2-40B4-BE49-F238E27FC236}">
                <a16:creationId xmlns:a16="http://schemas.microsoft.com/office/drawing/2014/main" xmlns="" id="{F9DB829E-6743-AC3D-3327-15D9FE17A6F4}"/>
              </a:ext>
            </a:extLst>
          </p:cNvPr>
          <p:cNvSpPr/>
          <p:nvPr/>
        </p:nvSpPr>
        <p:spPr>
          <a:xfrm>
            <a:off x="749300" y="2585720"/>
            <a:ext cx="35687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200" dirty="0">
                <a:solidFill>
                  <a:srgbClr val="333333"/>
                </a:solidFill>
                <a:latin typeface="Segoe UI"/>
              </a:rPr>
              <a:t>Verifique destinatários antes de enviar</a:t>
            </a:r>
          </a:p>
        </p:txBody>
      </p:sp>
      <p:sp>
        <p:nvSpPr>
          <p:cNvPr id="24" name="LText2">
            <a:extLst>
              <a:ext uri="{FF2B5EF4-FFF2-40B4-BE49-F238E27FC236}">
                <a16:creationId xmlns:a16="http://schemas.microsoft.com/office/drawing/2014/main" xmlns="" id="{437690A2-1EC6-D92F-5310-2BB9370D197F}"/>
              </a:ext>
            </a:extLst>
          </p:cNvPr>
          <p:cNvSpPr/>
          <p:nvPr/>
        </p:nvSpPr>
        <p:spPr>
          <a:xfrm>
            <a:off x="749300" y="3042920"/>
            <a:ext cx="35687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200" dirty="0">
                <a:solidFill>
                  <a:srgbClr val="333333"/>
                </a:solidFill>
                <a:latin typeface="Segoe UI"/>
              </a:rPr>
              <a:t>Use CC e CCO com responsabilidade</a:t>
            </a:r>
          </a:p>
        </p:txBody>
      </p:sp>
      <p:sp>
        <p:nvSpPr>
          <p:cNvPr id="26" name="LText3">
            <a:extLst>
              <a:ext uri="{FF2B5EF4-FFF2-40B4-BE49-F238E27FC236}">
                <a16:creationId xmlns:a16="http://schemas.microsoft.com/office/drawing/2014/main" xmlns="" id="{5D8DD63C-F839-9E77-734F-2EDD01C41487}"/>
              </a:ext>
            </a:extLst>
          </p:cNvPr>
          <p:cNvSpPr/>
          <p:nvPr/>
        </p:nvSpPr>
        <p:spPr>
          <a:xfrm>
            <a:off x="749300" y="3500120"/>
            <a:ext cx="35687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200" dirty="0">
                <a:solidFill>
                  <a:srgbClr val="333333"/>
                </a:solidFill>
                <a:latin typeface="Segoe UI"/>
              </a:rPr>
              <a:t>Proteja informações sensíveis</a:t>
            </a:r>
          </a:p>
        </p:txBody>
      </p:sp>
      <p:sp>
        <p:nvSpPr>
          <p:cNvPr id="28" name="LText4">
            <a:extLst>
              <a:ext uri="{FF2B5EF4-FFF2-40B4-BE49-F238E27FC236}">
                <a16:creationId xmlns:a16="http://schemas.microsoft.com/office/drawing/2014/main" xmlns="" id="{2984218E-3021-9781-CE93-468F1F18C143}"/>
              </a:ext>
            </a:extLst>
          </p:cNvPr>
          <p:cNvSpPr/>
          <p:nvPr/>
        </p:nvSpPr>
        <p:spPr>
          <a:xfrm>
            <a:off x="749300" y="3957320"/>
            <a:ext cx="35687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200" dirty="0">
                <a:solidFill>
                  <a:srgbClr val="333333"/>
                </a:solidFill>
                <a:latin typeface="Segoe UI"/>
              </a:rPr>
              <a:t>Reporte e-mails suspeitos à TI</a:t>
            </a:r>
          </a:p>
        </p:txBody>
      </p:sp>
      <p:sp>
        <p:nvSpPr>
          <p:cNvPr id="30" name="LText5">
            <a:extLst>
              <a:ext uri="{FF2B5EF4-FFF2-40B4-BE49-F238E27FC236}">
                <a16:creationId xmlns:a16="http://schemas.microsoft.com/office/drawing/2014/main" xmlns="" id="{340207AD-E12B-47C6-8727-7A1BCDD5FBA4}"/>
              </a:ext>
            </a:extLst>
          </p:cNvPr>
          <p:cNvSpPr/>
          <p:nvPr/>
        </p:nvSpPr>
        <p:spPr>
          <a:xfrm>
            <a:off x="749300" y="4414520"/>
            <a:ext cx="35687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200" dirty="0">
                <a:solidFill>
                  <a:srgbClr val="333333"/>
                </a:solidFill>
                <a:latin typeface="Segoe UI"/>
              </a:rPr>
              <a:t>Mantenha assinatura institucional padrão</a:t>
            </a:r>
          </a:p>
        </p:txBody>
      </p:sp>
      <p:sp>
        <p:nvSpPr>
          <p:cNvPr id="31" name="RightCard">
            <a:extLst>
              <a:ext uri="{FF2B5EF4-FFF2-40B4-BE49-F238E27FC236}">
                <a16:creationId xmlns:a16="http://schemas.microsoft.com/office/drawing/2014/main" xmlns="" id="{6067AA81-70CA-7024-01D1-2FDBBE34EA8B}"/>
              </a:ext>
            </a:extLst>
          </p:cNvPr>
          <p:cNvSpPr/>
          <p:nvPr/>
        </p:nvSpPr>
        <p:spPr>
          <a:xfrm>
            <a:off x="4673600" y="1645920"/>
            <a:ext cx="4191000" cy="330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38100" dist="19050" dir="5400000" algn="ctr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>
              <a:solidFill>
                <a:srgbClr val="333333"/>
              </a:solidFill>
            </a:endParaRPr>
          </a:p>
        </p:txBody>
      </p:sp>
      <p:sp>
        <p:nvSpPr>
          <p:cNvPr id="32" name="RightRedBar">
            <a:extLst>
              <a:ext uri="{FF2B5EF4-FFF2-40B4-BE49-F238E27FC236}">
                <a16:creationId xmlns:a16="http://schemas.microsoft.com/office/drawing/2014/main" xmlns="" id="{8DA6E0FF-4400-6BD8-C6E8-2845E5AE6986}"/>
              </a:ext>
            </a:extLst>
          </p:cNvPr>
          <p:cNvSpPr/>
          <p:nvPr/>
        </p:nvSpPr>
        <p:spPr>
          <a:xfrm>
            <a:off x="4673600" y="1645920"/>
            <a:ext cx="76200" cy="330200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CC3333"/>
              </a:solidFill>
            </a:endParaRPr>
          </a:p>
        </p:txBody>
      </p:sp>
      <p:sp>
        <p:nvSpPr>
          <p:cNvPr id="33" name="RightHeader">
            <a:extLst>
              <a:ext uri="{FF2B5EF4-FFF2-40B4-BE49-F238E27FC236}">
                <a16:creationId xmlns:a16="http://schemas.microsoft.com/office/drawing/2014/main" xmlns="" id="{4C1E6B18-438A-14E8-F2B7-EC5AE0585AD6}"/>
              </a:ext>
            </a:extLst>
          </p:cNvPr>
          <p:cNvSpPr/>
          <p:nvPr/>
        </p:nvSpPr>
        <p:spPr>
          <a:xfrm>
            <a:off x="4749800" y="1645920"/>
            <a:ext cx="4114800" cy="38100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txBody>
          <a:bodyPr lIns="152400" tIns="0" rIns="91440" bIns="0" anchor="ctr"/>
          <a:lstStyle/>
          <a:p>
            <a:pPr algn="l"/>
            <a:r>
              <a:rPr lang="pt-BR" sz="1600" b="1" dirty="0">
                <a:solidFill>
                  <a:srgbClr val="FFFFFF"/>
                </a:solidFill>
                <a:latin typeface="Segoe UI"/>
              </a:rPr>
              <a:t>Uso inadequado</a:t>
            </a:r>
          </a:p>
        </p:txBody>
      </p:sp>
      <p:sp>
        <p:nvSpPr>
          <p:cNvPr id="35" name="RText0">
            <a:extLst>
              <a:ext uri="{FF2B5EF4-FFF2-40B4-BE49-F238E27FC236}">
                <a16:creationId xmlns:a16="http://schemas.microsoft.com/office/drawing/2014/main" xmlns="" id="{DDD32ABD-5AB2-7E44-FA06-FA9BA67D00B2}"/>
              </a:ext>
            </a:extLst>
          </p:cNvPr>
          <p:cNvSpPr/>
          <p:nvPr/>
        </p:nvSpPr>
        <p:spPr>
          <a:xfrm>
            <a:off x="5143500" y="2128520"/>
            <a:ext cx="35687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200" dirty="0">
                <a:solidFill>
                  <a:srgbClr val="333333"/>
                </a:solidFill>
                <a:latin typeface="Segoe UI"/>
              </a:rPr>
              <a:t>Usar e-mail para fins pessoais ou comerciais</a:t>
            </a:r>
          </a:p>
        </p:txBody>
      </p:sp>
      <p:sp>
        <p:nvSpPr>
          <p:cNvPr id="37" name="RText1">
            <a:extLst>
              <a:ext uri="{FF2B5EF4-FFF2-40B4-BE49-F238E27FC236}">
                <a16:creationId xmlns:a16="http://schemas.microsoft.com/office/drawing/2014/main" xmlns="" id="{53D3DE49-4F16-B614-709E-8D46F997D046}"/>
              </a:ext>
            </a:extLst>
          </p:cNvPr>
          <p:cNvSpPr/>
          <p:nvPr/>
        </p:nvSpPr>
        <p:spPr>
          <a:xfrm>
            <a:off x="5143500" y="2585720"/>
            <a:ext cx="35687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200" dirty="0">
                <a:solidFill>
                  <a:srgbClr val="333333"/>
                </a:solidFill>
                <a:latin typeface="Segoe UI"/>
              </a:rPr>
              <a:t>Enviar correntes, spam ou conteúdo irrelevante</a:t>
            </a:r>
          </a:p>
        </p:txBody>
      </p:sp>
      <p:sp>
        <p:nvSpPr>
          <p:cNvPr id="39" name="RText2">
            <a:extLst>
              <a:ext uri="{FF2B5EF4-FFF2-40B4-BE49-F238E27FC236}">
                <a16:creationId xmlns:a16="http://schemas.microsoft.com/office/drawing/2014/main" xmlns="" id="{27CA978E-BE8D-9D34-BA6C-AAA17E5BB9EF}"/>
              </a:ext>
            </a:extLst>
          </p:cNvPr>
          <p:cNvSpPr/>
          <p:nvPr/>
        </p:nvSpPr>
        <p:spPr>
          <a:xfrm>
            <a:off x="5143500" y="3042920"/>
            <a:ext cx="35687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200" dirty="0">
                <a:solidFill>
                  <a:srgbClr val="333333"/>
                </a:solidFill>
                <a:latin typeface="Segoe UI"/>
              </a:rPr>
              <a:t>Compartilhar credenciais de acesso</a:t>
            </a:r>
          </a:p>
        </p:txBody>
      </p:sp>
      <p:sp>
        <p:nvSpPr>
          <p:cNvPr id="41" name="RText3">
            <a:extLst>
              <a:ext uri="{FF2B5EF4-FFF2-40B4-BE49-F238E27FC236}">
                <a16:creationId xmlns:a16="http://schemas.microsoft.com/office/drawing/2014/main" xmlns="" id="{D0E45921-321D-121B-CE67-CA6C5D54788F}"/>
              </a:ext>
            </a:extLst>
          </p:cNvPr>
          <p:cNvSpPr/>
          <p:nvPr/>
        </p:nvSpPr>
        <p:spPr>
          <a:xfrm>
            <a:off x="5143500" y="3500120"/>
            <a:ext cx="35687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200" dirty="0">
                <a:solidFill>
                  <a:srgbClr val="333333"/>
                </a:solidFill>
                <a:latin typeface="Segoe UI"/>
              </a:rPr>
              <a:t>Abrir anexos de origem desconhecida</a:t>
            </a:r>
          </a:p>
        </p:txBody>
      </p:sp>
      <p:sp>
        <p:nvSpPr>
          <p:cNvPr id="43" name="RText4">
            <a:extLst>
              <a:ext uri="{FF2B5EF4-FFF2-40B4-BE49-F238E27FC236}">
                <a16:creationId xmlns:a16="http://schemas.microsoft.com/office/drawing/2014/main" xmlns="" id="{90639A69-55E3-950B-2C22-FFE6FBAAF1A0}"/>
              </a:ext>
            </a:extLst>
          </p:cNvPr>
          <p:cNvSpPr/>
          <p:nvPr/>
        </p:nvSpPr>
        <p:spPr>
          <a:xfrm>
            <a:off x="5143500" y="3957320"/>
            <a:ext cx="35687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200" dirty="0">
                <a:solidFill>
                  <a:srgbClr val="333333"/>
                </a:solidFill>
                <a:latin typeface="Segoe UI"/>
              </a:rPr>
              <a:t>Clicar em links sem verificação</a:t>
            </a:r>
          </a:p>
        </p:txBody>
      </p:sp>
      <p:sp>
        <p:nvSpPr>
          <p:cNvPr id="45" name="RText5">
            <a:extLst>
              <a:ext uri="{FF2B5EF4-FFF2-40B4-BE49-F238E27FC236}">
                <a16:creationId xmlns:a16="http://schemas.microsoft.com/office/drawing/2014/main" xmlns="" id="{ACD694BF-F229-D99E-9DE8-48B41CFE877F}"/>
              </a:ext>
            </a:extLst>
          </p:cNvPr>
          <p:cNvSpPr/>
          <p:nvPr/>
        </p:nvSpPr>
        <p:spPr>
          <a:xfrm>
            <a:off x="5143500" y="4414520"/>
            <a:ext cx="35687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200" dirty="0">
                <a:solidFill>
                  <a:srgbClr val="333333"/>
                </a:solidFill>
                <a:latin typeface="Segoe UI"/>
              </a:rPr>
              <a:t>Enviar conteúdo inadequado ou ofensivo</a:t>
            </a:r>
          </a:p>
        </p:txBody>
      </p:sp>
      <p:sp>
        <p:nvSpPr>
          <p:cNvPr id="100" name="LChevron0"/>
          <p:cNvSpPr/>
          <p:nvPr/>
        </p:nvSpPr>
        <p:spPr>
          <a:xfrm>
            <a:off x="457200" y="2299970"/>
            <a:ext cx="114300" cy="114300"/>
          </a:xfrm>
          <a:prstGeom prst="chevron">
            <a:avLst>
              <a:gd name="adj" fmla="val 50000"/>
            </a:avLst>
          </a:prstGeom>
          <a:solidFill>
            <a:srgbClr val="1A7A3A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1A7A3A"/>
              </a:solidFill>
            </a:endParaRPr>
          </a:p>
        </p:txBody>
      </p:sp>
      <p:sp>
        <p:nvSpPr>
          <p:cNvPr id="110" name="RChevron0"/>
          <p:cNvSpPr/>
          <p:nvPr/>
        </p:nvSpPr>
        <p:spPr>
          <a:xfrm>
            <a:off x="4851400" y="2299970"/>
            <a:ext cx="114300" cy="114300"/>
          </a:xfrm>
          <a:prstGeom prst="chevron">
            <a:avLst>
              <a:gd name="adj" fmla="val 50000"/>
            </a:avLst>
          </a:prstGeom>
          <a:solidFill>
            <a:srgbClr val="CC3333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CC3333"/>
              </a:solidFill>
            </a:endParaRPr>
          </a:p>
        </p:txBody>
      </p:sp>
      <p:sp>
        <p:nvSpPr>
          <p:cNvPr id="101" name="LChevron1"/>
          <p:cNvSpPr/>
          <p:nvPr/>
        </p:nvSpPr>
        <p:spPr>
          <a:xfrm>
            <a:off x="457200" y="2757170"/>
            <a:ext cx="114300" cy="114300"/>
          </a:xfrm>
          <a:prstGeom prst="chevron">
            <a:avLst>
              <a:gd name="adj" fmla="val 50000"/>
            </a:avLst>
          </a:prstGeom>
          <a:solidFill>
            <a:srgbClr val="1A7A3A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1A7A3A"/>
              </a:solidFill>
            </a:endParaRPr>
          </a:p>
        </p:txBody>
      </p:sp>
      <p:sp>
        <p:nvSpPr>
          <p:cNvPr id="111" name="RChevron1"/>
          <p:cNvSpPr/>
          <p:nvPr/>
        </p:nvSpPr>
        <p:spPr>
          <a:xfrm>
            <a:off x="4851400" y="2757170"/>
            <a:ext cx="114300" cy="114300"/>
          </a:xfrm>
          <a:prstGeom prst="chevron">
            <a:avLst>
              <a:gd name="adj" fmla="val 50000"/>
            </a:avLst>
          </a:prstGeom>
          <a:solidFill>
            <a:srgbClr val="CC3333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CC3333"/>
              </a:solidFill>
            </a:endParaRPr>
          </a:p>
        </p:txBody>
      </p:sp>
      <p:sp>
        <p:nvSpPr>
          <p:cNvPr id="102" name="LChevron2"/>
          <p:cNvSpPr/>
          <p:nvPr/>
        </p:nvSpPr>
        <p:spPr>
          <a:xfrm>
            <a:off x="457200" y="3214370"/>
            <a:ext cx="114300" cy="114300"/>
          </a:xfrm>
          <a:prstGeom prst="chevron">
            <a:avLst>
              <a:gd name="adj" fmla="val 50000"/>
            </a:avLst>
          </a:prstGeom>
          <a:solidFill>
            <a:srgbClr val="1A7A3A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1A7A3A"/>
              </a:solidFill>
            </a:endParaRPr>
          </a:p>
        </p:txBody>
      </p:sp>
      <p:sp>
        <p:nvSpPr>
          <p:cNvPr id="112" name="RChevron2"/>
          <p:cNvSpPr/>
          <p:nvPr/>
        </p:nvSpPr>
        <p:spPr>
          <a:xfrm>
            <a:off x="4851400" y="3214370"/>
            <a:ext cx="114300" cy="114300"/>
          </a:xfrm>
          <a:prstGeom prst="chevron">
            <a:avLst>
              <a:gd name="adj" fmla="val 50000"/>
            </a:avLst>
          </a:prstGeom>
          <a:solidFill>
            <a:srgbClr val="CC3333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CC3333"/>
              </a:solidFill>
            </a:endParaRPr>
          </a:p>
        </p:txBody>
      </p:sp>
      <p:sp>
        <p:nvSpPr>
          <p:cNvPr id="103" name="LChevron3"/>
          <p:cNvSpPr/>
          <p:nvPr/>
        </p:nvSpPr>
        <p:spPr>
          <a:xfrm>
            <a:off x="457200" y="3671570"/>
            <a:ext cx="114300" cy="114300"/>
          </a:xfrm>
          <a:prstGeom prst="chevron">
            <a:avLst>
              <a:gd name="adj" fmla="val 50000"/>
            </a:avLst>
          </a:prstGeom>
          <a:solidFill>
            <a:srgbClr val="1A7A3A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1A7A3A"/>
              </a:solidFill>
            </a:endParaRPr>
          </a:p>
        </p:txBody>
      </p:sp>
      <p:sp>
        <p:nvSpPr>
          <p:cNvPr id="113" name="RChevron3"/>
          <p:cNvSpPr/>
          <p:nvPr/>
        </p:nvSpPr>
        <p:spPr>
          <a:xfrm>
            <a:off x="4851400" y="3671570"/>
            <a:ext cx="114300" cy="114300"/>
          </a:xfrm>
          <a:prstGeom prst="chevron">
            <a:avLst>
              <a:gd name="adj" fmla="val 50000"/>
            </a:avLst>
          </a:prstGeom>
          <a:solidFill>
            <a:srgbClr val="CC3333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CC3333"/>
              </a:solidFill>
            </a:endParaRPr>
          </a:p>
        </p:txBody>
      </p:sp>
      <p:sp>
        <p:nvSpPr>
          <p:cNvPr id="104" name="LChevron4"/>
          <p:cNvSpPr/>
          <p:nvPr/>
        </p:nvSpPr>
        <p:spPr>
          <a:xfrm>
            <a:off x="457200" y="4128770"/>
            <a:ext cx="114300" cy="114300"/>
          </a:xfrm>
          <a:prstGeom prst="chevron">
            <a:avLst>
              <a:gd name="adj" fmla="val 50000"/>
            </a:avLst>
          </a:prstGeom>
          <a:solidFill>
            <a:srgbClr val="1A7A3A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1A7A3A"/>
              </a:solidFill>
            </a:endParaRPr>
          </a:p>
        </p:txBody>
      </p:sp>
      <p:sp>
        <p:nvSpPr>
          <p:cNvPr id="114" name="RChevron4"/>
          <p:cNvSpPr/>
          <p:nvPr/>
        </p:nvSpPr>
        <p:spPr>
          <a:xfrm>
            <a:off x="4851400" y="4128770"/>
            <a:ext cx="114300" cy="114300"/>
          </a:xfrm>
          <a:prstGeom prst="chevron">
            <a:avLst>
              <a:gd name="adj" fmla="val 50000"/>
            </a:avLst>
          </a:prstGeom>
          <a:solidFill>
            <a:srgbClr val="CC3333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CC3333"/>
              </a:solidFill>
            </a:endParaRPr>
          </a:p>
        </p:txBody>
      </p:sp>
      <p:sp>
        <p:nvSpPr>
          <p:cNvPr id="105" name="LChevron5"/>
          <p:cNvSpPr/>
          <p:nvPr/>
        </p:nvSpPr>
        <p:spPr>
          <a:xfrm>
            <a:off x="457200" y="4585970"/>
            <a:ext cx="114300" cy="114300"/>
          </a:xfrm>
          <a:prstGeom prst="chevron">
            <a:avLst>
              <a:gd name="adj" fmla="val 50000"/>
            </a:avLst>
          </a:prstGeom>
          <a:solidFill>
            <a:srgbClr val="1A7A3A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1A7A3A"/>
              </a:solidFill>
            </a:endParaRPr>
          </a:p>
        </p:txBody>
      </p:sp>
      <p:sp>
        <p:nvSpPr>
          <p:cNvPr id="115" name="RChevron5"/>
          <p:cNvSpPr/>
          <p:nvPr/>
        </p:nvSpPr>
        <p:spPr>
          <a:xfrm>
            <a:off x="4851400" y="4585970"/>
            <a:ext cx="114300" cy="114300"/>
          </a:xfrm>
          <a:prstGeom prst="chevron">
            <a:avLst>
              <a:gd name="adj" fmla="val 50000"/>
            </a:avLst>
          </a:prstGeom>
          <a:solidFill>
            <a:srgbClr val="CC3333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CC3333"/>
              </a:solidFill>
            </a:endParaRPr>
          </a:p>
        </p:txBody>
      </p:sp>
      <p:sp>
        <p:nvSpPr>
          <p:cNvPr id="200" name="WM_Lock"/>
          <p:cNvSpPr/>
          <p:nvPr/>
        </p:nvSpPr>
        <p:spPr>
          <a:xfrm>
            <a:off x="-254000" y="4064000"/>
            <a:ext cx="1270000" cy="152400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B3A4B">
                <a:alpha val="7000"/>
              </a:srgbClr>
            </a:solidFill>
          </a:ln>
        </p:spPr>
        <p:txBody>
          <a:bodyPr/>
          <a:lstStyle/>
          <a:p>
            <a:endParaRPr lang="pt-BR" dirty="0"/>
          </a:p>
        </p:txBody>
      </p:sp>
      <p:sp>
        <p:nvSpPr>
          <p:cNvPr id="201" name="WM_LockArc"/>
          <p:cNvSpPr/>
          <p:nvPr/>
        </p:nvSpPr>
        <p:spPr>
          <a:xfrm>
            <a:off x="0" y="3683000"/>
            <a:ext cx="762000" cy="57150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rgbClr val="1B3A4B">
                <a:alpha val="7000"/>
              </a:srgbClr>
            </a:solidFill>
          </a:ln>
        </p:spPr>
        <p:txBody>
          <a:bodyPr/>
          <a:lstStyle/>
          <a:p>
            <a:endParaRPr lang="pt-BR" dirty="0"/>
          </a:p>
        </p:txBody>
      </p:sp>
      <p:sp>
        <p:nvSpPr>
          <p:cNvPr id="202" name="WM_Shield"/>
          <p:cNvSpPr/>
          <p:nvPr/>
        </p:nvSpPr>
        <p:spPr>
          <a:xfrm>
            <a:off x="8128000" y="-381000"/>
            <a:ext cx="1397000" cy="1651000"/>
          </a:xfrm>
          <a:prstGeom prst="hexagon">
            <a:avLst>
              <a:gd name="adj" fmla="val 25000"/>
              <a:gd name="vf" fmla="val 115470"/>
            </a:avLst>
          </a:prstGeom>
          <a:noFill/>
          <a:ln w="19050">
            <a:solidFill>
              <a:srgbClr val="2A6BB5">
                <a:alpha val="6000"/>
              </a:srgbClr>
            </a:solidFill>
          </a:ln>
        </p:spPr>
        <p:txBody>
          <a:bodyPr/>
          <a:lstStyle/>
          <a:p>
            <a:endParaRPr lang="pt-BR" dirty="0"/>
          </a:p>
        </p:txBody>
      </p:sp>
      <p:sp>
        <p:nvSpPr>
          <p:cNvPr id="203" name="WM_Node1"/>
          <p:cNvSpPr/>
          <p:nvPr/>
        </p:nvSpPr>
        <p:spPr>
          <a:xfrm>
            <a:off x="8636000" y="2540000"/>
            <a:ext cx="381000" cy="381000"/>
          </a:xfrm>
          <a:prstGeom prst="ellipse">
            <a:avLst/>
          </a:prstGeom>
          <a:noFill/>
          <a:ln w="12700">
            <a:solidFill>
              <a:srgbClr val="1B3A4B">
                <a:alpha val="5000"/>
              </a:srgbClr>
            </a:solidFill>
          </a:ln>
        </p:spPr>
        <p:txBody>
          <a:bodyPr/>
          <a:lstStyle/>
          <a:p>
            <a:endParaRPr lang="pt-BR" dirty="0"/>
          </a:p>
        </p:txBody>
      </p:sp>
      <p:sp>
        <p:nvSpPr>
          <p:cNvPr id="204" name="WM_Node2"/>
          <p:cNvSpPr/>
          <p:nvPr/>
        </p:nvSpPr>
        <p:spPr>
          <a:xfrm>
            <a:off x="8826500" y="3048000"/>
            <a:ext cx="254000" cy="254000"/>
          </a:xfrm>
          <a:prstGeom prst="ellipse">
            <a:avLst/>
          </a:prstGeom>
          <a:noFill/>
          <a:ln w="9525">
            <a:solidFill>
              <a:srgbClr val="1B3A4B">
                <a:alpha val="5000"/>
              </a:srgbClr>
            </a:solidFill>
          </a:ln>
        </p:spPr>
        <p:txBody>
          <a:bodyPr/>
          <a:lstStyle/>
          <a:p>
            <a:endParaRPr lang="pt-BR" dirty="0"/>
          </a:p>
        </p:txBody>
      </p:sp>
      <p:sp>
        <p:nvSpPr>
          <p:cNvPr id="205" name="WM_Node3"/>
          <p:cNvSpPr/>
          <p:nvPr/>
        </p:nvSpPr>
        <p:spPr>
          <a:xfrm>
            <a:off x="8509000" y="3403600"/>
            <a:ext cx="177800" cy="177800"/>
          </a:xfrm>
          <a:prstGeom prst="ellipse">
            <a:avLst/>
          </a:prstGeom>
          <a:noFill/>
          <a:ln w="9525">
            <a:solidFill>
              <a:srgbClr val="1B3A4B">
                <a:alpha val="5000"/>
              </a:srgbClr>
            </a:solidFill>
          </a:ln>
        </p:spPr>
        <p:txBody>
          <a:bodyPr/>
          <a:lstStyle/>
          <a:p>
            <a:endParaRPr lang="pt-BR" dirty="0"/>
          </a:p>
        </p:txBody>
      </p:sp>
      <p:cxnSp>
        <p:nvCxnSpPr>
          <p:cNvPr id="206" name="WM_Line1"/>
          <p:cNvCxnSpPr/>
          <p:nvPr/>
        </p:nvCxnSpPr>
        <p:spPr>
          <a:xfrm>
            <a:off x="8826500" y="2730500"/>
            <a:ext cx="127000" cy="317500"/>
          </a:xfrm>
          <a:prstGeom prst="line">
            <a:avLst/>
          </a:prstGeom>
          <a:ln w="9525">
            <a:solidFill>
              <a:srgbClr val="1B3A4B">
                <a:alpha val="5000"/>
              </a:srgbClr>
            </a:solidFill>
          </a:ln>
        </p:spPr>
      </p:cxnSp>
      <p:cxnSp>
        <p:nvCxnSpPr>
          <p:cNvPr id="207" name="WM_Line2"/>
          <p:cNvCxnSpPr/>
          <p:nvPr/>
        </p:nvCxnSpPr>
        <p:spPr>
          <a:xfrm flipH="1">
            <a:off x="8597900" y="3302000"/>
            <a:ext cx="292100" cy="127000"/>
          </a:xfrm>
          <a:prstGeom prst="line">
            <a:avLst/>
          </a:prstGeom>
          <a:ln w="9525">
            <a:solidFill>
              <a:srgbClr val="1B3A4B">
                <a:alpha val="5000"/>
              </a:srgbClr>
            </a:solidFill>
          </a:ln>
        </p:spPr>
      </p:cxnSp>
      <p:sp>
        <p:nvSpPr>
          <p:cNvPr id="208" name="WM_Envelope"/>
          <p:cNvSpPr/>
          <p:nvPr/>
        </p:nvSpPr>
        <p:spPr>
          <a:xfrm rot="900000">
            <a:off x="7874000" y="4318000"/>
            <a:ext cx="1143000" cy="825500"/>
          </a:xfrm>
          <a:prstGeom prst="rect">
            <a:avLst/>
          </a:prstGeom>
          <a:noFill/>
          <a:ln w="15875">
            <a:solidFill>
              <a:srgbClr val="2A6BB5">
                <a:alpha val="5000"/>
              </a:srgbClr>
            </a:solidFill>
          </a:ln>
        </p:spPr>
        <p:txBody>
          <a:bodyPr/>
          <a:lstStyle/>
          <a:p>
            <a:endParaRPr lang="pt-BR" dirty="0"/>
          </a:p>
        </p:txBody>
      </p:sp>
      <p:sp>
        <p:nvSpPr>
          <p:cNvPr id="209" name="WM_EnvFlap"/>
          <p:cNvSpPr/>
          <p:nvPr/>
        </p:nvSpPr>
        <p:spPr>
          <a:xfrm rot="900000">
            <a:off x="7874000" y="4318000"/>
            <a:ext cx="1143000" cy="444500"/>
          </a:xfrm>
          <a:prstGeom prst="triangle">
            <a:avLst>
              <a:gd name="adj" fmla="val 50000"/>
            </a:avLst>
          </a:prstGeom>
          <a:noFill/>
          <a:ln w="15875">
            <a:solidFill>
              <a:srgbClr val="2A6BB5">
                <a:alpha val="5000"/>
              </a:srgbClr>
            </a:solidFill>
          </a:ln>
        </p:spPr>
        <p:txBody>
          <a:bodyPr/>
          <a:lstStyle/>
          <a:p>
            <a:endParaRPr lang="pt-BR" dirty="0"/>
          </a:p>
        </p:txBody>
      </p:sp>
      <p:sp>
        <p:nvSpPr>
          <p:cNvPr id="210" name="WM_KeyHead"/>
          <p:cNvSpPr/>
          <p:nvPr/>
        </p:nvSpPr>
        <p:spPr>
          <a:xfrm>
            <a:off x="-190500" y="1079500"/>
            <a:ext cx="508000" cy="508000"/>
          </a:xfrm>
          <a:prstGeom prst="ellipse">
            <a:avLst/>
          </a:prstGeom>
          <a:noFill/>
          <a:ln w="15875">
            <a:solidFill>
              <a:srgbClr val="D97B1E">
                <a:alpha val="6000"/>
              </a:srgbClr>
            </a:solidFill>
          </a:ln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848329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C8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7"/>
          <p:cNvSpPr/>
          <p:nvPr/>
        </p:nvSpPr>
        <p:spPr>
          <a:xfrm>
            <a:off x="-200025" y="2788920"/>
            <a:ext cx="2194560" cy="2194560"/>
          </a:xfrm>
          <a:prstGeom prst="ellipse">
            <a:avLst/>
          </a:prstGeom>
          <a:solidFill>
            <a:srgbClr val="E6B800">
              <a:alpha val="40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6"/>
          <p:cNvSpPr/>
          <p:nvPr/>
        </p:nvSpPr>
        <p:spPr>
          <a:xfrm>
            <a:off x="1923955" y="411480"/>
            <a:ext cx="1645920" cy="1645920"/>
          </a:xfrm>
          <a:prstGeom prst="ellipse">
            <a:avLst/>
          </a:prstGeom>
          <a:solidFill>
            <a:srgbClr val="E6B800">
              <a:alpha val="50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xmlns="" id="{CF18F437-E43E-E7B7-161F-F4E1B5CC7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0932" y="1147572"/>
            <a:ext cx="3424428" cy="342442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347472" y="548640"/>
            <a:ext cx="54864" cy="402336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4400" b="1" noProof="0" dirty="0">
                <a:solidFill>
                  <a:srgbClr val="3D3D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USO ADEQUADO</a:t>
            </a:r>
            <a:endParaRPr lang="pt-BR" sz="44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4400" b="1" noProof="0" dirty="0">
                <a:solidFill>
                  <a:srgbClr val="3D3D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 INTERNET</a:t>
            </a:r>
            <a:endParaRPr lang="pt-BR" sz="44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201168" cy="347472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557784" y="297180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pt-BR" sz="11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700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rede institucional é ferramenta de trabalho</a:t>
            </a:r>
            <a:endParaRPr lang="pt-BR" sz="1700" noProof="0" dirty="0"/>
          </a:p>
        </p:txBody>
      </p:sp>
      <p:sp>
        <p:nvSpPr>
          <p:cNvPr id="11" name="Shape 9"/>
          <p:cNvSpPr/>
          <p:nvPr/>
        </p:nvSpPr>
        <p:spPr>
          <a:xfrm>
            <a:off x="8503920" y="274320"/>
            <a:ext cx="457200" cy="45720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850392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FFC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VII</a:t>
            </a:r>
            <a:endParaRPr lang="pt-BR" sz="1400" noProof="0" dirty="0"/>
          </a:p>
        </p:txBody>
      </p:sp>
      <p:sp>
        <p:nvSpPr>
          <p:cNvPr id="10" name="Shape 8"/>
          <p:cNvSpPr/>
          <p:nvPr/>
        </p:nvSpPr>
        <p:spPr>
          <a:xfrm>
            <a:off x="7772400" y="3749040"/>
            <a:ext cx="1371600" cy="1371600"/>
          </a:xfrm>
          <a:prstGeom prst="ellipse">
            <a:avLst/>
          </a:prstGeom>
          <a:solidFill>
            <a:srgbClr val="E6B800">
              <a:alpha val="50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DDCCAA"/>
          </a:solidFill>
          <a:ln w="12700">
            <a:solidFill>
              <a:srgbClr val="DDCCA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100" noProof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VII — USO ADEQUADO DA INTERNET</a:t>
            </a:r>
            <a:endParaRPr lang="pt-BR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200" noProof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USAR A INTERNET DE FORMA SEGURA?</a:t>
            </a:r>
            <a:endParaRPr lang="pt-BR" sz="2200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22860"/>
          </a:xfrm>
          <a:prstGeom prst="rect">
            <a:avLst/>
          </a:prstGeom>
          <a:solidFill>
            <a:srgbClr val="CCBBAA"/>
          </a:solidFill>
          <a:ln w="12700">
            <a:solidFill>
              <a:srgbClr val="CCBBA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09728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1430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i="1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acesso à internet na FUNSERV é destinado às atividades institucionais. O uso pessoal eventual é tolerado desde que moderado e dentro das normas.</a:t>
            </a:r>
            <a:endParaRPr lang="pt-BR" sz="1250" noProof="0" dirty="0"/>
          </a:p>
        </p:txBody>
      </p:sp>
      <p:sp>
        <p:nvSpPr>
          <p:cNvPr id="18" name="LeftCard">
            <a:extLst>
              <a:ext uri="{FF2B5EF4-FFF2-40B4-BE49-F238E27FC236}">
                <a16:creationId xmlns:a16="http://schemas.microsoft.com/office/drawing/2014/main" xmlns="" id="{21B9F0C7-CEFE-932B-1C99-409984DDD544}"/>
              </a:ext>
            </a:extLst>
          </p:cNvPr>
          <p:cNvSpPr/>
          <p:nvPr/>
        </p:nvSpPr>
        <p:spPr>
          <a:xfrm>
            <a:off x="289560" y="1645920"/>
            <a:ext cx="4191000" cy="33274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38100" dist="19050" dir="5400000" algn="ctr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>
              <a:solidFill>
                <a:srgbClr val="333333"/>
              </a:solidFill>
            </a:endParaRPr>
          </a:p>
        </p:txBody>
      </p:sp>
      <p:sp>
        <p:nvSpPr>
          <p:cNvPr id="19" name="LeftGreenBar">
            <a:extLst>
              <a:ext uri="{FF2B5EF4-FFF2-40B4-BE49-F238E27FC236}">
                <a16:creationId xmlns:a16="http://schemas.microsoft.com/office/drawing/2014/main" xmlns="" id="{EB6FAE0A-2CBE-BA13-C2D9-AF7017879839}"/>
              </a:ext>
            </a:extLst>
          </p:cNvPr>
          <p:cNvSpPr/>
          <p:nvPr/>
        </p:nvSpPr>
        <p:spPr>
          <a:xfrm>
            <a:off x="289560" y="1645920"/>
            <a:ext cx="76200" cy="332740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1A7A3A"/>
              </a:solidFill>
            </a:endParaRPr>
          </a:p>
        </p:txBody>
      </p:sp>
      <p:sp>
        <p:nvSpPr>
          <p:cNvPr id="20" name="LeftHeader">
            <a:extLst>
              <a:ext uri="{FF2B5EF4-FFF2-40B4-BE49-F238E27FC236}">
                <a16:creationId xmlns:a16="http://schemas.microsoft.com/office/drawing/2014/main" xmlns="" id="{359E9D70-D059-88D5-EB7D-017CB71C4D6C}"/>
              </a:ext>
            </a:extLst>
          </p:cNvPr>
          <p:cNvSpPr/>
          <p:nvPr/>
        </p:nvSpPr>
        <p:spPr>
          <a:xfrm>
            <a:off x="365760" y="1645920"/>
            <a:ext cx="4114800" cy="35560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txBody>
          <a:bodyPr lIns="152400" tIns="0" rIns="91440" bIns="0" anchor="ctr"/>
          <a:lstStyle/>
          <a:p>
            <a:pPr algn="l"/>
            <a:r>
              <a:rPr lang="pt-BR" sz="1600" b="1" dirty="0">
                <a:solidFill>
                  <a:srgbClr val="FFFFFF"/>
                </a:solidFill>
                <a:latin typeface="Segoe UI"/>
              </a:rPr>
              <a:t>Uso permitido</a:t>
            </a:r>
          </a:p>
        </p:txBody>
      </p:sp>
      <p:sp>
        <p:nvSpPr>
          <p:cNvPr id="21" name="LBullet0">
            <a:extLst>
              <a:ext uri="{FF2B5EF4-FFF2-40B4-BE49-F238E27FC236}">
                <a16:creationId xmlns:a16="http://schemas.microsoft.com/office/drawing/2014/main" xmlns="" id="{F4E0C49C-3537-5764-3273-7A4F78702386}"/>
              </a:ext>
            </a:extLst>
          </p:cNvPr>
          <p:cNvSpPr/>
          <p:nvPr/>
        </p:nvSpPr>
        <p:spPr>
          <a:xfrm>
            <a:off x="492760" y="2278803"/>
            <a:ext cx="114300" cy="114300"/>
          </a:xfrm>
          <a:prstGeom prst="ellipse">
            <a:avLst/>
          </a:prstGeom>
          <a:solidFill>
            <a:srgbClr val="1A7A3A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1A7A3A"/>
              </a:solidFill>
            </a:endParaRPr>
          </a:p>
        </p:txBody>
      </p:sp>
      <p:sp>
        <p:nvSpPr>
          <p:cNvPr id="22" name="LText0">
            <a:extLst>
              <a:ext uri="{FF2B5EF4-FFF2-40B4-BE49-F238E27FC236}">
                <a16:creationId xmlns:a16="http://schemas.microsoft.com/office/drawing/2014/main" xmlns="" id="{7FD2F741-FED8-D265-4AAF-A3A3630B7C84}"/>
              </a:ext>
            </a:extLst>
          </p:cNvPr>
          <p:cNvSpPr/>
          <p:nvPr/>
        </p:nvSpPr>
        <p:spPr>
          <a:xfrm>
            <a:off x="784860" y="2103120"/>
            <a:ext cx="3543300" cy="465666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300" dirty="0">
                <a:solidFill>
                  <a:srgbClr val="333333"/>
                </a:solidFill>
                <a:latin typeface="Segoe UI"/>
              </a:rPr>
              <a:t>Sistemas governamentais e portais institucionais</a:t>
            </a:r>
          </a:p>
        </p:txBody>
      </p:sp>
      <p:sp>
        <p:nvSpPr>
          <p:cNvPr id="23" name="LBullet1">
            <a:extLst>
              <a:ext uri="{FF2B5EF4-FFF2-40B4-BE49-F238E27FC236}">
                <a16:creationId xmlns:a16="http://schemas.microsoft.com/office/drawing/2014/main" xmlns="" id="{BC0C53FE-C4F6-9AA3-6615-2A4CF28A635C}"/>
              </a:ext>
            </a:extLst>
          </p:cNvPr>
          <p:cNvSpPr/>
          <p:nvPr/>
        </p:nvSpPr>
        <p:spPr>
          <a:xfrm>
            <a:off x="492760" y="2744469"/>
            <a:ext cx="114300" cy="114300"/>
          </a:xfrm>
          <a:prstGeom prst="ellipse">
            <a:avLst/>
          </a:prstGeom>
          <a:solidFill>
            <a:srgbClr val="1A7A3A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1A7A3A"/>
              </a:solidFill>
            </a:endParaRPr>
          </a:p>
        </p:txBody>
      </p:sp>
      <p:sp>
        <p:nvSpPr>
          <p:cNvPr id="24" name="LText1">
            <a:extLst>
              <a:ext uri="{FF2B5EF4-FFF2-40B4-BE49-F238E27FC236}">
                <a16:creationId xmlns:a16="http://schemas.microsoft.com/office/drawing/2014/main" xmlns="" id="{616ABA39-2587-6A4F-984C-4C0F57C33633}"/>
              </a:ext>
            </a:extLst>
          </p:cNvPr>
          <p:cNvSpPr/>
          <p:nvPr/>
        </p:nvSpPr>
        <p:spPr>
          <a:xfrm>
            <a:off x="784860" y="2568786"/>
            <a:ext cx="3543300" cy="465666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300" dirty="0">
                <a:solidFill>
                  <a:srgbClr val="333333"/>
                </a:solidFill>
                <a:latin typeface="Segoe UI"/>
              </a:rPr>
              <a:t>Pesquisas relacionadas às atividades do órgão</a:t>
            </a:r>
          </a:p>
        </p:txBody>
      </p:sp>
      <p:sp>
        <p:nvSpPr>
          <p:cNvPr id="25" name="LBullet2">
            <a:extLst>
              <a:ext uri="{FF2B5EF4-FFF2-40B4-BE49-F238E27FC236}">
                <a16:creationId xmlns:a16="http://schemas.microsoft.com/office/drawing/2014/main" xmlns="" id="{768472E0-AB2C-7D93-DA08-CE918392A9DF}"/>
              </a:ext>
            </a:extLst>
          </p:cNvPr>
          <p:cNvSpPr/>
          <p:nvPr/>
        </p:nvSpPr>
        <p:spPr>
          <a:xfrm>
            <a:off x="492760" y="3210135"/>
            <a:ext cx="114300" cy="114300"/>
          </a:xfrm>
          <a:prstGeom prst="ellipse">
            <a:avLst/>
          </a:prstGeom>
          <a:solidFill>
            <a:srgbClr val="1A7A3A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1A7A3A"/>
              </a:solidFill>
            </a:endParaRPr>
          </a:p>
        </p:txBody>
      </p:sp>
      <p:sp>
        <p:nvSpPr>
          <p:cNvPr id="26" name="LText2">
            <a:extLst>
              <a:ext uri="{FF2B5EF4-FFF2-40B4-BE49-F238E27FC236}">
                <a16:creationId xmlns:a16="http://schemas.microsoft.com/office/drawing/2014/main" xmlns="" id="{2F091A87-3044-ECC4-6A25-4CE697C494A8}"/>
              </a:ext>
            </a:extLst>
          </p:cNvPr>
          <p:cNvSpPr/>
          <p:nvPr/>
        </p:nvSpPr>
        <p:spPr>
          <a:xfrm>
            <a:off x="784860" y="3034452"/>
            <a:ext cx="3543300" cy="465666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300" dirty="0">
                <a:solidFill>
                  <a:srgbClr val="333333"/>
                </a:solidFill>
                <a:latin typeface="Segoe UI"/>
              </a:rPr>
              <a:t>Consultar normas, legislação e regulamentos</a:t>
            </a:r>
          </a:p>
        </p:txBody>
      </p:sp>
      <p:sp>
        <p:nvSpPr>
          <p:cNvPr id="27" name="RightCard">
            <a:extLst>
              <a:ext uri="{FF2B5EF4-FFF2-40B4-BE49-F238E27FC236}">
                <a16:creationId xmlns:a16="http://schemas.microsoft.com/office/drawing/2014/main" xmlns="" id="{A2544C8D-F030-CBD0-DB0C-1E4AE5B09DF0}"/>
              </a:ext>
            </a:extLst>
          </p:cNvPr>
          <p:cNvSpPr/>
          <p:nvPr/>
        </p:nvSpPr>
        <p:spPr>
          <a:xfrm>
            <a:off x="4683760" y="1645920"/>
            <a:ext cx="4191000" cy="33274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38100" dist="19050" dir="5400000" algn="ctr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>
              <a:solidFill>
                <a:srgbClr val="333333"/>
              </a:solidFill>
            </a:endParaRPr>
          </a:p>
        </p:txBody>
      </p:sp>
      <p:sp>
        <p:nvSpPr>
          <p:cNvPr id="28" name="RightRedBar">
            <a:extLst>
              <a:ext uri="{FF2B5EF4-FFF2-40B4-BE49-F238E27FC236}">
                <a16:creationId xmlns:a16="http://schemas.microsoft.com/office/drawing/2014/main" xmlns="" id="{CE7AD996-4886-2D5E-E6C0-D930A76743C8}"/>
              </a:ext>
            </a:extLst>
          </p:cNvPr>
          <p:cNvSpPr/>
          <p:nvPr/>
        </p:nvSpPr>
        <p:spPr>
          <a:xfrm>
            <a:off x="4683760" y="1645920"/>
            <a:ext cx="76200" cy="332740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CC3333"/>
              </a:solidFill>
            </a:endParaRPr>
          </a:p>
        </p:txBody>
      </p:sp>
      <p:sp>
        <p:nvSpPr>
          <p:cNvPr id="29" name="RightHeader">
            <a:extLst>
              <a:ext uri="{FF2B5EF4-FFF2-40B4-BE49-F238E27FC236}">
                <a16:creationId xmlns:a16="http://schemas.microsoft.com/office/drawing/2014/main" xmlns="" id="{1A990290-FC85-65FB-5F26-2170E5C3E1F9}"/>
              </a:ext>
            </a:extLst>
          </p:cNvPr>
          <p:cNvSpPr/>
          <p:nvPr/>
        </p:nvSpPr>
        <p:spPr>
          <a:xfrm>
            <a:off x="4759960" y="1645920"/>
            <a:ext cx="4114800" cy="35560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txBody>
          <a:bodyPr lIns="152400" tIns="0" rIns="91440" bIns="0" anchor="ctr"/>
          <a:lstStyle/>
          <a:p>
            <a:pPr algn="l"/>
            <a:r>
              <a:rPr lang="pt-BR" sz="1600" b="1" dirty="0">
                <a:solidFill>
                  <a:srgbClr val="FFFFFF"/>
                </a:solidFill>
                <a:latin typeface="Segoe UI"/>
              </a:rPr>
              <a:t>Condutas proibidas</a:t>
            </a:r>
          </a:p>
        </p:txBody>
      </p:sp>
      <p:sp>
        <p:nvSpPr>
          <p:cNvPr id="30" name="RBullet0">
            <a:extLst>
              <a:ext uri="{FF2B5EF4-FFF2-40B4-BE49-F238E27FC236}">
                <a16:creationId xmlns:a16="http://schemas.microsoft.com/office/drawing/2014/main" xmlns="" id="{965E6CFF-8FE6-FD09-96F9-D811009CC751}"/>
              </a:ext>
            </a:extLst>
          </p:cNvPr>
          <p:cNvSpPr/>
          <p:nvPr/>
        </p:nvSpPr>
        <p:spPr>
          <a:xfrm>
            <a:off x="4886960" y="2278803"/>
            <a:ext cx="114300" cy="114300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CC3333"/>
              </a:solidFill>
            </a:endParaRPr>
          </a:p>
        </p:txBody>
      </p:sp>
      <p:sp>
        <p:nvSpPr>
          <p:cNvPr id="31" name="RText0">
            <a:extLst>
              <a:ext uri="{FF2B5EF4-FFF2-40B4-BE49-F238E27FC236}">
                <a16:creationId xmlns:a16="http://schemas.microsoft.com/office/drawing/2014/main" xmlns="" id="{92BD23EB-2228-92B4-4CCC-33F0AF7DE27F}"/>
              </a:ext>
            </a:extLst>
          </p:cNvPr>
          <p:cNvSpPr/>
          <p:nvPr/>
        </p:nvSpPr>
        <p:spPr>
          <a:xfrm>
            <a:off x="5179060" y="2103120"/>
            <a:ext cx="3543300" cy="465666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300" dirty="0">
                <a:solidFill>
                  <a:srgbClr val="333333"/>
                </a:solidFill>
                <a:latin typeface="Segoe UI"/>
              </a:rPr>
              <a:t>Conteúdos ilícitos, ofensivos ou inadequados</a:t>
            </a:r>
          </a:p>
        </p:txBody>
      </p:sp>
      <p:sp>
        <p:nvSpPr>
          <p:cNvPr id="32" name="RBullet1">
            <a:extLst>
              <a:ext uri="{FF2B5EF4-FFF2-40B4-BE49-F238E27FC236}">
                <a16:creationId xmlns:a16="http://schemas.microsoft.com/office/drawing/2014/main" xmlns="" id="{8AB4A5A1-9AFA-2861-935B-F3507862B75B}"/>
              </a:ext>
            </a:extLst>
          </p:cNvPr>
          <p:cNvSpPr/>
          <p:nvPr/>
        </p:nvSpPr>
        <p:spPr>
          <a:xfrm>
            <a:off x="4886960" y="2744469"/>
            <a:ext cx="114300" cy="114300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CC3333"/>
              </a:solidFill>
            </a:endParaRPr>
          </a:p>
        </p:txBody>
      </p:sp>
      <p:sp>
        <p:nvSpPr>
          <p:cNvPr id="33" name="RText1">
            <a:extLst>
              <a:ext uri="{FF2B5EF4-FFF2-40B4-BE49-F238E27FC236}">
                <a16:creationId xmlns:a16="http://schemas.microsoft.com/office/drawing/2014/main" xmlns="" id="{39E9672F-BE35-B1A8-3F22-42B0093B5A75}"/>
              </a:ext>
            </a:extLst>
          </p:cNvPr>
          <p:cNvSpPr/>
          <p:nvPr/>
        </p:nvSpPr>
        <p:spPr>
          <a:xfrm>
            <a:off x="5179060" y="2568786"/>
            <a:ext cx="3543300" cy="465666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300" dirty="0">
                <a:solidFill>
                  <a:srgbClr val="333333"/>
                </a:solidFill>
                <a:latin typeface="Segoe UI"/>
              </a:rPr>
              <a:t>Sites de jogos de azar</a:t>
            </a:r>
          </a:p>
        </p:txBody>
      </p:sp>
      <p:sp>
        <p:nvSpPr>
          <p:cNvPr id="34" name="RBullet2">
            <a:extLst>
              <a:ext uri="{FF2B5EF4-FFF2-40B4-BE49-F238E27FC236}">
                <a16:creationId xmlns:a16="http://schemas.microsoft.com/office/drawing/2014/main" xmlns="" id="{646C4F8B-E2F7-9ADD-074E-8ADC55987F98}"/>
              </a:ext>
            </a:extLst>
          </p:cNvPr>
          <p:cNvSpPr/>
          <p:nvPr/>
        </p:nvSpPr>
        <p:spPr>
          <a:xfrm>
            <a:off x="4886960" y="3210135"/>
            <a:ext cx="114300" cy="114300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CC3333"/>
              </a:solidFill>
            </a:endParaRPr>
          </a:p>
        </p:txBody>
      </p:sp>
      <p:sp>
        <p:nvSpPr>
          <p:cNvPr id="35" name="RText2">
            <a:extLst>
              <a:ext uri="{FF2B5EF4-FFF2-40B4-BE49-F238E27FC236}">
                <a16:creationId xmlns:a16="http://schemas.microsoft.com/office/drawing/2014/main" xmlns="" id="{AE379467-BA41-C956-FCF5-3B8ABFFD147D}"/>
              </a:ext>
            </a:extLst>
          </p:cNvPr>
          <p:cNvSpPr/>
          <p:nvPr/>
        </p:nvSpPr>
        <p:spPr>
          <a:xfrm>
            <a:off x="5179060" y="3034452"/>
            <a:ext cx="3543300" cy="465666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300" dirty="0">
                <a:solidFill>
                  <a:srgbClr val="333333"/>
                </a:solidFill>
                <a:latin typeface="Segoe UI"/>
              </a:rPr>
              <a:t>Download ou instalação de software não autorizado</a:t>
            </a:r>
          </a:p>
        </p:txBody>
      </p:sp>
      <p:sp>
        <p:nvSpPr>
          <p:cNvPr id="36" name="RBullet3">
            <a:extLst>
              <a:ext uri="{FF2B5EF4-FFF2-40B4-BE49-F238E27FC236}">
                <a16:creationId xmlns:a16="http://schemas.microsoft.com/office/drawing/2014/main" xmlns="" id="{90C07C7B-E7C2-E7A0-3BD5-484A3A883C7B}"/>
              </a:ext>
            </a:extLst>
          </p:cNvPr>
          <p:cNvSpPr/>
          <p:nvPr/>
        </p:nvSpPr>
        <p:spPr>
          <a:xfrm>
            <a:off x="4886960" y="3675801"/>
            <a:ext cx="114300" cy="114300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CC3333"/>
              </a:solidFill>
            </a:endParaRPr>
          </a:p>
        </p:txBody>
      </p:sp>
      <p:sp>
        <p:nvSpPr>
          <p:cNvPr id="37" name="RText3">
            <a:extLst>
              <a:ext uri="{FF2B5EF4-FFF2-40B4-BE49-F238E27FC236}">
                <a16:creationId xmlns:a16="http://schemas.microsoft.com/office/drawing/2014/main" xmlns="" id="{78675717-1B6F-A381-68E4-B01BCC9AF4D4}"/>
              </a:ext>
            </a:extLst>
          </p:cNvPr>
          <p:cNvSpPr/>
          <p:nvPr/>
        </p:nvSpPr>
        <p:spPr>
          <a:xfrm>
            <a:off x="5179060" y="3500118"/>
            <a:ext cx="3543300" cy="465666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300" dirty="0">
                <a:solidFill>
                  <a:srgbClr val="333333"/>
                </a:solidFill>
                <a:latin typeface="Segoe UI"/>
              </a:rPr>
              <a:t>Compartilhar arquivos protegidos sem autorização</a:t>
            </a:r>
          </a:p>
        </p:txBody>
      </p:sp>
      <p:sp>
        <p:nvSpPr>
          <p:cNvPr id="38" name="RBullet4">
            <a:extLst>
              <a:ext uri="{FF2B5EF4-FFF2-40B4-BE49-F238E27FC236}">
                <a16:creationId xmlns:a16="http://schemas.microsoft.com/office/drawing/2014/main" xmlns="" id="{87E51C99-CF14-AD07-88A1-A3C2D815F0F6}"/>
              </a:ext>
            </a:extLst>
          </p:cNvPr>
          <p:cNvSpPr/>
          <p:nvPr/>
        </p:nvSpPr>
        <p:spPr>
          <a:xfrm>
            <a:off x="4886960" y="4141467"/>
            <a:ext cx="114300" cy="114300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CC3333"/>
              </a:solidFill>
            </a:endParaRPr>
          </a:p>
        </p:txBody>
      </p:sp>
      <p:sp>
        <p:nvSpPr>
          <p:cNvPr id="39" name="RText4">
            <a:extLst>
              <a:ext uri="{FF2B5EF4-FFF2-40B4-BE49-F238E27FC236}">
                <a16:creationId xmlns:a16="http://schemas.microsoft.com/office/drawing/2014/main" xmlns="" id="{C702CE51-48B0-5B48-74D0-FA46E54EA5CF}"/>
              </a:ext>
            </a:extLst>
          </p:cNvPr>
          <p:cNvSpPr/>
          <p:nvPr/>
        </p:nvSpPr>
        <p:spPr>
          <a:xfrm>
            <a:off x="5179060" y="3965784"/>
            <a:ext cx="3543300" cy="465666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300" dirty="0">
                <a:solidFill>
                  <a:srgbClr val="333333"/>
                </a:solidFill>
                <a:latin typeface="Segoe UI"/>
              </a:rPr>
              <a:t>Uso para atividades político-partidárias</a:t>
            </a:r>
          </a:p>
        </p:txBody>
      </p:sp>
      <p:sp>
        <p:nvSpPr>
          <p:cNvPr id="40" name="RBullet5">
            <a:extLst>
              <a:ext uri="{FF2B5EF4-FFF2-40B4-BE49-F238E27FC236}">
                <a16:creationId xmlns:a16="http://schemas.microsoft.com/office/drawing/2014/main" xmlns="" id="{D263CFB8-1483-52A5-13A7-BFF6D26AC8A9}"/>
              </a:ext>
            </a:extLst>
          </p:cNvPr>
          <p:cNvSpPr/>
          <p:nvPr/>
        </p:nvSpPr>
        <p:spPr>
          <a:xfrm>
            <a:off x="4886960" y="4607133"/>
            <a:ext cx="114300" cy="114300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CC3333"/>
              </a:solidFill>
            </a:endParaRPr>
          </a:p>
        </p:txBody>
      </p:sp>
      <p:sp>
        <p:nvSpPr>
          <p:cNvPr id="41" name="RText5">
            <a:extLst>
              <a:ext uri="{FF2B5EF4-FFF2-40B4-BE49-F238E27FC236}">
                <a16:creationId xmlns:a16="http://schemas.microsoft.com/office/drawing/2014/main" xmlns="" id="{14995D0A-54EF-A129-8A81-A5390CCF9987}"/>
              </a:ext>
            </a:extLst>
          </p:cNvPr>
          <p:cNvSpPr/>
          <p:nvPr/>
        </p:nvSpPr>
        <p:spPr>
          <a:xfrm>
            <a:off x="5179060" y="4431450"/>
            <a:ext cx="3543300" cy="465666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300" dirty="0">
                <a:solidFill>
                  <a:srgbClr val="333333"/>
                </a:solidFill>
                <a:latin typeface="Segoe UI"/>
              </a:rPr>
              <a:t>Práticas que comprometam a segurança da rede</a:t>
            </a:r>
          </a:p>
        </p:txBody>
      </p:sp>
      <p:sp>
        <p:nvSpPr>
          <p:cNvPr id="42" name="LBullet3">
            <a:extLst>
              <a:ext uri="{FF2B5EF4-FFF2-40B4-BE49-F238E27FC236}">
                <a16:creationId xmlns:a16="http://schemas.microsoft.com/office/drawing/2014/main" xmlns="" id="{8FA08B5C-03E7-35C2-434A-C1873447E17B}"/>
              </a:ext>
            </a:extLst>
          </p:cNvPr>
          <p:cNvSpPr/>
          <p:nvPr/>
        </p:nvSpPr>
        <p:spPr>
          <a:xfrm>
            <a:off x="492760" y="3675801"/>
            <a:ext cx="114300" cy="114300"/>
          </a:xfrm>
          <a:prstGeom prst="ellipse">
            <a:avLst/>
          </a:prstGeom>
          <a:solidFill>
            <a:srgbClr val="1A7A3A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1A7A3A"/>
              </a:solidFill>
            </a:endParaRPr>
          </a:p>
        </p:txBody>
      </p:sp>
      <p:sp>
        <p:nvSpPr>
          <p:cNvPr id="43" name="LText3">
            <a:extLst>
              <a:ext uri="{FF2B5EF4-FFF2-40B4-BE49-F238E27FC236}">
                <a16:creationId xmlns:a16="http://schemas.microsoft.com/office/drawing/2014/main" xmlns="" id="{6C580C89-0B73-6B1F-480E-E2D0EF0340C1}"/>
              </a:ext>
            </a:extLst>
          </p:cNvPr>
          <p:cNvSpPr/>
          <p:nvPr/>
        </p:nvSpPr>
        <p:spPr>
          <a:xfrm>
            <a:off x="784860" y="3500118"/>
            <a:ext cx="3543000" cy="465666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300" dirty="0">
                <a:solidFill>
                  <a:srgbClr val="333333"/>
                </a:solidFill>
                <a:latin typeface="Segoe UI"/>
              </a:rPr>
              <a:t>Acessar portais de capacitação e cursos</a:t>
            </a:r>
          </a:p>
        </p:txBody>
      </p:sp>
      <p:sp>
        <p:nvSpPr>
          <p:cNvPr id="44" name="LBullet4">
            <a:extLst>
              <a:ext uri="{FF2B5EF4-FFF2-40B4-BE49-F238E27FC236}">
                <a16:creationId xmlns:a16="http://schemas.microsoft.com/office/drawing/2014/main" xmlns="" id="{FD4B70D3-8035-5119-40B7-AB166BAB9EA9}"/>
              </a:ext>
            </a:extLst>
          </p:cNvPr>
          <p:cNvSpPr/>
          <p:nvPr/>
        </p:nvSpPr>
        <p:spPr>
          <a:xfrm>
            <a:off x="492760" y="4141467"/>
            <a:ext cx="114300" cy="114300"/>
          </a:xfrm>
          <a:prstGeom prst="ellipse">
            <a:avLst/>
          </a:prstGeom>
          <a:solidFill>
            <a:srgbClr val="1A7A3A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1A7A3A"/>
              </a:solidFill>
            </a:endParaRPr>
          </a:p>
        </p:txBody>
      </p:sp>
      <p:sp>
        <p:nvSpPr>
          <p:cNvPr id="45" name="LText4">
            <a:extLst>
              <a:ext uri="{FF2B5EF4-FFF2-40B4-BE49-F238E27FC236}">
                <a16:creationId xmlns:a16="http://schemas.microsoft.com/office/drawing/2014/main" xmlns="" id="{F823E7DF-1B72-A88C-4D40-9C85B9E9C073}"/>
              </a:ext>
            </a:extLst>
          </p:cNvPr>
          <p:cNvSpPr/>
          <p:nvPr/>
        </p:nvSpPr>
        <p:spPr>
          <a:xfrm>
            <a:off x="784860" y="3965784"/>
            <a:ext cx="3543000" cy="465666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300" dirty="0">
                <a:solidFill>
                  <a:srgbClr val="333333"/>
                </a:solidFill>
                <a:latin typeface="Segoe UI"/>
              </a:rPr>
              <a:t>Verificar informações em fontes oficiais</a:t>
            </a:r>
          </a:p>
        </p:txBody>
      </p:sp>
      <p:sp>
        <p:nvSpPr>
          <p:cNvPr id="46" name="LBullet5">
            <a:extLst>
              <a:ext uri="{FF2B5EF4-FFF2-40B4-BE49-F238E27FC236}">
                <a16:creationId xmlns:a16="http://schemas.microsoft.com/office/drawing/2014/main" xmlns="" id="{D66D5229-9DFF-898F-7586-9A7A793C6691}"/>
              </a:ext>
            </a:extLst>
          </p:cNvPr>
          <p:cNvSpPr/>
          <p:nvPr/>
        </p:nvSpPr>
        <p:spPr>
          <a:xfrm>
            <a:off x="492760" y="4607133"/>
            <a:ext cx="114300" cy="114300"/>
          </a:xfrm>
          <a:prstGeom prst="ellipse">
            <a:avLst/>
          </a:prstGeom>
          <a:solidFill>
            <a:srgbClr val="1A7A3A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1A7A3A"/>
              </a:solidFill>
            </a:endParaRPr>
          </a:p>
        </p:txBody>
      </p:sp>
      <p:sp>
        <p:nvSpPr>
          <p:cNvPr id="47" name="LText5">
            <a:extLst>
              <a:ext uri="{FF2B5EF4-FFF2-40B4-BE49-F238E27FC236}">
                <a16:creationId xmlns:a16="http://schemas.microsoft.com/office/drawing/2014/main" xmlns="" id="{DE44A938-6BAD-7EBE-450B-E7A3553DFB2D}"/>
              </a:ext>
            </a:extLst>
          </p:cNvPr>
          <p:cNvSpPr/>
          <p:nvPr/>
        </p:nvSpPr>
        <p:spPr>
          <a:xfrm>
            <a:off x="784860" y="4431450"/>
            <a:ext cx="3543000" cy="465666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300" dirty="0">
                <a:solidFill>
                  <a:srgbClr val="333333"/>
                </a:solidFill>
                <a:latin typeface="Segoe UI"/>
              </a:rPr>
              <a:t>Uso pessoal eventual, moderado e seguro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E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8"/>
          <p:cNvSpPr/>
          <p:nvPr/>
        </p:nvSpPr>
        <p:spPr>
          <a:xfrm>
            <a:off x="6053328" y="868680"/>
            <a:ext cx="1371600" cy="1371600"/>
          </a:xfrm>
          <a:prstGeom prst="ellipse">
            <a:avLst/>
          </a:prstGeom>
          <a:solidFill>
            <a:srgbClr val="E6B800">
              <a:alpha val="50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xmlns="" id="{73F9EE28-EB65-DA32-0D6A-9764CD4580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50" t="6151" r="5727" b="9409"/>
          <a:stretch>
            <a:fillRect/>
          </a:stretch>
        </p:blipFill>
        <p:spPr>
          <a:xfrm>
            <a:off x="411480" y="1724501"/>
            <a:ext cx="3038380" cy="296179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</p:pic>
      <p:sp>
        <p:nvSpPr>
          <p:cNvPr id="2" name="Shape 0"/>
          <p:cNvSpPr/>
          <p:nvPr/>
        </p:nvSpPr>
        <p:spPr>
          <a:xfrm>
            <a:off x="8915400" y="457200"/>
            <a:ext cx="54864" cy="402336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4400" b="1" noProof="0" dirty="0">
                <a:solidFill>
                  <a:srgbClr val="3D3D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BACKUP E</a:t>
            </a:r>
            <a:endParaRPr lang="pt-BR" sz="44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4400" b="1" noProof="0" dirty="0">
                <a:solidFill>
                  <a:srgbClr val="3D3D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ARMAZENAMENTO SEGURO</a:t>
            </a:r>
            <a:endParaRPr lang="pt-BR" sz="4400" noProof="0" dirty="0"/>
          </a:p>
        </p:txBody>
      </p:sp>
      <p:sp>
        <p:nvSpPr>
          <p:cNvPr id="5" name="Shape 3"/>
          <p:cNvSpPr/>
          <p:nvPr/>
        </p:nvSpPr>
        <p:spPr>
          <a:xfrm>
            <a:off x="4370832" y="2971800"/>
            <a:ext cx="201168" cy="347472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4379976" y="297180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pt-BR" sz="11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700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Proteger a informação é proteger o serviço</a:t>
            </a:r>
            <a:endParaRPr lang="pt-BR" sz="1700" noProof="0" dirty="0"/>
          </a:p>
        </p:txBody>
      </p:sp>
      <p:sp>
        <p:nvSpPr>
          <p:cNvPr id="8" name="Shape 6"/>
          <p:cNvSpPr/>
          <p:nvPr/>
        </p:nvSpPr>
        <p:spPr>
          <a:xfrm>
            <a:off x="-15716" y="-548640"/>
            <a:ext cx="1645920" cy="1645920"/>
          </a:xfrm>
          <a:prstGeom prst="ellipse">
            <a:avLst/>
          </a:prstGeom>
          <a:solidFill>
            <a:srgbClr val="E6B800">
              <a:alpha val="50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-466344" y="4381976"/>
            <a:ext cx="2194560" cy="2194560"/>
          </a:xfrm>
          <a:prstGeom prst="ellipse">
            <a:avLst/>
          </a:prstGeom>
          <a:solidFill>
            <a:srgbClr val="FF0000">
              <a:alpha val="40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173736" y="274320"/>
            <a:ext cx="457200" cy="45720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173736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FFC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VIII</a:t>
            </a:r>
            <a:endParaRPr lang="pt-BR" sz="1400" noProof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DDCCAA"/>
          </a:solidFill>
          <a:ln w="12700">
            <a:solidFill>
              <a:srgbClr val="DDCCA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100" noProof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VIII — BACKUP E ARMAZENAMENTO SEGURO</a:t>
            </a:r>
            <a:endParaRPr lang="pt-BR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200" noProof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O BACKUP IMPORTA?</a:t>
            </a:r>
            <a:endParaRPr lang="pt-BR" sz="2200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22860"/>
          </a:xfrm>
          <a:prstGeom prst="rect">
            <a:avLst/>
          </a:prstGeom>
          <a:solidFill>
            <a:srgbClr val="CCBBAA"/>
          </a:solidFill>
          <a:ln w="12700">
            <a:solidFill>
              <a:srgbClr val="CCBBA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09728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1430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i="1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é a cópia de segurança dos dados. Garante que, mesmo em caso de falha, ataque ou erro humano, as informações possam ser recuperadas.</a:t>
            </a:r>
            <a:endParaRPr lang="pt-BR" sz="1250" noProof="0" dirty="0"/>
          </a:p>
        </p:txBody>
      </p:sp>
      <p:sp>
        <p:nvSpPr>
          <p:cNvPr id="54" name="Card0">
            <a:extLst>
              <a:ext uri="{FF2B5EF4-FFF2-40B4-BE49-F238E27FC236}">
                <a16:creationId xmlns:a16="http://schemas.microsoft.com/office/drawing/2014/main" xmlns="" id="{11B94F70-D7F8-389F-1B2B-C3D179CCBD06}"/>
              </a:ext>
            </a:extLst>
          </p:cNvPr>
          <p:cNvSpPr/>
          <p:nvPr/>
        </p:nvSpPr>
        <p:spPr>
          <a:xfrm>
            <a:off x="301171" y="1604645"/>
            <a:ext cx="8585200" cy="781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>
            <a:outerShdw blurRad="25400" dist="12700" dir="5400000" algn="ctr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 dirty="0">
              <a:solidFill>
                <a:srgbClr val="333333"/>
              </a:solidFill>
            </a:endParaRPr>
          </a:p>
        </p:txBody>
      </p:sp>
      <p:sp>
        <p:nvSpPr>
          <p:cNvPr id="55" name="Accent0">
            <a:extLst>
              <a:ext uri="{FF2B5EF4-FFF2-40B4-BE49-F238E27FC236}">
                <a16:creationId xmlns:a16="http://schemas.microsoft.com/office/drawing/2014/main" xmlns="" id="{24418C81-56CF-8AE4-9162-E7377114D8C4}"/>
              </a:ext>
            </a:extLst>
          </p:cNvPr>
          <p:cNvSpPr/>
          <p:nvPr/>
        </p:nvSpPr>
        <p:spPr>
          <a:xfrm>
            <a:off x="301171" y="1604645"/>
            <a:ext cx="76200" cy="781050"/>
          </a:xfrm>
          <a:prstGeom prst="rect">
            <a:avLst/>
          </a:prstGeom>
          <a:solidFill>
            <a:srgbClr val="2A6BB5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2A6BB5"/>
              </a:solidFill>
            </a:endParaRPr>
          </a:p>
        </p:txBody>
      </p:sp>
      <p:sp>
        <p:nvSpPr>
          <p:cNvPr id="56" name="IconCircle0">
            <a:extLst>
              <a:ext uri="{FF2B5EF4-FFF2-40B4-BE49-F238E27FC236}">
                <a16:creationId xmlns:a16="http://schemas.microsoft.com/office/drawing/2014/main" xmlns="" id="{D6F8B8A2-9A29-9CBB-47A9-5C36B606F11D}"/>
              </a:ext>
            </a:extLst>
          </p:cNvPr>
          <p:cNvSpPr/>
          <p:nvPr/>
        </p:nvSpPr>
        <p:spPr>
          <a:xfrm>
            <a:off x="504371" y="1741170"/>
            <a:ext cx="508000" cy="508000"/>
          </a:xfrm>
          <a:prstGeom prst="ellipse">
            <a:avLst/>
          </a:prstGeom>
          <a:solidFill>
            <a:srgbClr val="2A6BB5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2A6BB5"/>
              </a:solidFill>
            </a:endParaRPr>
          </a:p>
        </p:txBody>
      </p:sp>
      <p:sp>
        <p:nvSpPr>
          <p:cNvPr id="57" name="Label0">
            <a:extLst>
              <a:ext uri="{FF2B5EF4-FFF2-40B4-BE49-F238E27FC236}">
                <a16:creationId xmlns:a16="http://schemas.microsoft.com/office/drawing/2014/main" xmlns="" id="{44D9DF9A-CF99-C83B-E4FC-B571BD1AB9D3}"/>
              </a:ext>
            </a:extLst>
          </p:cNvPr>
          <p:cNvSpPr/>
          <p:nvPr/>
        </p:nvSpPr>
        <p:spPr>
          <a:xfrm>
            <a:off x="1113971" y="1604645"/>
            <a:ext cx="1651000" cy="78105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500" b="1" dirty="0">
                <a:solidFill>
                  <a:srgbClr val="2A6BB5"/>
                </a:solidFill>
                <a:latin typeface="Segoe UI"/>
              </a:rPr>
              <a:t>Diário</a:t>
            </a:r>
          </a:p>
        </p:txBody>
      </p:sp>
      <p:sp>
        <p:nvSpPr>
          <p:cNvPr id="58" name="Desc0">
            <a:extLst>
              <a:ext uri="{FF2B5EF4-FFF2-40B4-BE49-F238E27FC236}">
                <a16:creationId xmlns:a16="http://schemas.microsoft.com/office/drawing/2014/main" xmlns="" id="{6F067B3E-5276-D5E2-EB3A-4B254B3D77B1}"/>
              </a:ext>
            </a:extLst>
          </p:cNvPr>
          <p:cNvSpPr/>
          <p:nvPr/>
        </p:nvSpPr>
        <p:spPr>
          <a:xfrm>
            <a:off x="2764971" y="1604645"/>
            <a:ext cx="5994400" cy="781050"/>
          </a:xfrm>
          <a:prstGeom prst="rect">
            <a:avLst/>
          </a:prstGeom>
          <a:noFill/>
          <a:ln>
            <a:noFill/>
          </a:ln>
        </p:spPr>
        <p:txBody>
          <a:bodyPr lIns="45720" tIns="0" rIns="91440" bIns="0" anchor="ctr"/>
          <a:lstStyle/>
          <a:p>
            <a:pPr algn="l"/>
            <a:r>
              <a:rPr lang="pt-BR" sz="1400" dirty="0">
                <a:solidFill>
                  <a:srgbClr val="444444"/>
                </a:solidFill>
                <a:latin typeface="Segoe UI"/>
              </a:rPr>
              <a:t>Sistemas críticos e bases de dados.</a:t>
            </a:r>
          </a:p>
        </p:txBody>
      </p:sp>
      <p:sp>
        <p:nvSpPr>
          <p:cNvPr id="59" name="Divider0">
            <a:extLst>
              <a:ext uri="{FF2B5EF4-FFF2-40B4-BE49-F238E27FC236}">
                <a16:creationId xmlns:a16="http://schemas.microsoft.com/office/drawing/2014/main" xmlns="" id="{9A13C682-E147-8869-26DC-6417F9EC7C59}"/>
              </a:ext>
            </a:extLst>
          </p:cNvPr>
          <p:cNvSpPr/>
          <p:nvPr/>
        </p:nvSpPr>
        <p:spPr>
          <a:xfrm>
            <a:off x="2739571" y="1731645"/>
            <a:ext cx="12700" cy="527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60" name="Card1">
            <a:extLst>
              <a:ext uri="{FF2B5EF4-FFF2-40B4-BE49-F238E27FC236}">
                <a16:creationId xmlns:a16="http://schemas.microsoft.com/office/drawing/2014/main" xmlns="" id="{3A46403E-933D-205D-2E8F-D8C0627D182C}"/>
              </a:ext>
            </a:extLst>
          </p:cNvPr>
          <p:cNvSpPr/>
          <p:nvPr/>
        </p:nvSpPr>
        <p:spPr>
          <a:xfrm>
            <a:off x="301171" y="2461895"/>
            <a:ext cx="8585200" cy="781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>
            <a:outerShdw blurRad="25400" dist="12700" dir="5400000" algn="ctr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 dirty="0">
              <a:solidFill>
                <a:srgbClr val="333333"/>
              </a:solidFill>
            </a:endParaRPr>
          </a:p>
        </p:txBody>
      </p:sp>
      <p:sp>
        <p:nvSpPr>
          <p:cNvPr id="61" name="Accent1">
            <a:extLst>
              <a:ext uri="{FF2B5EF4-FFF2-40B4-BE49-F238E27FC236}">
                <a16:creationId xmlns:a16="http://schemas.microsoft.com/office/drawing/2014/main" xmlns="" id="{07A1F82C-6032-BC3B-C610-D4ED51D94C63}"/>
              </a:ext>
            </a:extLst>
          </p:cNvPr>
          <p:cNvSpPr/>
          <p:nvPr/>
        </p:nvSpPr>
        <p:spPr>
          <a:xfrm>
            <a:off x="301171" y="2461895"/>
            <a:ext cx="76200" cy="78105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1A7A3A"/>
              </a:solidFill>
            </a:endParaRPr>
          </a:p>
        </p:txBody>
      </p:sp>
      <p:sp>
        <p:nvSpPr>
          <p:cNvPr id="62" name="IconCircle1">
            <a:extLst>
              <a:ext uri="{FF2B5EF4-FFF2-40B4-BE49-F238E27FC236}">
                <a16:creationId xmlns:a16="http://schemas.microsoft.com/office/drawing/2014/main" xmlns="" id="{8B79377B-27B2-A209-CC55-D8438D4CE72E}"/>
              </a:ext>
            </a:extLst>
          </p:cNvPr>
          <p:cNvSpPr/>
          <p:nvPr/>
        </p:nvSpPr>
        <p:spPr>
          <a:xfrm>
            <a:off x="504371" y="2598420"/>
            <a:ext cx="508000" cy="508000"/>
          </a:xfrm>
          <a:prstGeom prst="ellipse">
            <a:avLst/>
          </a:prstGeom>
          <a:solidFill>
            <a:srgbClr val="1A7A3A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1A7A3A"/>
              </a:solidFill>
            </a:endParaRPr>
          </a:p>
        </p:txBody>
      </p:sp>
      <p:sp>
        <p:nvSpPr>
          <p:cNvPr id="63" name="Label1">
            <a:extLst>
              <a:ext uri="{FF2B5EF4-FFF2-40B4-BE49-F238E27FC236}">
                <a16:creationId xmlns:a16="http://schemas.microsoft.com/office/drawing/2014/main" xmlns="" id="{1E9F96D4-F17B-F117-E5AF-7D119A99BA96}"/>
              </a:ext>
            </a:extLst>
          </p:cNvPr>
          <p:cNvSpPr/>
          <p:nvPr/>
        </p:nvSpPr>
        <p:spPr>
          <a:xfrm>
            <a:off x="1113971" y="2461895"/>
            <a:ext cx="1651000" cy="78105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500" b="1" dirty="0">
                <a:solidFill>
                  <a:srgbClr val="1A7A3A"/>
                </a:solidFill>
                <a:latin typeface="Segoe UI"/>
              </a:rPr>
              <a:t>Semanal</a:t>
            </a:r>
          </a:p>
        </p:txBody>
      </p:sp>
      <p:sp>
        <p:nvSpPr>
          <p:cNvPr id="64" name="Desc1">
            <a:extLst>
              <a:ext uri="{FF2B5EF4-FFF2-40B4-BE49-F238E27FC236}">
                <a16:creationId xmlns:a16="http://schemas.microsoft.com/office/drawing/2014/main" xmlns="" id="{C13B7A52-B30A-0B73-B1F1-D3B1F7D7F8C0}"/>
              </a:ext>
            </a:extLst>
          </p:cNvPr>
          <p:cNvSpPr/>
          <p:nvPr/>
        </p:nvSpPr>
        <p:spPr>
          <a:xfrm>
            <a:off x="2764971" y="2461895"/>
            <a:ext cx="5994400" cy="781050"/>
          </a:xfrm>
          <a:prstGeom prst="rect">
            <a:avLst/>
          </a:prstGeom>
          <a:noFill/>
          <a:ln>
            <a:noFill/>
          </a:ln>
        </p:spPr>
        <p:txBody>
          <a:bodyPr lIns="45720" tIns="0" rIns="91440" bIns="0" anchor="ctr"/>
          <a:lstStyle/>
          <a:p>
            <a:pPr algn="l"/>
            <a:r>
              <a:rPr lang="pt-BR" sz="1400" dirty="0">
                <a:solidFill>
                  <a:srgbClr val="444444"/>
                </a:solidFill>
                <a:latin typeface="Segoe UI"/>
              </a:rPr>
              <a:t>Arquivos institucionais e pastas compartilhadas.</a:t>
            </a:r>
          </a:p>
        </p:txBody>
      </p:sp>
      <p:sp>
        <p:nvSpPr>
          <p:cNvPr id="65" name="Divider1">
            <a:extLst>
              <a:ext uri="{FF2B5EF4-FFF2-40B4-BE49-F238E27FC236}">
                <a16:creationId xmlns:a16="http://schemas.microsoft.com/office/drawing/2014/main" xmlns="" id="{89993D93-6E83-3CE3-4EEC-9FC711730585}"/>
              </a:ext>
            </a:extLst>
          </p:cNvPr>
          <p:cNvSpPr/>
          <p:nvPr/>
        </p:nvSpPr>
        <p:spPr>
          <a:xfrm>
            <a:off x="2739571" y="2588895"/>
            <a:ext cx="12700" cy="527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66" name="Card2">
            <a:extLst>
              <a:ext uri="{FF2B5EF4-FFF2-40B4-BE49-F238E27FC236}">
                <a16:creationId xmlns:a16="http://schemas.microsoft.com/office/drawing/2014/main" xmlns="" id="{37A2AD81-2FAB-3BFB-7599-ED6C64D9C6A2}"/>
              </a:ext>
            </a:extLst>
          </p:cNvPr>
          <p:cNvSpPr/>
          <p:nvPr/>
        </p:nvSpPr>
        <p:spPr>
          <a:xfrm>
            <a:off x="301171" y="3319145"/>
            <a:ext cx="8585200" cy="781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>
            <a:outerShdw blurRad="25400" dist="12700" dir="5400000" algn="ctr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 dirty="0">
              <a:solidFill>
                <a:srgbClr val="333333"/>
              </a:solidFill>
            </a:endParaRPr>
          </a:p>
        </p:txBody>
      </p:sp>
      <p:sp>
        <p:nvSpPr>
          <p:cNvPr id="67" name="Accent2">
            <a:extLst>
              <a:ext uri="{FF2B5EF4-FFF2-40B4-BE49-F238E27FC236}">
                <a16:creationId xmlns:a16="http://schemas.microsoft.com/office/drawing/2014/main" xmlns="" id="{DA068224-B154-C1B4-E9E4-DDDC6046F838}"/>
              </a:ext>
            </a:extLst>
          </p:cNvPr>
          <p:cNvSpPr/>
          <p:nvPr/>
        </p:nvSpPr>
        <p:spPr>
          <a:xfrm>
            <a:off x="301171" y="3319145"/>
            <a:ext cx="76200" cy="781050"/>
          </a:xfrm>
          <a:prstGeom prst="rect">
            <a:avLst/>
          </a:prstGeom>
          <a:solidFill>
            <a:srgbClr val="D97B1E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D97B1E"/>
              </a:solidFill>
            </a:endParaRPr>
          </a:p>
        </p:txBody>
      </p:sp>
      <p:sp>
        <p:nvSpPr>
          <p:cNvPr id="68" name="IconCircle2">
            <a:extLst>
              <a:ext uri="{FF2B5EF4-FFF2-40B4-BE49-F238E27FC236}">
                <a16:creationId xmlns:a16="http://schemas.microsoft.com/office/drawing/2014/main" xmlns="" id="{B0618EC1-17C1-FDAE-9FFD-880A4A73CF4B}"/>
              </a:ext>
            </a:extLst>
          </p:cNvPr>
          <p:cNvSpPr/>
          <p:nvPr/>
        </p:nvSpPr>
        <p:spPr>
          <a:xfrm>
            <a:off x="504371" y="3455670"/>
            <a:ext cx="508000" cy="508000"/>
          </a:xfrm>
          <a:prstGeom prst="ellipse">
            <a:avLst/>
          </a:prstGeom>
          <a:solidFill>
            <a:srgbClr val="D97B1E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D97B1E"/>
              </a:solidFill>
            </a:endParaRPr>
          </a:p>
        </p:txBody>
      </p:sp>
      <p:sp>
        <p:nvSpPr>
          <p:cNvPr id="69" name="Label2">
            <a:extLst>
              <a:ext uri="{FF2B5EF4-FFF2-40B4-BE49-F238E27FC236}">
                <a16:creationId xmlns:a16="http://schemas.microsoft.com/office/drawing/2014/main" xmlns="" id="{008C11F4-B078-D357-0686-45BDE838CBF6}"/>
              </a:ext>
            </a:extLst>
          </p:cNvPr>
          <p:cNvSpPr/>
          <p:nvPr/>
        </p:nvSpPr>
        <p:spPr>
          <a:xfrm>
            <a:off x="1113971" y="3319145"/>
            <a:ext cx="1651000" cy="78105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500" b="1" dirty="0">
                <a:solidFill>
                  <a:srgbClr val="D97B1E"/>
                </a:solidFill>
                <a:latin typeface="Segoe UI"/>
              </a:rPr>
              <a:t>Mensal</a:t>
            </a:r>
          </a:p>
        </p:txBody>
      </p:sp>
      <p:sp>
        <p:nvSpPr>
          <p:cNvPr id="70" name="Desc2">
            <a:extLst>
              <a:ext uri="{FF2B5EF4-FFF2-40B4-BE49-F238E27FC236}">
                <a16:creationId xmlns:a16="http://schemas.microsoft.com/office/drawing/2014/main" xmlns="" id="{73F83410-6BB2-1280-A0BA-D9C1C9352BF8}"/>
              </a:ext>
            </a:extLst>
          </p:cNvPr>
          <p:cNvSpPr/>
          <p:nvPr/>
        </p:nvSpPr>
        <p:spPr>
          <a:xfrm>
            <a:off x="2764971" y="3319145"/>
            <a:ext cx="5994400" cy="781050"/>
          </a:xfrm>
          <a:prstGeom prst="rect">
            <a:avLst/>
          </a:prstGeom>
          <a:noFill/>
          <a:ln>
            <a:noFill/>
          </a:ln>
        </p:spPr>
        <p:txBody>
          <a:bodyPr lIns="45720" tIns="0" rIns="91440" bIns="0" anchor="ctr"/>
          <a:lstStyle/>
          <a:p>
            <a:pPr algn="l"/>
            <a:r>
              <a:rPr lang="pt-BR" sz="1400" dirty="0">
                <a:solidFill>
                  <a:srgbClr val="444444"/>
                </a:solidFill>
                <a:latin typeface="Segoe UI"/>
              </a:rPr>
              <a:t>Backup completo em nuvem institucional ou local externo.</a:t>
            </a:r>
          </a:p>
        </p:txBody>
      </p:sp>
      <p:sp>
        <p:nvSpPr>
          <p:cNvPr id="71" name="Divider2">
            <a:extLst>
              <a:ext uri="{FF2B5EF4-FFF2-40B4-BE49-F238E27FC236}">
                <a16:creationId xmlns:a16="http://schemas.microsoft.com/office/drawing/2014/main" xmlns="" id="{E9D527F5-72D7-0337-9EB1-0B790DF475D9}"/>
              </a:ext>
            </a:extLst>
          </p:cNvPr>
          <p:cNvSpPr/>
          <p:nvPr/>
        </p:nvSpPr>
        <p:spPr>
          <a:xfrm>
            <a:off x="2739571" y="3446145"/>
            <a:ext cx="12700" cy="527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72" name="Card3">
            <a:extLst>
              <a:ext uri="{FF2B5EF4-FFF2-40B4-BE49-F238E27FC236}">
                <a16:creationId xmlns:a16="http://schemas.microsoft.com/office/drawing/2014/main" xmlns="" id="{ED7374D4-026A-2BF8-1FE3-7BDD4EFCF6F3}"/>
              </a:ext>
            </a:extLst>
          </p:cNvPr>
          <p:cNvSpPr/>
          <p:nvPr/>
        </p:nvSpPr>
        <p:spPr>
          <a:xfrm>
            <a:off x="301171" y="4176395"/>
            <a:ext cx="8585200" cy="781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>
            <a:outerShdw blurRad="25400" dist="12700" dir="5400000" algn="ctr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 dirty="0">
              <a:solidFill>
                <a:srgbClr val="333333"/>
              </a:solidFill>
            </a:endParaRPr>
          </a:p>
        </p:txBody>
      </p:sp>
      <p:sp>
        <p:nvSpPr>
          <p:cNvPr id="73" name="Accent3">
            <a:extLst>
              <a:ext uri="{FF2B5EF4-FFF2-40B4-BE49-F238E27FC236}">
                <a16:creationId xmlns:a16="http://schemas.microsoft.com/office/drawing/2014/main" xmlns="" id="{E6F116A1-723B-7C10-4C05-273F542ABE3D}"/>
              </a:ext>
            </a:extLst>
          </p:cNvPr>
          <p:cNvSpPr/>
          <p:nvPr/>
        </p:nvSpPr>
        <p:spPr>
          <a:xfrm>
            <a:off x="301171" y="4176395"/>
            <a:ext cx="76200" cy="781050"/>
          </a:xfrm>
          <a:prstGeom prst="rect">
            <a:avLst/>
          </a:prstGeom>
          <a:solidFill>
            <a:srgbClr val="7B2D8E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7B2D8E"/>
              </a:solidFill>
            </a:endParaRPr>
          </a:p>
        </p:txBody>
      </p:sp>
      <p:sp>
        <p:nvSpPr>
          <p:cNvPr id="74" name="IconCircle3">
            <a:extLst>
              <a:ext uri="{FF2B5EF4-FFF2-40B4-BE49-F238E27FC236}">
                <a16:creationId xmlns:a16="http://schemas.microsoft.com/office/drawing/2014/main" xmlns="" id="{8308663B-1777-B53C-784C-B3E4B0781E51}"/>
              </a:ext>
            </a:extLst>
          </p:cNvPr>
          <p:cNvSpPr/>
          <p:nvPr/>
        </p:nvSpPr>
        <p:spPr>
          <a:xfrm>
            <a:off x="504371" y="4312920"/>
            <a:ext cx="508000" cy="508000"/>
          </a:xfrm>
          <a:prstGeom prst="ellipse">
            <a:avLst/>
          </a:prstGeom>
          <a:solidFill>
            <a:srgbClr val="7B2D8E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7B2D8E"/>
              </a:solidFill>
            </a:endParaRPr>
          </a:p>
        </p:txBody>
      </p:sp>
      <p:sp>
        <p:nvSpPr>
          <p:cNvPr id="75" name="Label3">
            <a:extLst>
              <a:ext uri="{FF2B5EF4-FFF2-40B4-BE49-F238E27FC236}">
                <a16:creationId xmlns:a16="http://schemas.microsoft.com/office/drawing/2014/main" xmlns="" id="{F48C49EB-B837-206E-0B80-ED80875EF59B}"/>
              </a:ext>
            </a:extLst>
          </p:cNvPr>
          <p:cNvSpPr/>
          <p:nvPr/>
        </p:nvSpPr>
        <p:spPr>
          <a:xfrm>
            <a:off x="1113971" y="4176395"/>
            <a:ext cx="1651000" cy="78105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500" b="1" dirty="0">
                <a:solidFill>
                  <a:srgbClr val="7B2D8E"/>
                </a:solidFill>
                <a:latin typeface="Segoe UI"/>
              </a:rPr>
              <a:t>Verificação</a:t>
            </a:r>
          </a:p>
        </p:txBody>
      </p:sp>
      <p:sp>
        <p:nvSpPr>
          <p:cNvPr id="76" name="Desc3">
            <a:extLst>
              <a:ext uri="{FF2B5EF4-FFF2-40B4-BE49-F238E27FC236}">
                <a16:creationId xmlns:a16="http://schemas.microsoft.com/office/drawing/2014/main" xmlns="" id="{785D2113-85AF-885A-FF2C-2117B35806F6}"/>
              </a:ext>
            </a:extLst>
          </p:cNvPr>
          <p:cNvSpPr/>
          <p:nvPr/>
        </p:nvSpPr>
        <p:spPr>
          <a:xfrm>
            <a:off x="2764971" y="4176395"/>
            <a:ext cx="5994400" cy="781050"/>
          </a:xfrm>
          <a:prstGeom prst="rect">
            <a:avLst/>
          </a:prstGeom>
          <a:noFill/>
          <a:ln>
            <a:noFill/>
          </a:ln>
        </p:spPr>
        <p:txBody>
          <a:bodyPr lIns="45720" tIns="0" rIns="91440" bIns="0" anchor="ctr"/>
          <a:lstStyle/>
          <a:p>
            <a:pPr algn="l"/>
            <a:r>
              <a:rPr lang="pt-BR" sz="1400" dirty="0">
                <a:solidFill>
                  <a:srgbClr val="444444"/>
                </a:solidFill>
                <a:latin typeface="Segoe UI"/>
              </a:rPr>
              <a:t>Testar a restauração regularmente.</a:t>
            </a:r>
          </a:p>
        </p:txBody>
      </p:sp>
      <p:sp>
        <p:nvSpPr>
          <p:cNvPr id="77" name="Divider3">
            <a:extLst>
              <a:ext uri="{FF2B5EF4-FFF2-40B4-BE49-F238E27FC236}">
                <a16:creationId xmlns:a16="http://schemas.microsoft.com/office/drawing/2014/main" xmlns="" id="{4FCB4723-E3C7-D61C-A251-B52FCD2AB1C1}"/>
              </a:ext>
            </a:extLst>
          </p:cNvPr>
          <p:cNvSpPr/>
          <p:nvPr/>
        </p:nvSpPr>
        <p:spPr>
          <a:xfrm>
            <a:off x="2739571" y="4303395"/>
            <a:ext cx="12700" cy="527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pic>
        <p:nvPicPr>
          <p:cNvPr id="78" name="Graphic 661" descr="Database - backup diário">
            <a:extLst>
              <a:ext uri="{FF2B5EF4-FFF2-40B4-BE49-F238E27FC236}">
                <a16:creationId xmlns:a16="http://schemas.microsoft.com/office/drawing/2014/main" xmlns="" id="{C21E2E1E-9E1D-F461-A75B-BA72C5E9A4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05971" y="1845945"/>
            <a:ext cx="304800" cy="304800"/>
          </a:xfrm>
          <a:prstGeom prst="rect">
            <a:avLst/>
          </a:prstGeom>
        </p:spPr>
      </p:pic>
      <p:pic>
        <p:nvPicPr>
          <p:cNvPr id="79" name="Graphic 662" descr="Pasta - backup semanal">
            <a:extLst>
              <a:ext uri="{FF2B5EF4-FFF2-40B4-BE49-F238E27FC236}">
                <a16:creationId xmlns:a16="http://schemas.microsoft.com/office/drawing/2014/main" xmlns="" id="{D59B10A0-57CE-24ED-A326-2906AEA689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05971" y="2696845"/>
            <a:ext cx="304800" cy="304800"/>
          </a:xfrm>
          <a:prstGeom prst="rect">
            <a:avLst/>
          </a:prstGeom>
        </p:spPr>
      </p:pic>
      <p:pic>
        <p:nvPicPr>
          <p:cNvPr id="80" name="Graphic 663" descr="Calendário - backup mensal">
            <a:extLst>
              <a:ext uri="{FF2B5EF4-FFF2-40B4-BE49-F238E27FC236}">
                <a16:creationId xmlns:a16="http://schemas.microsoft.com/office/drawing/2014/main" xmlns="" id="{6E52D9CB-F043-3B47-8E34-5ECA470057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05971" y="3547745"/>
            <a:ext cx="304800" cy="304800"/>
          </a:xfrm>
          <a:prstGeom prst="rect">
            <a:avLst/>
          </a:prstGeom>
        </p:spPr>
      </p:pic>
      <p:pic>
        <p:nvPicPr>
          <p:cNvPr id="81" name="Graphic 664" descr="Checkmark - teste periódico">
            <a:extLst>
              <a:ext uri="{FF2B5EF4-FFF2-40B4-BE49-F238E27FC236}">
                <a16:creationId xmlns:a16="http://schemas.microsoft.com/office/drawing/2014/main" xmlns="" id="{F54B7E78-BFC3-AA3E-2190-EA4FA19342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05971" y="4398645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DC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8"/>
          <p:cNvSpPr/>
          <p:nvPr/>
        </p:nvSpPr>
        <p:spPr>
          <a:xfrm>
            <a:off x="8283892" y="828680"/>
            <a:ext cx="1371600" cy="1371600"/>
          </a:xfrm>
          <a:prstGeom prst="ellipse">
            <a:avLst/>
          </a:prstGeom>
          <a:solidFill>
            <a:srgbClr val="E6B800">
              <a:alpha val="50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330041" y="4046220"/>
            <a:ext cx="2194560" cy="2194560"/>
          </a:xfrm>
          <a:prstGeom prst="ellipse">
            <a:avLst/>
          </a:prstGeom>
          <a:solidFill>
            <a:srgbClr val="E6B800">
              <a:alpha val="40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6"/>
          <p:cNvSpPr/>
          <p:nvPr/>
        </p:nvSpPr>
        <p:spPr>
          <a:xfrm>
            <a:off x="1427321" y="274320"/>
            <a:ext cx="1645920" cy="1645920"/>
          </a:xfrm>
          <a:prstGeom prst="ellipse">
            <a:avLst/>
          </a:prstGeom>
          <a:solidFill>
            <a:srgbClr val="E6B800">
              <a:alpha val="50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xmlns="" id="{BA5A44B2-7A66-064E-B140-1EDBB30217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222" t="7946" b="10376"/>
          <a:stretch>
            <a:fillRect/>
          </a:stretch>
        </p:blipFill>
        <p:spPr>
          <a:xfrm>
            <a:off x="5424375" y="2367557"/>
            <a:ext cx="2896665" cy="2606276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347472" y="548640"/>
            <a:ext cx="54864" cy="402336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4400" b="1" noProof="0" dirty="0">
                <a:solidFill>
                  <a:srgbClr val="3D3D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PROCEDIMENTOS EM CASO</a:t>
            </a:r>
            <a:endParaRPr lang="pt-BR" sz="44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1904637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4400" b="1" noProof="0" dirty="0">
                <a:solidFill>
                  <a:srgbClr val="3D3D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INCIDENTE DE SEGURANÇA</a:t>
            </a:r>
            <a:endParaRPr lang="pt-BR" sz="4400" noProof="0" dirty="0"/>
          </a:p>
        </p:txBody>
      </p:sp>
      <p:sp>
        <p:nvSpPr>
          <p:cNvPr id="5" name="Shape 3"/>
          <p:cNvSpPr/>
          <p:nvPr/>
        </p:nvSpPr>
        <p:spPr>
          <a:xfrm>
            <a:off x="557784" y="3127248"/>
            <a:ext cx="201168" cy="347472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576072" y="3127248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pt-BR" sz="11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313272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700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o que fazer quando algo der errado</a:t>
            </a:r>
            <a:endParaRPr lang="pt-BR" sz="1700" noProof="0" dirty="0"/>
          </a:p>
        </p:txBody>
      </p:sp>
      <p:sp>
        <p:nvSpPr>
          <p:cNvPr id="11" name="Shape 9"/>
          <p:cNvSpPr/>
          <p:nvPr/>
        </p:nvSpPr>
        <p:spPr>
          <a:xfrm>
            <a:off x="8503920" y="274320"/>
            <a:ext cx="457200" cy="45720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850392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FFC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IX</a:t>
            </a:r>
            <a:endParaRPr lang="pt-BR" sz="1400" noProof="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DDCCAA"/>
          </a:solidFill>
          <a:ln w="12700">
            <a:solidFill>
              <a:srgbClr val="DDCCA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100" noProof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IX — PROCEDIMENTOS EM CASO DE INCIDENTE DE SEGURANÇA</a:t>
            </a:r>
            <a:endParaRPr lang="pt-BR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200" noProof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UM INCIDENTE DE SEGURANÇA?</a:t>
            </a:r>
            <a:endParaRPr lang="pt-BR" sz="2200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22860"/>
          </a:xfrm>
          <a:prstGeom prst="rect">
            <a:avLst/>
          </a:prstGeom>
          <a:solidFill>
            <a:srgbClr val="CCBBAA"/>
          </a:solidFill>
          <a:ln w="12700">
            <a:solidFill>
              <a:srgbClr val="CCBBA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09728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076961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i="1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Qualquer evento que possa comprometer a confidencialidade, integridade ou disponibilidade das informações da FUNSERV.</a:t>
            </a:r>
            <a:endParaRPr lang="pt-BR" sz="1250" noProof="0" dirty="0"/>
          </a:p>
        </p:txBody>
      </p:sp>
      <p:sp>
        <p:nvSpPr>
          <p:cNvPr id="131" name="ExamplesCard">
            <a:extLst>
              <a:ext uri="{FF2B5EF4-FFF2-40B4-BE49-F238E27FC236}">
                <a16:creationId xmlns:a16="http://schemas.microsoft.com/office/drawing/2014/main" xmlns="" id="{98AAA16C-727F-F036-42FC-D9FE5780142E}"/>
              </a:ext>
            </a:extLst>
          </p:cNvPr>
          <p:cNvSpPr/>
          <p:nvPr/>
        </p:nvSpPr>
        <p:spPr>
          <a:xfrm>
            <a:off x="279400" y="1579881"/>
            <a:ext cx="8585200" cy="1879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25400" dist="12700" dir="5400000" algn="ctr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 dirty="0">
              <a:solidFill>
                <a:srgbClr val="333333"/>
              </a:solidFill>
            </a:endParaRPr>
          </a:p>
        </p:txBody>
      </p:sp>
      <p:sp>
        <p:nvSpPr>
          <p:cNvPr id="132" name="RedAccent">
            <a:extLst>
              <a:ext uri="{FF2B5EF4-FFF2-40B4-BE49-F238E27FC236}">
                <a16:creationId xmlns:a16="http://schemas.microsoft.com/office/drawing/2014/main" xmlns="" id="{E974BEFB-D048-C10B-57DA-434D5C9EB95C}"/>
              </a:ext>
            </a:extLst>
          </p:cNvPr>
          <p:cNvSpPr/>
          <p:nvPr/>
        </p:nvSpPr>
        <p:spPr>
          <a:xfrm>
            <a:off x="279400" y="1579881"/>
            <a:ext cx="8585200" cy="6350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CC3333"/>
              </a:solidFill>
            </a:endParaRPr>
          </a:p>
        </p:txBody>
      </p:sp>
      <p:sp>
        <p:nvSpPr>
          <p:cNvPr id="133" name="SecHeader1">
            <a:extLst>
              <a:ext uri="{FF2B5EF4-FFF2-40B4-BE49-F238E27FC236}">
                <a16:creationId xmlns:a16="http://schemas.microsoft.com/office/drawing/2014/main" xmlns="" id="{49B6F260-03A5-F25D-52D9-EF82C08D57BE}"/>
              </a:ext>
            </a:extLst>
          </p:cNvPr>
          <p:cNvSpPr/>
          <p:nvPr/>
        </p:nvSpPr>
        <p:spPr>
          <a:xfrm>
            <a:off x="431800" y="1668781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pt-BR" sz="1400" b="1" dirty="0">
                <a:solidFill>
                  <a:srgbClr val="CC3333"/>
                </a:solidFill>
                <a:latin typeface="Segoe UI"/>
              </a:rPr>
              <a:t>Exemplos de incidentes</a:t>
            </a:r>
          </a:p>
        </p:txBody>
      </p:sp>
      <p:sp>
        <p:nvSpPr>
          <p:cNvPr id="134" name="Triangle0">
            <a:extLst>
              <a:ext uri="{FF2B5EF4-FFF2-40B4-BE49-F238E27FC236}">
                <a16:creationId xmlns:a16="http://schemas.microsoft.com/office/drawing/2014/main" xmlns="" id="{AA710697-83F2-694D-E166-AF1D148DF5A9}"/>
              </a:ext>
            </a:extLst>
          </p:cNvPr>
          <p:cNvSpPr/>
          <p:nvPr/>
        </p:nvSpPr>
        <p:spPr>
          <a:xfrm>
            <a:off x="457200" y="2062481"/>
            <a:ext cx="127000" cy="127000"/>
          </a:xfrm>
          <a:prstGeom prst="triangle">
            <a:avLst/>
          </a:prstGeom>
          <a:solidFill>
            <a:srgbClr val="CC3333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CC3333"/>
              </a:solidFill>
            </a:endParaRPr>
          </a:p>
        </p:txBody>
      </p:sp>
      <p:sp>
        <p:nvSpPr>
          <p:cNvPr id="135" name="ExText0">
            <a:extLst>
              <a:ext uri="{FF2B5EF4-FFF2-40B4-BE49-F238E27FC236}">
                <a16:creationId xmlns:a16="http://schemas.microsoft.com/office/drawing/2014/main" xmlns="" id="{33C4DEBE-CD0D-26BD-3B86-E3F992B430A4}"/>
              </a:ext>
            </a:extLst>
          </p:cNvPr>
          <p:cNvSpPr/>
          <p:nvPr/>
        </p:nvSpPr>
        <p:spPr>
          <a:xfrm>
            <a:off x="762000" y="1935481"/>
            <a:ext cx="37846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200" dirty="0">
                <a:solidFill>
                  <a:srgbClr val="333333"/>
                </a:solidFill>
                <a:latin typeface="Segoe UI"/>
              </a:rPr>
              <a:t>Sistema com comportamento estranho</a:t>
            </a:r>
          </a:p>
        </p:txBody>
      </p:sp>
      <p:sp>
        <p:nvSpPr>
          <p:cNvPr id="136" name="Triangle1">
            <a:extLst>
              <a:ext uri="{FF2B5EF4-FFF2-40B4-BE49-F238E27FC236}">
                <a16:creationId xmlns:a16="http://schemas.microsoft.com/office/drawing/2014/main" xmlns="" id="{155BBEF1-461C-FBD7-3337-B10A460CFE74}"/>
              </a:ext>
            </a:extLst>
          </p:cNvPr>
          <p:cNvSpPr/>
          <p:nvPr/>
        </p:nvSpPr>
        <p:spPr>
          <a:xfrm>
            <a:off x="457200" y="2443481"/>
            <a:ext cx="127000" cy="127000"/>
          </a:xfrm>
          <a:prstGeom prst="triangle">
            <a:avLst/>
          </a:prstGeom>
          <a:solidFill>
            <a:srgbClr val="CC3333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CC3333"/>
              </a:solidFill>
            </a:endParaRPr>
          </a:p>
        </p:txBody>
      </p:sp>
      <p:sp>
        <p:nvSpPr>
          <p:cNvPr id="137" name="ExText1">
            <a:extLst>
              <a:ext uri="{FF2B5EF4-FFF2-40B4-BE49-F238E27FC236}">
                <a16:creationId xmlns:a16="http://schemas.microsoft.com/office/drawing/2014/main" xmlns="" id="{DA095A31-0E4D-3B51-0402-CF660B44F77A}"/>
              </a:ext>
            </a:extLst>
          </p:cNvPr>
          <p:cNvSpPr/>
          <p:nvPr/>
        </p:nvSpPr>
        <p:spPr>
          <a:xfrm>
            <a:off x="762000" y="2316481"/>
            <a:ext cx="37846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200" dirty="0">
                <a:solidFill>
                  <a:srgbClr val="333333"/>
                </a:solidFill>
                <a:latin typeface="Segoe UI"/>
              </a:rPr>
              <a:t>E-mail suspeito recebido ou clicado</a:t>
            </a:r>
          </a:p>
        </p:txBody>
      </p:sp>
      <p:sp>
        <p:nvSpPr>
          <p:cNvPr id="138" name="Triangle2">
            <a:extLst>
              <a:ext uri="{FF2B5EF4-FFF2-40B4-BE49-F238E27FC236}">
                <a16:creationId xmlns:a16="http://schemas.microsoft.com/office/drawing/2014/main" xmlns="" id="{4BB5D021-C4A0-ADB9-5185-17160A17DE25}"/>
              </a:ext>
            </a:extLst>
          </p:cNvPr>
          <p:cNvSpPr/>
          <p:nvPr/>
        </p:nvSpPr>
        <p:spPr>
          <a:xfrm>
            <a:off x="457200" y="2824481"/>
            <a:ext cx="127000" cy="127000"/>
          </a:xfrm>
          <a:prstGeom prst="triangle">
            <a:avLst/>
          </a:prstGeom>
          <a:solidFill>
            <a:srgbClr val="CC3333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CC3333"/>
              </a:solidFill>
            </a:endParaRPr>
          </a:p>
        </p:txBody>
      </p:sp>
      <p:sp>
        <p:nvSpPr>
          <p:cNvPr id="139" name="ExText2">
            <a:extLst>
              <a:ext uri="{FF2B5EF4-FFF2-40B4-BE49-F238E27FC236}">
                <a16:creationId xmlns:a16="http://schemas.microsoft.com/office/drawing/2014/main" xmlns="" id="{8DA87D48-918A-C7D9-CB1C-66B826A86115}"/>
              </a:ext>
            </a:extLst>
          </p:cNvPr>
          <p:cNvSpPr/>
          <p:nvPr/>
        </p:nvSpPr>
        <p:spPr>
          <a:xfrm>
            <a:off x="762000" y="2697481"/>
            <a:ext cx="37846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200" dirty="0">
                <a:solidFill>
                  <a:srgbClr val="333333"/>
                </a:solidFill>
                <a:latin typeface="Segoe UI"/>
              </a:rPr>
              <a:t>Perda ou furto de equipamento</a:t>
            </a:r>
          </a:p>
        </p:txBody>
      </p:sp>
      <p:sp>
        <p:nvSpPr>
          <p:cNvPr id="140" name="Triangle3">
            <a:extLst>
              <a:ext uri="{FF2B5EF4-FFF2-40B4-BE49-F238E27FC236}">
                <a16:creationId xmlns:a16="http://schemas.microsoft.com/office/drawing/2014/main" xmlns="" id="{F607E937-86F3-1980-739E-69B31297B586}"/>
              </a:ext>
            </a:extLst>
          </p:cNvPr>
          <p:cNvSpPr/>
          <p:nvPr/>
        </p:nvSpPr>
        <p:spPr>
          <a:xfrm>
            <a:off x="457200" y="3205481"/>
            <a:ext cx="127000" cy="127000"/>
          </a:xfrm>
          <a:prstGeom prst="triangle">
            <a:avLst/>
          </a:prstGeom>
          <a:solidFill>
            <a:srgbClr val="CC3333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CC3333"/>
              </a:solidFill>
            </a:endParaRPr>
          </a:p>
        </p:txBody>
      </p:sp>
      <p:sp>
        <p:nvSpPr>
          <p:cNvPr id="141" name="ExText3">
            <a:extLst>
              <a:ext uri="{FF2B5EF4-FFF2-40B4-BE49-F238E27FC236}">
                <a16:creationId xmlns:a16="http://schemas.microsoft.com/office/drawing/2014/main" xmlns="" id="{AB262867-1E59-A6B3-5425-28D84715E32F}"/>
              </a:ext>
            </a:extLst>
          </p:cNvPr>
          <p:cNvSpPr/>
          <p:nvPr/>
        </p:nvSpPr>
        <p:spPr>
          <a:xfrm>
            <a:off x="762000" y="3078481"/>
            <a:ext cx="37846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200" dirty="0">
                <a:solidFill>
                  <a:srgbClr val="333333"/>
                </a:solidFill>
                <a:latin typeface="Segoe UI"/>
              </a:rPr>
              <a:t>Acesso por pessoa não autorizada</a:t>
            </a:r>
          </a:p>
        </p:txBody>
      </p:sp>
      <p:sp>
        <p:nvSpPr>
          <p:cNvPr id="142" name="Triangle4">
            <a:extLst>
              <a:ext uri="{FF2B5EF4-FFF2-40B4-BE49-F238E27FC236}">
                <a16:creationId xmlns:a16="http://schemas.microsoft.com/office/drawing/2014/main" xmlns="" id="{B719750A-64F0-1AA8-705D-FB2E70A3DD05}"/>
              </a:ext>
            </a:extLst>
          </p:cNvPr>
          <p:cNvSpPr/>
          <p:nvPr/>
        </p:nvSpPr>
        <p:spPr>
          <a:xfrm>
            <a:off x="4622800" y="2062481"/>
            <a:ext cx="127000" cy="127000"/>
          </a:xfrm>
          <a:prstGeom prst="triangle">
            <a:avLst/>
          </a:prstGeom>
          <a:solidFill>
            <a:srgbClr val="CC3333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CC3333"/>
              </a:solidFill>
            </a:endParaRPr>
          </a:p>
        </p:txBody>
      </p:sp>
      <p:sp>
        <p:nvSpPr>
          <p:cNvPr id="143" name="ExText4">
            <a:extLst>
              <a:ext uri="{FF2B5EF4-FFF2-40B4-BE49-F238E27FC236}">
                <a16:creationId xmlns:a16="http://schemas.microsoft.com/office/drawing/2014/main" xmlns="" id="{5E8864BF-7350-A286-9A3D-D2994464F6E0}"/>
              </a:ext>
            </a:extLst>
          </p:cNvPr>
          <p:cNvSpPr/>
          <p:nvPr/>
        </p:nvSpPr>
        <p:spPr>
          <a:xfrm>
            <a:off x="4927600" y="1935481"/>
            <a:ext cx="37846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200" dirty="0">
                <a:solidFill>
                  <a:srgbClr val="333333"/>
                </a:solidFill>
                <a:latin typeface="Segoe UI"/>
              </a:rPr>
              <a:t>Suspeita de vazamento de dados</a:t>
            </a:r>
          </a:p>
        </p:txBody>
      </p:sp>
      <p:sp>
        <p:nvSpPr>
          <p:cNvPr id="144" name="Triangle5">
            <a:extLst>
              <a:ext uri="{FF2B5EF4-FFF2-40B4-BE49-F238E27FC236}">
                <a16:creationId xmlns:a16="http://schemas.microsoft.com/office/drawing/2014/main" xmlns="" id="{DBB288D2-DA0C-AC6A-E824-B7C13906443B}"/>
              </a:ext>
            </a:extLst>
          </p:cNvPr>
          <p:cNvSpPr/>
          <p:nvPr/>
        </p:nvSpPr>
        <p:spPr>
          <a:xfrm>
            <a:off x="4622800" y="2443481"/>
            <a:ext cx="127000" cy="127000"/>
          </a:xfrm>
          <a:prstGeom prst="triangle">
            <a:avLst/>
          </a:prstGeom>
          <a:solidFill>
            <a:srgbClr val="CC3333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CC3333"/>
              </a:solidFill>
            </a:endParaRPr>
          </a:p>
        </p:txBody>
      </p:sp>
      <p:sp>
        <p:nvSpPr>
          <p:cNvPr id="145" name="ExText5">
            <a:extLst>
              <a:ext uri="{FF2B5EF4-FFF2-40B4-BE49-F238E27FC236}">
                <a16:creationId xmlns:a16="http://schemas.microsoft.com/office/drawing/2014/main" xmlns="" id="{68C1000C-6A0B-EE29-4D7B-C9826E3547DE}"/>
              </a:ext>
            </a:extLst>
          </p:cNvPr>
          <p:cNvSpPr/>
          <p:nvPr/>
        </p:nvSpPr>
        <p:spPr>
          <a:xfrm>
            <a:off x="4927600" y="2316481"/>
            <a:ext cx="37846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200" dirty="0">
                <a:solidFill>
                  <a:srgbClr val="333333"/>
                </a:solidFill>
                <a:latin typeface="Segoe UI"/>
              </a:rPr>
              <a:t>Arquivos criptografados (ransomware)</a:t>
            </a:r>
          </a:p>
        </p:txBody>
      </p:sp>
      <p:sp>
        <p:nvSpPr>
          <p:cNvPr id="146" name="Triangle6">
            <a:extLst>
              <a:ext uri="{FF2B5EF4-FFF2-40B4-BE49-F238E27FC236}">
                <a16:creationId xmlns:a16="http://schemas.microsoft.com/office/drawing/2014/main" xmlns="" id="{D2ABC1F3-9BBD-ECEA-B714-31AE0D42551C}"/>
              </a:ext>
            </a:extLst>
          </p:cNvPr>
          <p:cNvSpPr/>
          <p:nvPr/>
        </p:nvSpPr>
        <p:spPr>
          <a:xfrm>
            <a:off x="4622800" y="2824481"/>
            <a:ext cx="127000" cy="127000"/>
          </a:xfrm>
          <a:prstGeom prst="triangle">
            <a:avLst/>
          </a:prstGeom>
          <a:solidFill>
            <a:srgbClr val="CC3333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CC3333"/>
              </a:solidFill>
            </a:endParaRPr>
          </a:p>
        </p:txBody>
      </p:sp>
      <p:sp>
        <p:nvSpPr>
          <p:cNvPr id="147" name="ExText6">
            <a:extLst>
              <a:ext uri="{FF2B5EF4-FFF2-40B4-BE49-F238E27FC236}">
                <a16:creationId xmlns:a16="http://schemas.microsoft.com/office/drawing/2014/main" xmlns="" id="{14F78544-5FF9-F084-2077-974B97E3DBB3}"/>
              </a:ext>
            </a:extLst>
          </p:cNvPr>
          <p:cNvSpPr/>
          <p:nvPr/>
        </p:nvSpPr>
        <p:spPr>
          <a:xfrm>
            <a:off x="4927600" y="2697481"/>
            <a:ext cx="37846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200" dirty="0">
                <a:solidFill>
                  <a:srgbClr val="333333"/>
                </a:solidFill>
                <a:latin typeface="Segoe UI"/>
              </a:rPr>
              <a:t>Senha comprometida ou compartilhada</a:t>
            </a:r>
          </a:p>
        </p:txBody>
      </p:sp>
      <p:sp>
        <p:nvSpPr>
          <p:cNvPr id="148" name="Triangle7">
            <a:extLst>
              <a:ext uri="{FF2B5EF4-FFF2-40B4-BE49-F238E27FC236}">
                <a16:creationId xmlns:a16="http://schemas.microsoft.com/office/drawing/2014/main" xmlns="" id="{82E20BDB-F0F8-DEE9-DFDF-E79D0B8F2AEA}"/>
              </a:ext>
            </a:extLst>
          </p:cNvPr>
          <p:cNvSpPr/>
          <p:nvPr/>
        </p:nvSpPr>
        <p:spPr>
          <a:xfrm>
            <a:off x="4622800" y="3205481"/>
            <a:ext cx="127000" cy="127000"/>
          </a:xfrm>
          <a:prstGeom prst="triangle">
            <a:avLst/>
          </a:prstGeom>
          <a:solidFill>
            <a:srgbClr val="CC3333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CC3333"/>
              </a:solidFill>
            </a:endParaRPr>
          </a:p>
        </p:txBody>
      </p:sp>
      <p:sp>
        <p:nvSpPr>
          <p:cNvPr id="149" name="ExText7">
            <a:extLst>
              <a:ext uri="{FF2B5EF4-FFF2-40B4-BE49-F238E27FC236}">
                <a16:creationId xmlns:a16="http://schemas.microsoft.com/office/drawing/2014/main" xmlns="" id="{4E3D63E9-4E12-CEB3-7043-D6DED36A3C9D}"/>
              </a:ext>
            </a:extLst>
          </p:cNvPr>
          <p:cNvSpPr/>
          <p:nvPr/>
        </p:nvSpPr>
        <p:spPr>
          <a:xfrm>
            <a:off x="4927600" y="3078481"/>
            <a:ext cx="37846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200" dirty="0">
                <a:solidFill>
                  <a:srgbClr val="333333"/>
                </a:solidFill>
                <a:latin typeface="Segoe UI"/>
              </a:rPr>
              <a:t>Documentos extraviados ou acessados</a:t>
            </a:r>
          </a:p>
        </p:txBody>
      </p:sp>
      <p:sp>
        <p:nvSpPr>
          <p:cNvPr id="150" name="ActionCard">
            <a:extLst>
              <a:ext uri="{FF2B5EF4-FFF2-40B4-BE49-F238E27FC236}">
                <a16:creationId xmlns:a16="http://schemas.microsoft.com/office/drawing/2014/main" xmlns="" id="{663D1B15-17DC-4C30-8E8B-CE46C7016C88}"/>
              </a:ext>
            </a:extLst>
          </p:cNvPr>
          <p:cNvSpPr/>
          <p:nvPr/>
        </p:nvSpPr>
        <p:spPr>
          <a:xfrm>
            <a:off x="279400" y="3573781"/>
            <a:ext cx="8585200" cy="14224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25400" dist="12700" dir="5400000" algn="ctr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 dirty="0">
              <a:solidFill>
                <a:srgbClr val="333333"/>
              </a:solidFill>
            </a:endParaRPr>
          </a:p>
        </p:txBody>
      </p:sp>
      <p:sp>
        <p:nvSpPr>
          <p:cNvPr id="151" name="BlueAccent">
            <a:extLst>
              <a:ext uri="{FF2B5EF4-FFF2-40B4-BE49-F238E27FC236}">
                <a16:creationId xmlns:a16="http://schemas.microsoft.com/office/drawing/2014/main" xmlns="" id="{53169A35-8830-CF1D-06EF-BB0203DFADA2}"/>
              </a:ext>
            </a:extLst>
          </p:cNvPr>
          <p:cNvSpPr/>
          <p:nvPr/>
        </p:nvSpPr>
        <p:spPr>
          <a:xfrm>
            <a:off x="279400" y="3573781"/>
            <a:ext cx="8585200" cy="63500"/>
          </a:xfrm>
          <a:prstGeom prst="rect">
            <a:avLst/>
          </a:prstGeom>
          <a:solidFill>
            <a:srgbClr val="2A6BB5"/>
          </a:solidFill>
          <a:ln>
            <a:noFill/>
          </a:ln>
        </p:spPr>
        <p:txBody>
          <a:bodyPr/>
          <a:lstStyle/>
          <a:p>
            <a:endParaRPr lang="pt-BR" dirty="0">
              <a:solidFill>
                <a:srgbClr val="2A6BB5"/>
              </a:solidFill>
            </a:endParaRPr>
          </a:p>
        </p:txBody>
      </p:sp>
      <p:sp>
        <p:nvSpPr>
          <p:cNvPr id="152" name="SecHeader2">
            <a:extLst>
              <a:ext uri="{FF2B5EF4-FFF2-40B4-BE49-F238E27FC236}">
                <a16:creationId xmlns:a16="http://schemas.microsoft.com/office/drawing/2014/main" xmlns="" id="{A3C00F18-0D93-9F12-9BB9-624B838952FF}"/>
              </a:ext>
            </a:extLst>
          </p:cNvPr>
          <p:cNvSpPr/>
          <p:nvPr/>
        </p:nvSpPr>
        <p:spPr>
          <a:xfrm>
            <a:off x="431800" y="3662681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pt-BR" sz="1400" b="1" dirty="0">
                <a:solidFill>
                  <a:srgbClr val="2A6BB5"/>
                </a:solidFill>
                <a:latin typeface="Segoe UI"/>
              </a:rPr>
              <a:t>O que fazer imediatamente</a:t>
            </a:r>
          </a:p>
        </p:txBody>
      </p:sp>
      <p:sp>
        <p:nvSpPr>
          <p:cNvPr id="153" name="Num0">
            <a:extLst>
              <a:ext uri="{FF2B5EF4-FFF2-40B4-BE49-F238E27FC236}">
                <a16:creationId xmlns:a16="http://schemas.microsoft.com/office/drawing/2014/main" xmlns="" id="{D9B8DA2B-7861-47CF-B1B9-1C1E09C19AE1}"/>
              </a:ext>
            </a:extLst>
          </p:cNvPr>
          <p:cNvSpPr/>
          <p:nvPr/>
        </p:nvSpPr>
        <p:spPr>
          <a:xfrm>
            <a:off x="457200" y="3992881"/>
            <a:ext cx="228600" cy="228600"/>
          </a:xfrm>
          <a:prstGeom prst="ellipse">
            <a:avLst/>
          </a:prstGeom>
          <a:solidFill>
            <a:srgbClr val="2A6BB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pt-BR" sz="1000" b="1" dirty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54" name="ActText0">
            <a:extLst>
              <a:ext uri="{FF2B5EF4-FFF2-40B4-BE49-F238E27FC236}">
                <a16:creationId xmlns:a16="http://schemas.microsoft.com/office/drawing/2014/main" xmlns="" id="{2388D1E7-EA71-79D6-8F32-63BA3EF02FD5}"/>
              </a:ext>
            </a:extLst>
          </p:cNvPr>
          <p:cNvSpPr/>
          <p:nvPr/>
        </p:nvSpPr>
        <p:spPr>
          <a:xfrm>
            <a:off x="787400" y="3929381"/>
            <a:ext cx="3759200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200" dirty="0">
                <a:solidFill>
                  <a:srgbClr val="333333"/>
                </a:solidFill>
                <a:latin typeface="Segoe UI"/>
              </a:rPr>
              <a:t>Não tente resolver sozinho</a:t>
            </a:r>
          </a:p>
        </p:txBody>
      </p:sp>
      <p:sp>
        <p:nvSpPr>
          <p:cNvPr id="155" name="Num1">
            <a:extLst>
              <a:ext uri="{FF2B5EF4-FFF2-40B4-BE49-F238E27FC236}">
                <a16:creationId xmlns:a16="http://schemas.microsoft.com/office/drawing/2014/main" xmlns="" id="{9948896D-3CF3-CACF-B86F-B0461E84C586}"/>
              </a:ext>
            </a:extLst>
          </p:cNvPr>
          <p:cNvSpPr/>
          <p:nvPr/>
        </p:nvSpPr>
        <p:spPr>
          <a:xfrm>
            <a:off x="457200" y="4348481"/>
            <a:ext cx="228600" cy="228600"/>
          </a:xfrm>
          <a:prstGeom prst="ellipse">
            <a:avLst/>
          </a:prstGeom>
          <a:solidFill>
            <a:srgbClr val="2A6BB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pt-BR" sz="1000" b="1" dirty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6" name="ActText1">
            <a:extLst>
              <a:ext uri="{FF2B5EF4-FFF2-40B4-BE49-F238E27FC236}">
                <a16:creationId xmlns:a16="http://schemas.microsoft.com/office/drawing/2014/main" xmlns="" id="{A2FB3A48-65A4-F99A-13FD-9A1394FBB1A1}"/>
              </a:ext>
            </a:extLst>
          </p:cNvPr>
          <p:cNvSpPr/>
          <p:nvPr/>
        </p:nvSpPr>
        <p:spPr>
          <a:xfrm>
            <a:off x="787400" y="4284981"/>
            <a:ext cx="3759200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200" dirty="0">
                <a:solidFill>
                  <a:srgbClr val="333333"/>
                </a:solidFill>
                <a:latin typeface="Segoe UI"/>
              </a:rPr>
              <a:t>Não oculte o ocorrido</a:t>
            </a:r>
          </a:p>
        </p:txBody>
      </p:sp>
      <p:sp>
        <p:nvSpPr>
          <p:cNvPr id="157" name="Num2">
            <a:extLst>
              <a:ext uri="{FF2B5EF4-FFF2-40B4-BE49-F238E27FC236}">
                <a16:creationId xmlns:a16="http://schemas.microsoft.com/office/drawing/2014/main" xmlns="" id="{A29C4212-8641-97ED-D682-F61E901A0AFA}"/>
              </a:ext>
            </a:extLst>
          </p:cNvPr>
          <p:cNvSpPr/>
          <p:nvPr/>
        </p:nvSpPr>
        <p:spPr>
          <a:xfrm>
            <a:off x="457200" y="4704081"/>
            <a:ext cx="228600" cy="228600"/>
          </a:xfrm>
          <a:prstGeom prst="ellipse">
            <a:avLst/>
          </a:prstGeom>
          <a:solidFill>
            <a:srgbClr val="2A6BB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pt-BR" sz="1000" b="1" dirty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8" name="ActText2">
            <a:extLst>
              <a:ext uri="{FF2B5EF4-FFF2-40B4-BE49-F238E27FC236}">
                <a16:creationId xmlns:a16="http://schemas.microsoft.com/office/drawing/2014/main" xmlns="" id="{F7043EE4-81B6-4390-A09B-F73CDC413BF3}"/>
              </a:ext>
            </a:extLst>
          </p:cNvPr>
          <p:cNvSpPr/>
          <p:nvPr/>
        </p:nvSpPr>
        <p:spPr>
          <a:xfrm>
            <a:off x="787400" y="4640581"/>
            <a:ext cx="3759200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200" dirty="0">
                <a:solidFill>
                  <a:srgbClr val="333333"/>
                </a:solidFill>
                <a:latin typeface="Segoe UI"/>
              </a:rPr>
              <a:t>Desconecte da rede se necessário</a:t>
            </a:r>
          </a:p>
        </p:txBody>
      </p:sp>
      <p:sp>
        <p:nvSpPr>
          <p:cNvPr id="159" name="Num3">
            <a:extLst>
              <a:ext uri="{FF2B5EF4-FFF2-40B4-BE49-F238E27FC236}">
                <a16:creationId xmlns:a16="http://schemas.microsoft.com/office/drawing/2014/main" xmlns="" id="{41AA8C11-C305-C6E8-EAD5-5A33C71A3EC8}"/>
              </a:ext>
            </a:extLst>
          </p:cNvPr>
          <p:cNvSpPr/>
          <p:nvPr/>
        </p:nvSpPr>
        <p:spPr>
          <a:xfrm>
            <a:off x="4622800" y="3992881"/>
            <a:ext cx="228600" cy="228600"/>
          </a:xfrm>
          <a:prstGeom prst="ellipse">
            <a:avLst/>
          </a:prstGeom>
          <a:solidFill>
            <a:srgbClr val="2A6BB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pt-BR" sz="1000" b="1" dirty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60" name="ActText3">
            <a:extLst>
              <a:ext uri="{FF2B5EF4-FFF2-40B4-BE49-F238E27FC236}">
                <a16:creationId xmlns:a16="http://schemas.microsoft.com/office/drawing/2014/main" xmlns="" id="{42476BEC-40A9-0DC6-038F-34EB453D4DF3}"/>
              </a:ext>
            </a:extLst>
          </p:cNvPr>
          <p:cNvSpPr/>
          <p:nvPr/>
        </p:nvSpPr>
        <p:spPr>
          <a:xfrm>
            <a:off x="4953000" y="3929381"/>
            <a:ext cx="3759200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200" dirty="0">
                <a:solidFill>
                  <a:srgbClr val="333333"/>
                </a:solidFill>
                <a:latin typeface="Segoe UI"/>
              </a:rPr>
              <a:t>Comunique a área de TI imediatamente</a:t>
            </a:r>
          </a:p>
        </p:txBody>
      </p:sp>
      <p:sp>
        <p:nvSpPr>
          <p:cNvPr id="161" name="Num4">
            <a:extLst>
              <a:ext uri="{FF2B5EF4-FFF2-40B4-BE49-F238E27FC236}">
                <a16:creationId xmlns:a16="http://schemas.microsoft.com/office/drawing/2014/main" xmlns="" id="{DD972CB0-C963-A626-E5BC-54530F8F67E9}"/>
              </a:ext>
            </a:extLst>
          </p:cNvPr>
          <p:cNvSpPr/>
          <p:nvPr/>
        </p:nvSpPr>
        <p:spPr>
          <a:xfrm>
            <a:off x="4622800" y="4348481"/>
            <a:ext cx="228600" cy="228600"/>
          </a:xfrm>
          <a:prstGeom prst="ellipse">
            <a:avLst/>
          </a:prstGeom>
          <a:solidFill>
            <a:srgbClr val="2A6BB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pt-BR" sz="1000" b="1" dirty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62" name="ActText4">
            <a:extLst>
              <a:ext uri="{FF2B5EF4-FFF2-40B4-BE49-F238E27FC236}">
                <a16:creationId xmlns:a16="http://schemas.microsoft.com/office/drawing/2014/main" xmlns="" id="{C9DE053E-F7BE-4A20-EFBF-981687DA7BEA}"/>
              </a:ext>
            </a:extLst>
          </p:cNvPr>
          <p:cNvSpPr/>
          <p:nvPr/>
        </p:nvSpPr>
        <p:spPr>
          <a:xfrm>
            <a:off x="4953000" y="4284981"/>
            <a:ext cx="3759200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ctr"/>
          <a:lstStyle/>
          <a:p>
            <a:pPr algn="l"/>
            <a:r>
              <a:rPr lang="pt-BR" sz="1200" dirty="0">
                <a:solidFill>
                  <a:srgbClr val="333333"/>
                </a:solidFill>
                <a:latin typeface="Segoe UI"/>
              </a:rPr>
              <a:t>Registre conforme procedimentos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DDCCAA"/>
          </a:solidFill>
          <a:ln w="12700">
            <a:solidFill>
              <a:srgbClr val="DDCCA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100" noProof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IX — PROCEDIMENTOS EM CASO DE INCIDENTE DE SEGURANÇA</a:t>
            </a:r>
            <a:endParaRPr lang="pt-BR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200" noProof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AGIR DIANTE DE UM INCIDENTE?</a:t>
            </a:r>
            <a:endParaRPr lang="pt-BR" sz="2200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22860"/>
          </a:xfrm>
          <a:prstGeom prst="rect">
            <a:avLst/>
          </a:prstGeom>
          <a:solidFill>
            <a:srgbClr val="CCBBAA"/>
          </a:solidFill>
          <a:ln w="12700">
            <a:solidFill>
              <a:srgbClr val="CCBBA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09728"/>
            <a:ext cx="59436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144305"/>
            <a:ext cx="566928" cy="658368"/>
          </a:xfrm>
          <a:prstGeom prst="rect">
            <a:avLst/>
          </a:prstGeom>
          <a:solidFill>
            <a:srgbClr val="3D3D3D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5"/>
          <p:cNvSpPr/>
          <p:nvPr/>
        </p:nvSpPr>
        <p:spPr>
          <a:xfrm>
            <a:off x="274320" y="1144305"/>
            <a:ext cx="566928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b="1" noProof="0" dirty="0">
                <a:solidFill>
                  <a:srgbClr val="FFC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pt-BR" sz="2400" noProof="0" dirty="0"/>
          </a:p>
        </p:txBody>
      </p:sp>
      <p:sp>
        <p:nvSpPr>
          <p:cNvPr id="9" name="Shape 6"/>
          <p:cNvSpPr/>
          <p:nvPr/>
        </p:nvSpPr>
        <p:spPr>
          <a:xfrm>
            <a:off x="941832" y="1144305"/>
            <a:ext cx="7927848" cy="658368"/>
          </a:xfrm>
          <a:prstGeom prst="rect">
            <a:avLst/>
          </a:prstGeom>
          <a:solidFill>
            <a:srgbClr val="FFFFFF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1033272" y="1190025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MANTENHA A CALMA</a:t>
            </a:r>
            <a:endParaRPr lang="pt-BR" sz="1150" noProof="0" dirty="0"/>
          </a:p>
        </p:txBody>
      </p:sp>
      <p:sp>
        <p:nvSpPr>
          <p:cNvPr id="11" name="Text 8"/>
          <p:cNvSpPr/>
          <p:nvPr/>
        </p:nvSpPr>
        <p:spPr>
          <a:xfrm>
            <a:off x="1033272" y="1491777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tente resolver sozinho nem esconder o problema. Ações precipitadas podem piorar a situação.</a:t>
            </a:r>
            <a:endParaRPr lang="pt-BR" sz="1100" noProof="0" dirty="0"/>
          </a:p>
        </p:txBody>
      </p:sp>
      <p:sp>
        <p:nvSpPr>
          <p:cNvPr id="12" name="Shape 9"/>
          <p:cNvSpPr/>
          <p:nvPr/>
        </p:nvSpPr>
        <p:spPr>
          <a:xfrm>
            <a:off x="274320" y="1939833"/>
            <a:ext cx="566928" cy="658368"/>
          </a:xfrm>
          <a:prstGeom prst="rect">
            <a:avLst/>
          </a:prstGeom>
          <a:solidFill>
            <a:srgbClr val="3D3D3D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0"/>
          <p:cNvSpPr/>
          <p:nvPr/>
        </p:nvSpPr>
        <p:spPr>
          <a:xfrm>
            <a:off x="274320" y="1939833"/>
            <a:ext cx="566928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b="1" noProof="0" dirty="0">
                <a:solidFill>
                  <a:srgbClr val="FFC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pt-BR" sz="2400" noProof="0" dirty="0"/>
          </a:p>
        </p:txBody>
      </p:sp>
      <p:sp>
        <p:nvSpPr>
          <p:cNvPr id="14" name="Shape 11"/>
          <p:cNvSpPr/>
          <p:nvPr/>
        </p:nvSpPr>
        <p:spPr>
          <a:xfrm>
            <a:off x="941832" y="1939833"/>
            <a:ext cx="7927848" cy="658368"/>
          </a:xfrm>
          <a:prstGeom prst="rect">
            <a:avLst/>
          </a:prstGeom>
          <a:solidFill>
            <a:srgbClr val="FFFFFF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2"/>
          <p:cNvSpPr/>
          <p:nvPr/>
        </p:nvSpPr>
        <p:spPr>
          <a:xfrm>
            <a:off x="1033272" y="1985553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COMUNIQUE IMEDIATAMENTE</a:t>
            </a:r>
            <a:endParaRPr lang="pt-BR" sz="1150" noProof="0" dirty="0"/>
          </a:p>
        </p:txBody>
      </p:sp>
      <p:sp>
        <p:nvSpPr>
          <p:cNvPr id="16" name="Text 13"/>
          <p:cNvSpPr/>
          <p:nvPr/>
        </p:nvSpPr>
        <p:spPr>
          <a:xfrm>
            <a:off x="1033272" y="2287305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Avise a TI e o Responsável pela Segurança da Informação (RSI) pelo meio disponível.</a:t>
            </a:r>
            <a:endParaRPr lang="pt-BR" sz="1100" noProof="0" dirty="0"/>
          </a:p>
        </p:txBody>
      </p:sp>
      <p:sp>
        <p:nvSpPr>
          <p:cNvPr id="17" name="Shape 14"/>
          <p:cNvSpPr/>
          <p:nvPr/>
        </p:nvSpPr>
        <p:spPr>
          <a:xfrm>
            <a:off x="274320" y="2735361"/>
            <a:ext cx="566928" cy="658368"/>
          </a:xfrm>
          <a:prstGeom prst="rect">
            <a:avLst/>
          </a:prstGeom>
          <a:solidFill>
            <a:srgbClr val="3D3D3D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5"/>
          <p:cNvSpPr/>
          <p:nvPr/>
        </p:nvSpPr>
        <p:spPr>
          <a:xfrm>
            <a:off x="274320" y="2735361"/>
            <a:ext cx="566928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b="1" noProof="0" dirty="0">
                <a:solidFill>
                  <a:srgbClr val="FFC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pt-BR" sz="2400" noProof="0" dirty="0"/>
          </a:p>
        </p:txBody>
      </p:sp>
      <p:sp>
        <p:nvSpPr>
          <p:cNvPr id="19" name="Shape 16"/>
          <p:cNvSpPr/>
          <p:nvPr/>
        </p:nvSpPr>
        <p:spPr>
          <a:xfrm>
            <a:off x="941832" y="2735361"/>
            <a:ext cx="7927848" cy="658368"/>
          </a:xfrm>
          <a:prstGeom prst="rect">
            <a:avLst/>
          </a:prstGeom>
          <a:solidFill>
            <a:srgbClr val="FFFFFF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 17"/>
          <p:cNvSpPr/>
          <p:nvPr/>
        </p:nvSpPr>
        <p:spPr>
          <a:xfrm>
            <a:off x="1033272" y="2781081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ALTERE EVIDÊNCIAS</a:t>
            </a:r>
            <a:endParaRPr lang="pt-BR" sz="1150" noProof="0" dirty="0"/>
          </a:p>
        </p:txBody>
      </p:sp>
      <p:sp>
        <p:nvSpPr>
          <p:cNvPr id="21" name="Text 18"/>
          <p:cNvSpPr/>
          <p:nvPr/>
        </p:nvSpPr>
        <p:spPr>
          <a:xfrm>
            <a:off x="1033272" y="3082833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desligue o computador, não delete arquivos e não altere nada até orientação da TI.</a:t>
            </a:r>
            <a:endParaRPr lang="pt-BR" sz="1100" noProof="0" dirty="0"/>
          </a:p>
        </p:txBody>
      </p:sp>
      <p:sp>
        <p:nvSpPr>
          <p:cNvPr id="22" name="Shape 19"/>
          <p:cNvSpPr/>
          <p:nvPr/>
        </p:nvSpPr>
        <p:spPr>
          <a:xfrm>
            <a:off x="274320" y="3530889"/>
            <a:ext cx="566928" cy="658368"/>
          </a:xfrm>
          <a:prstGeom prst="rect">
            <a:avLst/>
          </a:prstGeom>
          <a:solidFill>
            <a:srgbClr val="3D3D3D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0"/>
          <p:cNvSpPr/>
          <p:nvPr/>
        </p:nvSpPr>
        <p:spPr>
          <a:xfrm>
            <a:off x="274320" y="3530889"/>
            <a:ext cx="566928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b="1" noProof="0" dirty="0">
                <a:solidFill>
                  <a:srgbClr val="FFC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pt-BR" sz="2400" noProof="0" dirty="0"/>
          </a:p>
        </p:txBody>
      </p:sp>
      <p:sp>
        <p:nvSpPr>
          <p:cNvPr id="24" name="Shape 21"/>
          <p:cNvSpPr/>
          <p:nvPr/>
        </p:nvSpPr>
        <p:spPr>
          <a:xfrm>
            <a:off x="941832" y="3530889"/>
            <a:ext cx="7927848" cy="658368"/>
          </a:xfrm>
          <a:prstGeom prst="rect">
            <a:avLst/>
          </a:prstGeom>
          <a:solidFill>
            <a:srgbClr val="FFFFFF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22"/>
          <p:cNvSpPr/>
          <p:nvPr/>
        </p:nvSpPr>
        <p:spPr>
          <a:xfrm>
            <a:off x="1033272" y="3576609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 O QUE VIU</a:t>
            </a:r>
            <a:endParaRPr lang="pt-BR" sz="1150" noProof="0" dirty="0"/>
          </a:p>
        </p:txBody>
      </p:sp>
      <p:sp>
        <p:nvSpPr>
          <p:cNvPr id="26" name="Text 23"/>
          <p:cNvSpPr/>
          <p:nvPr/>
        </p:nvSpPr>
        <p:spPr>
          <a:xfrm>
            <a:off x="1033272" y="3878361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Anote o que aconteceu, quando ocorreu e quais sistemas ou dados podem estar envolvidos.</a:t>
            </a:r>
            <a:endParaRPr lang="pt-BR" sz="1100" noProof="0" dirty="0"/>
          </a:p>
        </p:txBody>
      </p:sp>
      <p:sp>
        <p:nvSpPr>
          <p:cNvPr id="27" name="Shape 24"/>
          <p:cNvSpPr/>
          <p:nvPr/>
        </p:nvSpPr>
        <p:spPr>
          <a:xfrm>
            <a:off x="274320" y="4326417"/>
            <a:ext cx="566928" cy="658368"/>
          </a:xfrm>
          <a:prstGeom prst="rect">
            <a:avLst/>
          </a:prstGeom>
          <a:solidFill>
            <a:srgbClr val="3D3D3D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8" name="Text 25"/>
          <p:cNvSpPr/>
          <p:nvPr/>
        </p:nvSpPr>
        <p:spPr>
          <a:xfrm>
            <a:off x="274320" y="4326417"/>
            <a:ext cx="566928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b="1" noProof="0" dirty="0">
                <a:solidFill>
                  <a:srgbClr val="FFC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pt-BR" sz="2400" noProof="0" dirty="0"/>
          </a:p>
        </p:txBody>
      </p:sp>
      <p:sp>
        <p:nvSpPr>
          <p:cNvPr id="29" name="Shape 26"/>
          <p:cNvSpPr/>
          <p:nvPr/>
        </p:nvSpPr>
        <p:spPr>
          <a:xfrm>
            <a:off x="941832" y="4326417"/>
            <a:ext cx="7927848" cy="658368"/>
          </a:xfrm>
          <a:prstGeom prst="rect">
            <a:avLst/>
          </a:prstGeom>
          <a:solidFill>
            <a:srgbClr val="FFFFFF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0" name="Text 27"/>
          <p:cNvSpPr/>
          <p:nvPr/>
        </p:nvSpPr>
        <p:spPr>
          <a:xfrm>
            <a:off x="1033272" y="4372137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AGUARDE ORIENTAÇÃO</a:t>
            </a:r>
            <a:endParaRPr lang="pt-BR" sz="1150" noProof="0" dirty="0"/>
          </a:p>
        </p:txBody>
      </p:sp>
      <p:sp>
        <p:nvSpPr>
          <p:cNvPr id="31" name="Text 28"/>
          <p:cNvSpPr/>
          <p:nvPr/>
        </p:nvSpPr>
        <p:spPr>
          <a:xfrm>
            <a:off x="1033272" y="4673889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Siga as instruções da TI e do RSI. Eles vão coordenar a resposta e as medidas de contenção.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18888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5200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</a:t>
            </a:r>
            <a:endParaRPr lang="pt-BR" sz="5200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60020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6393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200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#SomosTodosFUNSERV</a:t>
            </a:r>
            <a:endParaRPr lang="pt-BR" sz="2200" noProof="0" dirty="0"/>
          </a:p>
        </p:txBody>
      </p:sp>
      <p:sp>
        <p:nvSpPr>
          <p:cNvPr id="7" name="Text 4"/>
          <p:cNvSpPr/>
          <p:nvPr/>
        </p:nvSpPr>
        <p:spPr>
          <a:xfrm>
            <a:off x="457200" y="415137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350" noProof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segurança da informação é responsabilidade de todos.</a:t>
            </a:r>
            <a:endParaRPr lang="pt-BR" sz="1350" noProof="0" dirty="0"/>
          </a:p>
        </p:txBody>
      </p:sp>
      <p:sp>
        <p:nvSpPr>
          <p:cNvPr id="8" name="Text 5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caso de dúvidas: fale com a TI ou com o Responsável pela Segurança da Informação (RSI).</a:t>
            </a:r>
            <a:endParaRPr lang="pt-BR" sz="11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88D517B-6517-4ABF-AE1A-5C5756FF29B3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14245075-7d18-4f17-b312-fa52aad0385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1520</TotalTime>
  <Words>1598</Words>
  <Application>Microsoft Office PowerPoint</Application>
  <PresentationFormat>Apresentação na tela (16:9)</PresentationFormat>
  <Paragraphs>317</Paragraphs>
  <Slides>25</Slides>
  <Notes>25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6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Política de Segurança da Informação - FUNSERV</dc:title>
  <dc:subject>PptxGenJS Presentation</dc:subject>
  <dc:creator>PptxGenJS</dc:creator>
  <cp:lastModifiedBy>Usuário</cp:lastModifiedBy>
  <cp:revision>6</cp:revision>
  <dcterms:created xsi:type="dcterms:W3CDTF">2026-03-31T22:34:55Z</dcterms:created>
  <dcterms:modified xsi:type="dcterms:W3CDTF">2026-05-18T12:25:27Z</dcterms:modified>
</cp:coreProperties>
</file>